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sldIdLst>
    <p:sldId id="256" r:id="rId2"/>
    <p:sldId id="328" r:id="rId3"/>
    <p:sldId id="329" r:id="rId4"/>
    <p:sldId id="322" r:id="rId5"/>
    <p:sldId id="323" r:id="rId6"/>
    <p:sldId id="331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321" r:id="rId29"/>
    <p:sldId id="279" r:id="rId30"/>
    <p:sldId id="320" r:id="rId31"/>
    <p:sldId id="281" r:id="rId32"/>
    <p:sldId id="319" r:id="rId33"/>
    <p:sldId id="283" r:id="rId34"/>
    <p:sldId id="318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24" r:id="rId69"/>
    <p:sldId id="325" r:id="rId70"/>
    <p:sldId id="327" r:id="rId71"/>
    <p:sldId id="330" r:id="rId72"/>
    <p:sldId id="326" r:id="rId7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7"/>
    <p:restoredTop sz="94603"/>
  </p:normalViewPr>
  <p:slideViewPr>
    <p:cSldViewPr snapToGrid="0">
      <p:cViewPr varScale="1">
        <p:scale>
          <a:sx n="125" d="100"/>
          <a:sy n="125" d="100"/>
        </p:scale>
        <p:origin x="168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3FAA7-23B9-2F9F-E75C-3784F8E92C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994038-2C5D-FB20-0018-A3550AE1F5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CCC44F-0D84-9048-2212-6CD8AE6B20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8AC5-964B-8C48-8528-DE848C3F2F85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5A2FC7-5DDF-7E4A-E1AF-81FDDC2D1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5023C9-9B6B-02C0-5202-DB771E2F2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B4642-4C44-7F44-80D9-88AEDC94BF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56595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C472FB-B0E6-B9F0-482F-596FC3579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74E90-1849-996F-04C0-0E5477A0D1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551509-17CE-9256-C78D-D634DE349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8AC5-964B-8C48-8528-DE848C3F2F85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F0CF97-9958-965F-ED37-704174642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396CDF-4832-6A8A-EBC8-B2C838A9C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B4642-4C44-7F44-80D9-88AEDC94BF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9628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EC431-DE96-F500-A7ED-7674714B3C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E62B7C-D862-74A4-50A9-7C5BAA1628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77A6FF-1B80-5566-E6EF-42121FD867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8AC5-964B-8C48-8528-DE848C3F2F85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B53D89-A129-0BDF-FEED-31EA3B983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E59104-3DEE-10EC-D700-D10D807A1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B4642-4C44-7F44-80D9-88AEDC94BF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9533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8D02EF-EB88-E93A-261A-716BF8BA03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D67EBA-56A8-3276-27EA-E696F9D54A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59C7BAD-E463-CBA0-3671-3DC82CE3D2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7B9103-27F9-BE94-8F47-BCEC2ED864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8AC5-964B-8C48-8528-DE848C3F2F85}" type="datetimeFigureOut">
              <a:rPr lang="en-US" smtClean="0"/>
              <a:t>7/14/26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80866B-88DC-AADF-E045-90E0232D28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845D99-A353-56E8-7A1A-027435DBA6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B4642-4C44-7F44-80D9-88AEDC94BF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31864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5CAAD8-B3BF-6994-A4FE-C0679CCE83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601764-F0CA-06B7-1341-4B46939EA4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0BBED4-6277-B4F8-50CF-2CDC827ACD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21167DE-7D5B-A79A-76E5-03BA39DB02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FF319F8-52E1-6ACB-3F08-9B50B27BFC3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29AA98F-84D8-0D75-4C99-1219F89E64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8AC5-964B-8C48-8528-DE848C3F2F85}" type="datetimeFigureOut">
              <a:rPr lang="en-US" smtClean="0"/>
              <a:t>7/14/26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D97B00-C99B-6F19-6F0E-C4372CFAB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2327045-3E14-F664-2C8F-04AC6537E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B4642-4C44-7F44-80D9-88AEDC94BF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45926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542696-B771-15EA-375F-8896B9A758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1C4B4E-776B-59F7-56C6-198FC4C4F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8AC5-964B-8C48-8528-DE848C3F2F85}" type="datetimeFigureOut">
              <a:rPr lang="en-US" smtClean="0"/>
              <a:t>7/14/26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28AEDA-F763-E7E5-DB0E-7F50739832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BFC923-1DBF-337F-3BAB-97CCD7481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B4642-4C44-7F44-80D9-88AEDC94BF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53197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7A93321-F08F-395E-5029-7480FB5E22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8AC5-964B-8C48-8528-DE848C3F2F85}" type="datetimeFigureOut">
              <a:rPr lang="en-US" smtClean="0"/>
              <a:t>7/14/26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6CBCE27-B656-0885-A7FF-D0F2F7F0E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55B5F8-CD77-EDE3-B6FC-BE7715374A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B4642-4C44-7F44-80D9-88AEDC94BF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6094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7F205-7F18-90E3-B23A-39B9ACE5A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F9BC07-DEA9-C04D-827D-DF402CC0C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F24582-CBF2-6845-E573-0E0B7143FA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538EA5-DC33-6B00-D296-1AAF64480F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8AC5-964B-8C48-8528-DE848C3F2F85}" type="datetimeFigureOut">
              <a:rPr lang="en-US" smtClean="0"/>
              <a:t>7/14/26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C1C506-CC16-1886-0B0A-0FAD7F240B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F2DC3A-970A-FF50-5F9B-03A58602EC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B4642-4C44-7F44-80D9-88AEDC94BF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7661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47F4DB-C1BC-1F04-967C-7EA425805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C4EE98E-54E8-7AE2-3F1F-402EEA7EF8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DA267F-6F8B-5246-E916-45E64D6E4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24EA9E-9A1D-2A9D-F4B6-449A90E459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8AC5-964B-8C48-8528-DE848C3F2F85}" type="datetimeFigureOut">
              <a:rPr lang="en-US" smtClean="0"/>
              <a:t>7/14/26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0CE87B-F2F5-280A-F98B-1861DB16B4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ED7170-FCC0-2343-52BF-B813AF23A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B4642-4C44-7F44-80D9-88AEDC94BF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55476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87734-CDBE-BDA1-3F8D-CA5A51482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07DD68-FB39-B2B8-6852-CB2234366E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613267-BF48-EA25-0A96-B55C17627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8AC5-964B-8C48-8528-DE848C3F2F85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6A5A9A-7CC8-F366-7575-417ABE7F63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15EDE0-A280-2539-6D50-207F0A2B7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B4642-4C44-7F44-80D9-88AEDC94BF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9491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7C98546-49C5-47C6-324C-52118C8817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3CF669-21B7-492C-A871-986D89970F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287408-691D-CB9C-A7CA-0DFD5756A6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B8AC5-964B-8C48-8528-DE848C3F2F85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914974-4C73-E67E-95E1-B8989EAB8D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CB23BC-08D3-0FBB-00D5-4DF097F5F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B4642-4C44-7F44-80D9-88AEDC94BF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2958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217CFA5-D897-6B60-F313-78D6AE2DFB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723953-6A8A-C585-888A-AD1BD7C05C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0B1225-F760-A6CC-0842-80A9A56D133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6B8AC5-964B-8C48-8528-DE848C3F2F85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70E266-F3F7-7A2C-541C-3D93F0F957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64A1D8-A807-1496-45A1-54BD25BC80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CB4642-4C44-7F44-80D9-88AEDC94BF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72810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slide" Target="slide10.xml"/><Relationship Id="rId13" Type="http://schemas.openxmlformats.org/officeDocument/2006/relationships/slide" Target="slide60.xml"/><Relationship Id="rId18" Type="http://schemas.openxmlformats.org/officeDocument/2006/relationships/slide" Target="slide52.xml"/><Relationship Id="rId26" Type="http://schemas.openxmlformats.org/officeDocument/2006/relationships/slide" Target="slide16.xml"/><Relationship Id="rId3" Type="http://schemas.openxmlformats.org/officeDocument/2006/relationships/slide" Target="slide18.xml"/><Relationship Id="rId21" Type="http://schemas.openxmlformats.org/officeDocument/2006/relationships/slide" Target="slide24.xml"/><Relationship Id="rId7" Type="http://schemas.openxmlformats.org/officeDocument/2006/relationships/slide" Target="slide58.xml"/><Relationship Id="rId12" Type="http://schemas.openxmlformats.org/officeDocument/2006/relationships/slide" Target="slide50.xml"/><Relationship Id="rId17" Type="http://schemas.openxmlformats.org/officeDocument/2006/relationships/slide" Target="slide42.xml"/><Relationship Id="rId25" Type="http://schemas.openxmlformats.org/officeDocument/2006/relationships/slide" Target="slide64.xml"/><Relationship Id="rId2" Type="http://schemas.openxmlformats.org/officeDocument/2006/relationships/slide" Target="slide8.xml"/><Relationship Id="rId16" Type="http://schemas.openxmlformats.org/officeDocument/2006/relationships/slide" Target="slide32.xml"/><Relationship Id="rId20" Type="http://schemas.openxmlformats.org/officeDocument/2006/relationships/slide" Target="slide14.xml"/><Relationship Id="rId29" Type="http://schemas.openxmlformats.org/officeDocument/2006/relationships/slide" Target="slide56.xml"/><Relationship Id="rId1" Type="http://schemas.openxmlformats.org/officeDocument/2006/relationships/slideLayout" Target="../slideLayouts/slideLayout7.xml"/><Relationship Id="rId6" Type="http://schemas.openxmlformats.org/officeDocument/2006/relationships/slide" Target="slide48.xml"/><Relationship Id="rId11" Type="http://schemas.openxmlformats.org/officeDocument/2006/relationships/slide" Target="slide40.xml"/><Relationship Id="rId24" Type="http://schemas.openxmlformats.org/officeDocument/2006/relationships/slide" Target="slide54.xml"/><Relationship Id="rId5" Type="http://schemas.openxmlformats.org/officeDocument/2006/relationships/slide" Target="slide38.xml"/><Relationship Id="rId15" Type="http://schemas.openxmlformats.org/officeDocument/2006/relationships/slide" Target="slide22.xml"/><Relationship Id="rId23" Type="http://schemas.openxmlformats.org/officeDocument/2006/relationships/slide" Target="slide44.xml"/><Relationship Id="rId28" Type="http://schemas.openxmlformats.org/officeDocument/2006/relationships/slide" Target="slide46.xml"/><Relationship Id="rId10" Type="http://schemas.openxmlformats.org/officeDocument/2006/relationships/slide" Target="slide28.xml"/><Relationship Id="rId19" Type="http://schemas.openxmlformats.org/officeDocument/2006/relationships/slide" Target="slide62.xml"/><Relationship Id="rId4" Type="http://schemas.openxmlformats.org/officeDocument/2006/relationships/slide" Target="slide26.xml"/><Relationship Id="rId9" Type="http://schemas.openxmlformats.org/officeDocument/2006/relationships/slide" Target="slide20.xml"/><Relationship Id="rId14" Type="http://schemas.openxmlformats.org/officeDocument/2006/relationships/slide" Target="slide12.xml"/><Relationship Id="rId22" Type="http://schemas.openxmlformats.org/officeDocument/2006/relationships/slide" Target="slide34.xml"/><Relationship Id="rId27" Type="http://schemas.openxmlformats.org/officeDocument/2006/relationships/slide" Target="slide36.xml"/><Relationship Id="rId30" Type="http://schemas.openxmlformats.org/officeDocument/2006/relationships/slide" Target="slide6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61D14A-7041-9367-1C7A-EE533F0677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Exam 2 </a:t>
            </a:r>
            <a:r>
              <a:rPr lang="en-US" dirty="0"/>
              <a:t>Review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50C71E-BE3D-891A-E2C7-F5136CD846A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BIOS 600 Summer Session II</a:t>
            </a:r>
          </a:p>
        </p:txBody>
      </p:sp>
    </p:spTree>
    <p:extLst>
      <p:ext uri="{BB962C8B-B14F-4D97-AF65-F5344CB8AC3E}">
        <p14:creationId xmlns:p14="http://schemas.microsoft.com/office/powerpoint/2010/main" val="13810160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440D8-AB00-798E-35C5-803556A07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 Info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F71404-C1A8-2E80-7CAE-9E92FDA38B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Reminder that the exam is closed-note – all you need to bring is a pencil (or pen)!</a:t>
            </a:r>
          </a:p>
          <a:p>
            <a:r>
              <a:rPr lang="en-US" dirty="0"/>
              <a:t>There are three categories of question – code-based, applications, and theory</a:t>
            </a:r>
          </a:p>
          <a:p>
            <a:r>
              <a:rPr lang="en-US" dirty="0"/>
              <a:t>Questions will be a mix of multiple-choice, true/false, and open response</a:t>
            </a:r>
          </a:p>
          <a:p>
            <a:r>
              <a:rPr lang="en-US" dirty="0"/>
              <a:t>Questions follow formats like the review questions on Canvas</a:t>
            </a:r>
          </a:p>
        </p:txBody>
      </p:sp>
    </p:spTree>
    <p:extLst>
      <p:ext uri="{BB962C8B-B14F-4D97-AF65-F5344CB8AC3E}">
        <p14:creationId xmlns:p14="http://schemas.microsoft.com/office/powerpoint/2010/main" val="19258339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D6B164-459A-5845-CDA9-568B10BAC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Jeopardy game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5C66AC-4172-2428-B08F-2744BD8F14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28348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C1C79-2784-73FA-4997-10942C454D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Set-up/Rules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D93DAF-69CD-CBAF-5D92-996CAE602D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Split into three groups</a:t>
            </a:r>
          </a:p>
          <a:p>
            <a:r>
              <a:rPr lang="en-US" dirty="0"/>
              <a:t>Each group will work as a team to earn points, which are determined by the “worth” of the questions.</a:t>
            </a:r>
          </a:p>
          <a:p>
            <a:r>
              <a:rPr lang="en-US" dirty="0"/>
              <a:t>There are six categories, and each category has 5 questions with value ranging from $200 to $1000, with difficulty roughly aligned with the worth of the question.</a:t>
            </a:r>
          </a:p>
          <a:p>
            <a:r>
              <a:rPr lang="en-US" dirty="0"/>
              <a:t>If your group gets an answer correct, the worth of that question is added to your score; if you do not get the answer correct, it is subtracted from your score and the other teams will have the chance to answer it</a:t>
            </a:r>
          </a:p>
        </p:txBody>
      </p:sp>
    </p:spTree>
    <p:extLst>
      <p:ext uri="{BB962C8B-B14F-4D97-AF65-F5344CB8AC3E}">
        <p14:creationId xmlns:p14="http://schemas.microsoft.com/office/powerpoint/2010/main" val="2280645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47013-C044-D839-DA78-C5CFAE3B3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A4977-0934-08BE-428B-E50B07335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Set-up/Rules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8AA74A-FA3D-D255-A7D8-CDEF8F9F8F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I’ll pick a group at random to start; they will pick a question off of the board (for example, “BIOS 600 fun facts for $400”)</a:t>
            </a:r>
          </a:p>
          <a:p>
            <a:r>
              <a:rPr lang="en-US" dirty="0"/>
              <a:t>Once the question is revealed, whichever group has someone raise their hand the fastest will then have 10 seconds to answer the question</a:t>
            </a:r>
          </a:p>
          <a:p>
            <a:r>
              <a:rPr lang="en-US" dirty="0"/>
              <a:t>Can answer in the form of a question or not, up to you</a:t>
            </a:r>
          </a:p>
          <a:p>
            <a:r>
              <a:rPr lang="en-US" dirty="0"/>
              <a:t>After we clear the first round, there will be a final jeopardy question, at which point your team can wager as many of your points as you want – if you get the question correct, that wager is added to your final score; if not, it is subtracted.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23245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73C18A-8229-F0AE-1E8A-55E491407B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 Final Rule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BD3802-888F-DDA6-288C-C9EEB87E43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referencing notes/the internet/textbooks! This is an opportunity for you to see what you know ahead of tomorrow’s exam.</a:t>
            </a:r>
          </a:p>
        </p:txBody>
      </p:sp>
    </p:spTree>
    <p:extLst>
      <p:ext uri="{BB962C8B-B14F-4D97-AF65-F5344CB8AC3E}">
        <p14:creationId xmlns:p14="http://schemas.microsoft.com/office/powerpoint/2010/main" val="35875699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200000C-CC9A-CFE3-0968-DB8DC8CB1C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060700"/>
              </p:ext>
            </p:extLst>
          </p:nvPr>
        </p:nvGraphicFramePr>
        <p:xfrm>
          <a:off x="1374423" y="434199"/>
          <a:ext cx="9443154" cy="59896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3859">
                  <a:extLst>
                    <a:ext uri="{9D8B030D-6E8A-4147-A177-3AD203B41FA5}">
                      <a16:colId xmlns:a16="http://schemas.microsoft.com/office/drawing/2014/main" val="1761681897"/>
                    </a:ext>
                  </a:extLst>
                </a:gridCol>
                <a:gridCol w="1573859">
                  <a:extLst>
                    <a:ext uri="{9D8B030D-6E8A-4147-A177-3AD203B41FA5}">
                      <a16:colId xmlns:a16="http://schemas.microsoft.com/office/drawing/2014/main" val="688658007"/>
                    </a:ext>
                  </a:extLst>
                </a:gridCol>
                <a:gridCol w="1573859">
                  <a:extLst>
                    <a:ext uri="{9D8B030D-6E8A-4147-A177-3AD203B41FA5}">
                      <a16:colId xmlns:a16="http://schemas.microsoft.com/office/drawing/2014/main" val="2897676424"/>
                    </a:ext>
                  </a:extLst>
                </a:gridCol>
                <a:gridCol w="1573859">
                  <a:extLst>
                    <a:ext uri="{9D8B030D-6E8A-4147-A177-3AD203B41FA5}">
                      <a16:colId xmlns:a16="http://schemas.microsoft.com/office/drawing/2014/main" val="2972304504"/>
                    </a:ext>
                  </a:extLst>
                </a:gridCol>
                <a:gridCol w="1573859">
                  <a:extLst>
                    <a:ext uri="{9D8B030D-6E8A-4147-A177-3AD203B41FA5}">
                      <a16:colId xmlns:a16="http://schemas.microsoft.com/office/drawing/2014/main" val="336238556"/>
                    </a:ext>
                  </a:extLst>
                </a:gridCol>
                <a:gridCol w="1573859">
                  <a:extLst>
                    <a:ext uri="{9D8B030D-6E8A-4147-A177-3AD203B41FA5}">
                      <a16:colId xmlns:a16="http://schemas.microsoft.com/office/drawing/2014/main" val="2444483873"/>
                    </a:ext>
                  </a:extLst>
                </a:gridCol>
              </a:tblGrid>
              <a:tr h="998267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 Functions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Test statistics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Name That Test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Going Greek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We’ve Got the Power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Miscellany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74888788"/>
                  </a:ext>
                </a:extLst>
              </a:tr>
              <a:tr h="998267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2" action="ppaction://hlinksldjump"/>
                        </a:rPr>
                        <a:t>$200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3" action="ppaction://hlinksldjump"/>
                        </a:rPr>
                        <a:t>$200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4" action="ppaction://hlinksldjump"/>
                        </a:rPr>
                        <a:t>$200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5" action="ppaction://hlinksldjump"/>
                        </a:rPr>
                        <a:t>$200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6" action="ppaction://hlinksldjump"/>
                        </a:rPr>
                        <a:t>$200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7" action="ppaction://hlinksldjump"/>
                        </a:rPr>
                        <a:t>$200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3445337"/>
                  </a:ext>
                </a:extLst>
              </a:tr>
              <a:tr h="998267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8" action="ppaction://hlinksldjump"/>
                        </a:rPr>
                        <a:t>$400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hlinkClick r:id="rId9" action="ppaction://hlinksldjump"/>
                        </a:rPr>
                        <a:t>$400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hlinkClick r:id="rId10" action="ppaction://hlinksldjump"/>
                        </a:rPr>
                        <a:t>$400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hlinkClick r:id="rId11" action="ppaction://hlinksldjump"/>
                        </a:rPr>
                        <a:t>$400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hlinkClick r:id="rId12" action="ppaction://hlinksldjump"/>
                        </a:rPr>
                        <a:t>$400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hlinkClick r:id="rId13" action="ppaction://hlinksldjump"/>
                        </a:rPr>
                        <a:t>$400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36415403"/>
                  </a:ext>
                </a:extLst>
              </a:tr>
              <a:tr h="998267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14" action="ppaction://hlinksldjump"/>
                        </a:rPr>
                        <a:t>$600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15" action="ppaction://hlinksldjump"/>
                        </a:rPr>
                        <a:t>$600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16" action="ppaction://hlinksldjump"/>
                        </a:rPr>
                        <a:t>$600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17" action="ppaction://hlinksldjump"/>
                        </a:rPr>
                        <a:t>$600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18" action="ppaction://hlinksldjump"/>
                        </a:rPr>
                        <a:t>$600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19" action="ppaction://hlinksldjump"/>
                        </a:rPr>
                        <a:t>$600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82830698"/>
                  </a:ext>
                </a:extLst>
              </a:tr>
              <a:tr h="998267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20" action="ppaction://hlinksldjump"/>
                        </a:rPr>
                        <a:t>$800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21" action="ppaction://hlinksldjump"/>
                        </a:rPr>
                        <a:t>$800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22" action="ppaction://hlinksldjump"/>
                        </a:rPr>
                        <a:t>$800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23" action="ppaction://hlinksldjump"/>
                        </a:rPr>
                        <a:t>$800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24" action="ppaction://hlinksldjump"/>
                        </a:rPr>
                        <a:t>$800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25" action="ppaction://hlinksldjump"/>
                        </a:rPr>
                        <a:t>$800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29759389"/>
                  </a:ext>
                </a:extLst>
              </a:tr>
              <a:tr h="998267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26" action="ppaction://hlinksldjump"/>
                        </a:rPr>
                        <a:t>$1000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4" action="ppaction://hlinksldjump"/>
                        </a:rPr>
                        <a:t>$1000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27" action="ppaction://hlinksldjump"/>
                        </a:rPr>
                        <a:t>$1000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28" action="ppaction://hlinksldjump"/>
                        </a:rPr>
                        <a:t>$1000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29" action="ppaction://hlinksldjump"/>
                        </a:rPr>
                        <a:t>$1000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hlinkClick r:id="rId30" action="ppaction://hlinksldjump"/>
                        </a:rPr>
                        <a:t>$1000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72420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434473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3242D9-CB3D-39A1-A989-F8178DCC59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 Functions -$200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CEC007-38E3-C68B-8053-086252B85A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US" sz="4400" dirty="0"/>
              <a:t>This function returns the appropriate quantile of a  standard normal distribution.</a:t>
            </a:r>
          </a:p>
        </p:txBody>
      </p:sp>
    </p:spTree>
    <p:extLst>
      <p:ext uri="{BB962C8B-B14F-4D97-AF65-F5344CB8AC3E}">
        <p14:creationId xmlns:p14="http://schemas.microsoft.com/office/powerpoint/2010/main" val="36451562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D0B6F-51A1-0511-0E27-F06942A3E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A6AEAA-4681-C74B-8214-02F118E0AF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CA39D1-B7ED-B7FE-30F8-F246D7630A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</a:t>
            </a:r>
            <a:r>
              <a:rPr lang="en-US" sz="4400" b="1" dirty="0" err="1"/>
              <a:t>qnorm</a:t>
            </a:r>
            <a:r>
              <a:rPr lang="en-US" sz="4400" b="1" dirty="0"/>
              <a:t>()?</a:t>
            </a:r>
          </a:p>
        </p:txBody>
      </p:sp>
    </p:spTree>
    <p:extLst>
      <p:ext uri="{BB962C8B-B14F-4D97-AF65-F5344CB8AC3E}">
        <p14:creationId xmlns:p14="http://schemas.microsoft.com/office/powerpoint/2010/main" val="18939613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13456F-FB12-115F-EAF6-07348C7BA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0E82A8-0081-C10B-06DB-4BD1A6425A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 Functions -$400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ECC16A-17D1-0081-7328-DE506E669D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US" sz="4400" dirty="0"/>
              <a:t>This function can be used to calculate the necessary sample size for a study.</a:t>
            </a:r>
          </a:p>
        </p:txBody>
      </p:sp>
    </p:spTree>
    <p:extLst>
      <p:ext uri="{BB962C8B-B14F-4D97-AF65-F5344CB8AC3E}">
        <p14:creationId xmlns:p14="http://schemas.microsoft.com/office/powerpoint/2010/main" val="27881383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61FBE7-4413-8D7C-8144-83928118A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471826-4D00-AF86-A87C-09F4EEF5C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0FD91E-78B2-1B9C-01D9-07D626AF49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</a:t>
            </a:r>
            <a:r>
              <a:rPr lang="en-US" sz="4400" b="1" dirty="0" err="1"/>
              <a:t>power.t.test</a:t>
            </a:r>
            <a:r>
              <a:rPr lang="en-US" sz="4400" b="1" dirty="0"/>
              <a:t>()?</a:t>
            </a:r>
          </a:p>
        </p:txBody>
      </p:sp>
    </p:spTree>
    <p:extLst>
      <p:ext uri="{BB962C8B-B14F-4D97-AF65-F5344CB8AC3E}">
        <p14:creationId xmlns:p14="http://schemas.microsoft.com/office/powerpoint/2010/main" val="22968232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66FD02-5E46-7611-EBC9-E367EA8F1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10341E-00B8-32C1-1E06-CF70C7CFCA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 Functions -$600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494301-221B-5CDE-224C-659F8521C5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US" sz="4400" dirty="0"/>
              <a:t>This function is used to remove the metadata and geometry column when working with spatial data.</a:t>
            </a:r>
          </a:p>
        </p:txBody>
      </p:sp>
    </p:spTree>
    <p:extLst>
      <p:ext uri="{BB962C8B-B14F-4D97-AF65-F5344CB8AC3E}">
        <p14:creationId xmlns:p14="http://schemas.microsoft.com/office/powerpoint/2010/main" val="22462916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52BCA-C41B-40B6-BF45-BB330DD56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801278-D9AE-4959-93C6-FC7C30756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9BCD44-143F-9135-263A-733C0479A9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</a:t>
            </a:r>
            <a:r>
              <a:rPr lang="en-US" sz="4400" b="1" dirty="0" err="1"/>
              <a:t>drop_geometry_st</a:t>
            </a:r>
            <a:r>
              <a:rPr lang="en-US" sz="4400" b="1" dirty="0"/>
              <a:t>()?</a:t>
            </a:r>
          </a:p>
        </p:txBody>
      </p:sp>
    </p:spTree>
    <p:extLst>
      <p:ext uri="{BB962C8B-B14F-4D97-AF65-F5344CB8AC3E}">
        <p14:creationId xmlns:p14="http://schemas.microsoft.com/office/powerpoint/2010/main" val="42230047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270ACD-C920-44B9-3ED1-D0D6F2C9A6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604FA-B773-B0FC-0D44-7849B82CC5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 Functions -$800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26ECE1-381A-A344-A097-41F8F79797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US" sz="4400" dirty="0"/>
              <a:t>This function is used to plot spatial data with </a:t>
            </a:r>
            <a:r>
              <a:rPr lang="en-US" sz="4400" dirty="0" err="1"/>
              <a:t>ggplot</a:t>
            </a:r>
            <a:r>
              <a:rPr lang="en-US" sz="4400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21233090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29DCF-FCEF-AE0D-CE9D-D04523C2B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EBB914-FA6C-F5D0-E76C-FF366DB0D5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FCC7C7-EE14-2CC2-4DDD-B8C7A754F1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</a:t>
            </a:r>
            <a:r>
              <a:rPr lang="en-US" sz="4400" b="1" dirty="0" err="1"/>
              <a:t>geom_sf</a:t>
            </a:r>
            <a:r>
              <a:rPr lang="en-US" sz="4400" b="1" dirty="0"/>
              <a:t>()?</a:t>
            </a:r>
          </a:p>
        </p:txBody>
      </p:sp>
    </p:spTree>
    <p:extLst>
      <p:ext uri="{BB962C8B-B14F-4D97-AF65-F5344CB8AC3E}">
        <p14:creationId xmlns:p14="http://schemas.microsoft.com/office/powerpoint/2010/main" val="29735624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1FAFB3-3413-2CD6-CB9F-23E78703F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A8D4D-86A7-8B0E-D974-83D7CCF32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 Functions -$1000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326B8-ACF0-7396-F858-287AF940B9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US" sz="4400" dirty="0"/>
              <a:t>This function is used when calculating the p-value for the sign test.</a:t>
            </a:r>
          </a:p>
        </p:txBody>
      </p:sp>
    </p:spTree>
    <p:extLst>
      <p:ext uri="{BB962C8B-B14F-4D97-AF65-F5344CB8AC3E}">
        <p14:creationId xmlns:p14="http://schemas.microsoft.com/office/powerpoint/2010/main" val="26818674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D34EC-275C-9B1A-B8EF-AA18C2305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2A4623-E6D3-C21B-C613-5E96AE9717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9B12E8-FD32-E242-C48F-7E2DF1A6A1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</a:t>
            </a:r>
            <a:r>
              <a:rPr lang="en-US" sz="4400" b="1" dirty="0" err="1"/>
              <a:t>pbinom</a:t>
            </a:r>
            <a:r>
              <a:rPr lang="en-US" sz="4400" b="1" dirty="0"/>
              <a:t>()?</a:t>
            </a:r>
          </a:p>
        </p:txBody>
      </p:sp>
    </p:spTree>
    <p:extLst>
      <p:ext uri="{BB962C8B-B14F-4D97-AF65-F5344CB8AC3E}">
        <p14:creationId xmlns:p14="http://schemas.microsoft.com/office/powerpoint/2010/main" val="29328382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AB5634-1B14-DBD2-42B4-709F60E25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B2F9C-1D5B-1663-B171-CDB42453A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Statistics - $200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308520-8944-6973-C0BA-55E6433963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fontAlgn="ctr">
              <a:buNone/>
            </a:pP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32200317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53E84-0CD3-9E75-BF71-E1D4589E8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E7045B-5173-6CB6-6AD8-C24E1BB0F6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BAE1EC-74AF-0E40-2B50-02AD1973D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endParaRPr lang="en-US" sz="4400" b="1" dirty="0"/>
          </a:p>
        </p:txBody>
      </p:sp>
    </p:spTree>
    <p:extLst>
      <p:ext uri="{BB962C8B-B14F-4D97-AF65-F5344CB8AC3E}">
        <p14:creationId xmlns:p14="http://schemas.microsoft.com/office/powerpoint/2010/main" val="573124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266435-CAFB-91CF-30BB-9AF2E4C18B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916DDF-FD68-7488-5827-DDFE4E68B4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statistics-$400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C961C-6862-513E-428C-697F5CD4F1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US" sz="4400" dirty="0"/>
              <a:t>This test statistic, used for tests of association, can take on only non-negative values.</a:t>
            </a:r>
          </a:p>
        </p:txBody>
      </p:sp>
    </p:spTree>
    <p:extLst>
      <p:ext uri="{BB962C8B-B14F-4D97-AF65-F5344CB8AC3E}">
        <p14:creationId xmlns:p14="http://schemas.microsoft.com/office/powerpoint/2010/main" val="13049402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EACD5-0B54-2AA5-4F1F-B30A180FF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2CD509-D6CD-6201-E530-FFA93AFE76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E0DFAA-B8CB-04C6-339E-06AB5283DB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the chi-square statistic?</a:t>
            </a:r>
          </a:p>
        </p:txBody>
      </p:sp>
    </p:spTree>
    <p:extLst>
      <p:ext uri="{BB962C8B-B14F-4D97-AF65-F5344CB8AC3E}">
        <p14:creationId xmlns:p14="http://schemas.microsoft.com/office/powerpoint/2010/main" val="13472470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02DFDD-7EE2-E885-2DE8-B0812533B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738E1D-9139-1216-1374-D7F59C0BDC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 -$600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9319B9-FD37-DEB9-D90B-00B8A087A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US" sz="4400" dirty="0"/>
              <a:t>Under the null hypothesis, for a one-sample t-test on a sample of size 88, the test statistic follows this distribution.</a:t>
            </a:r>
          </a:p>
          <a:p>
            <a:pPr marL="0" indent="0" fontAlgn="ctr">
              <a:buNone/>
            </a:pP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39726356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464325-762E-5680-057B-4EEC43D4F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C38917-7106-4549-1CBF-F0BEC8689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D3DC79-B92D-67C3-0968-6137808040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a t-distribution with 87 degrees of freedom?</a:t>
            </a:r>
          </a:p>
        </p:txBody>
      </p:sp>
    </p:spTree>
    <p:extLst>
      <p:ext uri="{BB962C8B-B14F-4D97-AF65-F5344CB8AC3E}">
        <p14:creationId xmlns:p14="http://schemas.microsoft.com/office/powerpoint/2010/main" val="416893578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736CE-8BE4-1D09-9A6F-9F169D45C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BAC77-DB81-9758-D0F9-1D55E012B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Statistics -$800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52AB6-4CF5-84E5-5679-7CC8467BC6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US" sz="4400" dirty="0"/>
              <a:t>This test statistic is a ratio of between-group and within-group variance.</a:t>
            </a:r>
          </a:p>
          <a:p>
            <a:pPr marL="0" indent="0" fontAlgn="ctr">
              <a:buNone/>
            </a:pP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37296478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217F4-FCEF-4471-3326-79757DB03C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A97D1-F2C5-2D97-4CA3-0ACDCA75A5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203830-7389-4FE3-4AAE-731D16D8F7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an F-statistic?</a:t>
            </a:r>
          </a:p>
        </p:txBody>
      </p:sp>
    </p:spTree>
    <p:extLst>
      <p:ext uri="{BB962C8B-B14F-4D97-AF65-F5344CB8AC3E}">
        <p14:creationId xmlns:p14="http://schemas.microsoft.com/office/powerpoint/2010/main" val="806786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63600-9F53-25AA-BCD1-424BF02C28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7DA6E3-14BC-0732-3594-438F6392D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Statistics-$1000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4B248C2-5CBC-5B59-8A88-A4EE2ECCF1E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fontAlgn="ctr">
                  <a:buNone/>
                </a:pPr>
                <a:r>
                  <a:rPr lang="en-US" sz="4400" dirty="0"/>
                  <a:t>When this is true, the degrees of freedom for a two-sample t-test statistic is equal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4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4400" b="0" i="1" smtClean="0">
                            <a:latin typeface="Cambria Math" panose="02040503050406030204" pitchFamily="18" charset="0"/>
                          </a:rPr>
                          <m:t>n</m:t>
                        </m:r>
                      </m:e>
                      <m:sub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4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4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4400" b="0" i="1" smtClean="0">
                            <a:latin typeface="Cambria Math" panose="02040503050406030204" pitchFamily="18" charset="0"/>
                          </a:rPr>
                          <m:t>n</m:t>
                        </m:r>
                      </m:e>
                      <m:sub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4400" b="0" i="1" smtClean="0">
                        <a:latin typeface="Cambria Math" panose="02040503050406030204" pitchFamily="18" charset="0"/>
                      </a:rPr>
                      <m:t> - 2</m:t>
                    </m:r>
                  </m:oMath>
                </a14:m>
                <a:r>
                  <a:rPr lang="en-US" sz="4400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4B248C2-5CBC-5B59-8A88-A4EE2ECCF1E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413" t="-3779" r="-12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3306482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27D439-801D-8B46-8C15-1E6350BCB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317AC-2C71-34DC-9203-55FE5F5FD2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AEDB62-06FF-ED0B-4EFE-AF4A609776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equal variances in the two populations/</a:t>
            </a:r>
            <a:r>
              <a:rPr lang="en-US" sz="4400" b="1" dirty="0" err="1"/>
              <a:t>var.equal</a:t>
            </a:r>
            <a:r>
              <a:rPr lang="en-US" sz="4400" b="1" dirty="0"/>
              <a:t> = TRUE?</a:t>
            </a:r>
          </a:p>
        </p:txBody>
      </p:sp>
    </p:spTree>
    <p:extLst>
      <p:ext uri="{BB962C8B-B14F-4D97-AF65-F5344CB8AC3E}">
        <p14:creationId xmlns:p14="http://schemas.microsoft.com/office/powerpoint/2010/main" val="127927353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DBCD2-33FC-8940-56E0-CE218E2513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F0F00B-054A-2ACD-C724-A57883CB3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 That Test - $200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65E6B7-A48D-69A5-B386-C90D596FFD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311" y="1690688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4400" dirty="0"/>
              <a:t>This test would be used to test if the means of four groups are equal.</a:t>
            </a:r>
          </a:p>
        </p:txBody>
      </p:sp>
    </p:spTree>
    <p:extLst>
      <p:ext uri="{BB962C8B-B14F-4D97-AF65-F5344CB8AC3E}">
        <p14:creationId xmlns:p14="http://schemas.microsoft.com/office/powerpoint/2010/main" val="369332664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14853E-C150-C41F-0EF2-69DE0766A9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431F6C-ED52-1EE8-2C02-B4D4C5D772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CDDF78-5DBF-742E-FB31-97F2C280AE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ANOVA?</a:t>
            </a:r>
          </a:p>
        </p:txBody>
      </p:sp>
    </p:spTree>
    <p:extLst>
      <p:ext uri="{BB962C8B-B14F-4D97-AF65-F5344CB8AC3E}">
        <p14:creationId xmlns:p14="http://schemas.microsoft.com/office/powerpoint/2010/main" val="418121593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41A8E-3BBB-822D-92D2-4F0F3DD52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273FBE-126D-C803-5175-6B170B281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 That Test-$400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81A060B-C3E4-676C-3E81-CAC0AA7047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4400" dirty="0"/>
              <a:t>This test can be used to test the association between two categorical variables when each cell has an expected value greater than 10. </a:t>
            </a:r>
          </a:p>
        </p:txBody>
      </p:sp>
    </p:spTree>
    <p:extLst>
      <p:ext uri="{BB962C8B-B14F-4D97-AF65-F5344CB8AC3E}">
        <p14:creationId xmlns:p14="http://schemas.microsoft.com/office/powerpoint/2010/main" val="99026477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6E934-6879-1167-85B2-34DEF107AA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ACC57F-E945-972F-F468-725AA15558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6D4910-6C56-B599-3126-A6FF3ED0BE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the chi-square test?</a:t>
            </a:r>
          </a:p>
        </p:txBody>
      </p:sp>
    </p:spTree>
    <p:extLst>
      <p:ext uri="{BB962C8B-B14F-4D97-AF65-F5344CB8AC3E}">
        <p14:creationId xmlns:p14="http://schemas.microsoft.com/office/powerpoint/2010/main" val="133474999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9CB01-AA8F-46C4-CA33-08725A894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2EC14-7698-4ED0-43D7-C1C1805924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 That Test-$600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B0FEDC-10AA-68E3-BF61-68F3AA1632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4400" dirty="0"/>
              <a:t>One example of when you would use this test is when you have a study with participants matched by age, sex, and socioeconomic status, where one groups has a specific condition and the other does not.</a:t>
            </a:r>
          </a:p>
        </p:txBody>
      </p:sp>
    </p:spTree>
    <p:extLst>
      <p:ext uri="{BB962C8B-B14F-4D97-AF65-F5344CB8AC3E}">
        <p14:creationId xmlns:p14="http://schemas.microsoft.com/office/powerpoint/2010/main" val="112361495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039260-AC1A-1229-6D34-184525600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52A2D-077E-C312-7DEE-02F5E6082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65BF05-C8C5-4A38-443B-33869769B2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a paired t-test?</a:t>
            </a:r>
          </a:p>
        </p:txBody>
      </p:sp>
    </p:spTree>
    <p:extLst>
      <p:ext uri="{BB962C8B-B14F-4D97-AF65-F5344CB8AC3E}">
        <p14:creationId xmlns:p14="http://schemas.microsoft.com/office/powerpoint/2010/main" val="289413480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8E77D1-2F7C-3612-C301-643F78C8D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DB34EB-584E-501E-E536-141ECD880E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 That Test-$800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EB3855F-5C20-5D4D-BC6C-0C868E4503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4400" dirty="0"/>
              <a:t>To run this test in R, the first argument to its function has the format:</a:t>
            </a:r>
          </a:p>
          <a:p>
            <a:pPr marL="0" indent="0">
              <a:buNone/>
            </a:pPr>
            <a:r>
              <a:rPr lang="en-US" sz="4400" dirty="0"/>
              <a:t> “outcome ~ group”.</a:t>
            </a:r>
          </a:p>
        </p:txBody>
      </p:sp>
    </p:spTree>
    <p:extLst>
      <p:ext uri="{BB962C8B-B14F-4D97-AF65-F5344CB8AC3E}">
        <p14:creationId xmlns:p14="http://schemas.microsoft.com/office/powerpoint/2010/main" val="28648479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9150F7-D2E8-80C5-3B98-A5CD30DCA8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6691EA-647F-13F5-E83D-BC80A398DB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67F70A-8C7C-5826-78F1-651150EC8D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the two-sample t-test?</a:t>
            </a:r>
          </a:p>
        </p:txBody>
      </p:sp>
    </p:spTree>
    <p:extLst>
      <p:ext uri="{BB962C8B-B14F-4D97-AF65-F5344CB8AC3E}">
        <p14:creationId xmlns:p14="http://schemas.microsoft.com/office/powerpoint/2010/main" val="275780909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CC147-6162-9057-F963-37FB5D7700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01AD58-BC10-91E5-A6E4-E7686B51A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 That Test-$1000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6AD1A6C-C1DF-6331-896F-C84A5F2C7D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4400" dirty="0"/>
              <a:t>This test involves the calculation of U-statistics.</a:t>
            </a:r>
          </a:p>
        </p:txBody>
      </p:sp>
    </p:spTree>
    <p:extLst>
      <p:ext uri="{BB962C8B-B14F-4D97-AF65-F5344CB8AC3E}">
        <p14:creationId xmlns:p14="http://schemas.microsoft.com/office/powerpoint/2010/main" val="372784726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F2B30-D365-AE19-2E4F-58FD0242A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4C8AC-8B8B-3525-FA1A-4983F29CE2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52C902-301A-1E8B-A6B5-08CB471AEE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the Mann-Whitney U Test/Wilcoxon rank sum test/Wilcoxon-Mann-Whitney test?</a:t>
            </a:r>
          </a:p>
        </p:txBody>
      </p:sp>
    </p:spTree>
    <p:extLst>
      <p:ext uri="{BB962C8B-B14F-4D97-AF65-F5344CB8AC3E}">
        <p14:creationId xmlns:p14="http://schemas.microsoft.com/office/powerpoint/2010/main" val="358292382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01774-A817-04C4-2EE9-61EF46844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9A7BE-C539-6EF5-24E9-BB86AC9128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Going Greek-$200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572D8B-739E-3887-1BF0-6E9496F5CCC9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/>
          <a:stretch>
            <a:fillRect/>
          </a:stretch>
        </p:blipFill>
        <p:spPr>
          <a:xfrm>
            <a:off x="4492977" y="2370667"/>
            <a:ext cx="2187223" cy="1749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146843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F14C6-DFFE-6843-ED20-C64426BB4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3C605-B8CB-0297-A6E7-31CA93DF08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8B4555-CC47-9A7C-88F4-66A9562BEA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the significance level/Type I error rate?</a:t>
            </a:r>
          </a:p>
        </p:txBody>
      </p:sp>
    </p:spTree>
    <p:extLst>
      <p:ext uri="{BB962C8B-B14F-4D97-AF65-F5344CB8AC3E}">
        <p14:creationId xmlns:p14="http://schemas.microsoft.com/office/powerpoint/2010/main" val="192058347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EFFC7-7882-6B2F-4650-EADD1ADCD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06232F-BD86-4140-5A5A-643891C1A9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Going Greek-$400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135DA28-58A7-F55B-033E-E3FA0CFF3D37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/>
          <a:stretch>
            <a:fillRect/>
          </a:stretch>
        </p:blipFill>
        <p:spPr>
          <a:xfrm>
            <a:off x="3510845" y="2038526"/>
            <a:ext cx="4061582" cy="1648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684023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1F7CB-09E2-11D3-B16E-0A14F0346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EE06F-FF34-9B8B-D803-0C19F798C6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D0155B-6227-81E3-4290-48E770F5CE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power?</a:t>
            </a:r>
          </a:p>
        </p:txBody>
      </p:sp>
    </p:spTree>
    <p:extLst>
      <p:ext uri="{BB962C8B-B14F-4D97-AF65-F5344CB8AC3E}">
        <p14:creationId xmlns:p14="http://schemas.microsoft.com/office/powerpoint/2010/main" val="274622905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044867-A304-46CD-F996-C8B7CAD9D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8CA1E5-F2E4-25C6-AFA4-DA9971B31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Going Greek-$600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CD140F5-48FF-5462-3190-4C1D0D8CC87D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/>
          <a:stretch>
            <a:fillRect/>
          </a:stretch>
        </p:blipFill>
        <p:spPr>
          <a:xfrm>
            <a:off x="4786489" y="2065019"/>
            <a:ext cx="2020712" cy="2727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542721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544886-CD1D-1F23-2AF5-509D84EF2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358BB-01E7-3224-3C82-A48749F77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91DDE5-0056-D492-83AE-2360AC2206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correlation?</a:t>
            </a:r>
          </a:p>
        </p:txBody>
      </p:sp>
    </p:spTree>
    <p:extLst>
      <p:ext uri="{BB962C8B-B14F-4D97-AF65-F5344CB8AC3E}">
        <p14:creationId xmlns:p14="http://schemas.microsoft.com/office/powerpoint/2010/main" val="38945173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6B4556-39C9-1681-6E72-441CBB550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2831B-9789-EA75-F28B-03BB3BECA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Going Greek-$800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A5C06B2-1B03-E5C0-F2BD-109F4F6CB916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/>
          <a:stretch>
            <a:fillRect/>
          </a:stretch>
        </p:blipFill>
        <p:spPr>
          <a:xfrm>
            <a:off x="4775200" y="2027214"/>
            <a:ext cx="1727200" cy="2803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69412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3F47A-5538-6942-DBBA-BD3B631799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5777E-7398-C240-8397-07637BE4B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4EB08B-1085-E979-9AF6-12DF5B9277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the Type II error rate?</a:t>
            </a:r>
          </a:p>
        </p:txBody>
      </p:sp>
    </p:spTree>
    <p:extLst>
      <p:ext uri="{BB962C8B-B14F-4D97-AF65-F5344CB8AC3E}">
        <p14:creationId xmlns:p14="http://schemas.microsoft.com/office/powerpoint/2010/main" val="31371442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9FD7D-E3FB-3CBC-403C-28A279360B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BD6F4-D7A6-70EB-C76B-F12374170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Going Greek-$1000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2356D5-E29E-4650-9784-ED845A6D60CA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/>
          <a:stretch>
            <a:fillRect/>
          </a:stretch>
        </p:blipFill>
        <p:spPr>
          <a:xfrm>
            <a:off x="5000978" y="2173941"/>
            <a:ext cx="1422400" cy="2510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90252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6F46C-5070-795E-F5EC-241408971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C5D9CD-5185-AFF7-B364-7EF0227060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19AC10-5A2F-B2A3-2DC2-EAFDCFE100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the effect size?</a:t>
            </a:r>
          </a:p>
        </p:txBody>
      </p:sp>
    </p:spTree>
    <p:extLst>
      <p:ext uri="{BB962C8B-B14F-4D97-AF65-F5344CB8AC3E}">
        <p14:creationId xmlns:p14="http://schemas.microsoft.com/office/powerpoint/2010/main" val="271356957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A3A8-BCD9-481B-E1E2-742630661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FEA865-95AA-E906-3E54-ED662829B5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We’ve Got the Power-$200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CB8AF0-EBE4-5165-EF34-ED9DF5AAD0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US" sz="4400" dirty="0"/>
              <a:t>Holding effect size, variance, and significance constant, decreasing this will decrease the power of a study.</a:t>
            </a:r>
          </a:p>
        </p:txBody>
      </p:sp>
    </p:spTree>
    <p:extLst>
      <p:ext uri="{BB962C8B-B14F-4D97-AF65-F5344CB8AC3E}">
        <p14:creationId xmlns:p14="http://schemas.microsoft.com/office/powerpoint/2010/main" val="421924949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300F9E-75F1-8AA6-735E-AE10D59B4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1379D4-D7B9-CB14-108B-7C2AF44E52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39E7EB-13B0-743E-FABE-6135F7621E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the sample size?</a:t>
            </a:r>
          </a:p>
        </p:txBody>
      </p:sp>
    </p:spTree>
    <p:extLst>
      <p:ext uri="{BB962C8B-B14F-4D97-AF65-F5344CB8AC3E}">
        <p14:creationId xmlns:p14="http://schemas.microsoft.com/office/powerpoint/2010/main" val="285971864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EAC64F-3244-2895-4473-E64071EB4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F3E609-02E3-B563-2B11-BC2657977C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We’ve Got the Power-$400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F2212A-C9E6-007B-BDE1-7B4A69455F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US" sz="4400" dirty="0"/>
              <a:t>This rate is the complement of the power.</a:t>
            </a:r>
          </a:p>
        </p:txBody>
      </p:sp>
    </p:spTree>
    <p:extLst>
      <p:ext uri="{BB962C8B-B14F-4D97-AF65-F5344CB8AC3E}">
        <p14:creationId xmlns:p14="http://schemas.microsoft.com/office/powerpoint/2010/main" val="219840898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108A0-5BE9-C12F-580A-A887CF1E3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C4E427-B3E0-A637-07E0-E7CC1CCAF7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BD79DB-2B9E-3328-C04C-98968AB924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the Type II error rate?</a:t>
            </a:r>
          </a:p>
        </p:txBody>
      </p:sp>
    </p:spTree>
    <p:extLst>
      <p:ext uri="{BB962C8B-B14F-4D97-AF65-F5344CB8AC3E}">
        <p14:creationId xmlns:p14="http://schemas.microsoft.com/office/powerpoint/2010/main" val="372743469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1ACFF-D4E3-50CB-B617-9AC8D3021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EDBE3F-B391-2521-D1A6-FD6D6358E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We’ve Got the Power-$600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91D78C-E707-C04A-CAAB-B49154CAD9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US" sz="4400" dirty="0"/>
              <a:t>In a situation where both parametric or non-parametric tests are valid, using this type of test with result in greater statistical power.</a:t>
            </a:r>
          </a:p>
        </p:txBody>
      </p:sp>
    </p:spTree>
    <p:extLst>
      <p:ext uri="{BB962C8B-B14F-4D97-AF65-F5344CB8AC3E}">
        <p14:creationId xmlns:p14="http://schemas.microsoft.com/office/powerpoint/2010/main" val="351826738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A832C-AEFE-46B7-30CF-B92C9E6C8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6D5D0-3358-09DC-9C06-35CCA53D0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F6EE67-E5A4-AA7D-9F2C-C00D42DE3E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a parametric test?</a:t>
            </a:r>
          </a:p>
        </p:txBody>
      </p:sp>
    </p:spTree>
    <p:extLst>
      <p:ext uri="{BB962C8B-B14F-4D97-AF65-F5344CB8AC3E}">
        <p14:creationId xmlns:p14="http://schemas.microsoft.com/office/powerpoint/2010/main" val="298863895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E94CA5-B13B-828B-6C9C-D5439B113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55055-5687-7F50-D66A-F8A945176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We’ve Got the Power-$800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172B1B-90C7-E729-DFD9-CC4201F80F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US" sz="4400" dirty="0"/>
              <a:t>This test will have greater statistical power than a sign test when the differences in medians are symmetrically distributed.</a:t>
            </a:r>
          </a:p>
          <a:p>
            <a:pPr marL="0" indent="0" fontAlgn="ctr">
              <a:buNone/>
            </a:pP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112377792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D94C1-3246-EAEE-782A-6733210BD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EF76A-D8C7-D2A1-06C6-3919F15A51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902FC5-0290-D412-4494-63A0B06F4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the Wilcoxon sign-rank test?</a:t>
            </a:r>
          </a:p>
        </p:txBody>
      </p:sp>
    </p:spTree>
    <p:extLst>
      <p:ext uri="{BB962C8B-B14F-4D97-AF65-F5344CB8AC3E}">
        <p14:creationId xmlns:p14="http://schemas.microsoft.com/office/powerpoint/2010/main" val="358237144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1FAA3E-FEF9-E130-21AE-13CDAD4DB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2EFDA-05D1-A194-8763-B66C1A0F7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We’ve Got the Power-$1000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D82089-506E-BA24-F704-C6966F8F60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4400" dirty="0"/>
              <a:t>The following R function will solve for this variable:</a:t>
            </a:r>
          </a:p>
          <a:p>
            <a:pPr marL="0" indent="0">
              <a:buNone/>
            </a:pPr>
            <a:r>
              <a:rPr lang="en-US" sz="3600" dirty="0" err="1"/>
              <a:t>power.t.test</a:t>
            </a:r>
            <a:r>
              <a:rPr lang="en-US" sz="3600" dirty="0"/>
              <a:t>(n = 20,</a:t>
            </a:r>
          </a:p>
          <a:p>
            <a:pPr marL="0" indent="0">
              <a:buNone/>
            </a:pPr>
            <a:r>
              <a:rPr lang="en-US" sz="3600" dirty="0"/>
              <a:t>                          </a:t>
            </a:r>
            <a:r>
              <a:rPr lang="en-US" sz="3600" dirty="0" err="1"/>
              <a:t>sd</a:t>
            </a:r>
            <a:r>
              <a:rPr lang="en-US" sz="3600" dirty="0"/>
              <a:t> = 3,</a:t>
            </a:r>
          </a:p>
          <a:p>
            <a:pPr marL="0" indent="0">
              <a:buNone/>
            </a:pPr>
            <a:r>
              <a:rPr lang="en-US" sz="3600" dirty="0"/>
              <a:t>                          power = 0.80,</a:t>
            </a:r>
          </a:p>
          <a:p>
            <a:pPr marL="0" indent="0">
              <a:buNone/>
            </a:pPr>
            <a:r>
              <a:rPr lang="en-US" sz="3600" dirty="0"/>
              <a:t>                          </a:t>
            </a:r>
            <a:r>
              <a:rPr lang="en-US" sz="3600" dirty="0" err="1"/>
              <a:t>sig.level</a:t>
            </a:r>
            <a:r>
              <a:rPr lang="en-US" sz="3600" dirty="0"/>
              <a:t> = 0.05,</a:t>
            </a:r>
          </a:p>
          <a:p>
            <a:pPr marL="0" indent="0">
              <a:buNone/>
            </a:pPr>
            <a:r>
              <a:rPr lang="en-US" sz="3600" dirty="0"/>
              <a:t>		       type = “</a:t>
            </a:r>
            <a:r>
              <a:rPr lang="en-US" sz="3600" dirty="0" err="1"/>
              <a:t>one.sample</a:t>
            </a:r>
            <a:r>
              <a:rPr lang="en-US" sz="3600" dirty="0"/>
              <a:t>”)</a:t>
            </a:r>
          </a:p>
          <a:p>
            <a:pPr marL="0" indent="0">
              <a:buNone/>
            </a:pP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291496396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34CE43-2615-4A67-3CFF-D511E1685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B2E9B0-7522-A5E7-AAFF-C59C2D83DF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30F860-183D-4072-AB53-655EC90128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the effect size/delta?</a:t>
            </a:r>
          </a:p>
        </p:txBody>
      </p:sp>
    </p:spTree>
    <p:extLst>
      <p:ext uri="{BB962C8B-B14F-4D97-AF65-F5344CB8AC3E}">
        <p14:creationId xmlns:p14="http://schemas.microsoft.com/office/powerpoint/2010/main" val="266582433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8413F-4556-7C71-1E86-3BA240BBB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903F01-972C-817A-90F1-5C52C9B208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Miscellany-$200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9B7959-9E90-C6D7-59CB-ABE2F77FC6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US" sz="4400" dirty="0"/>
              <a:t>This R package allows us to read and manipulate spatial data.</a:t>
            </a:r>
          </a:p>
        </p:txBody>
      </p:sp>
    </p:spTree>
    <p:extLst>
      <p:ext uri="{BB962C8B-B14F-4D97-AF65-F5344CB8AC3E}">
        <p14:creationId xmlns:p14="http://schemas.microsoft.com/office/powerpoint/2010/main" val="185850013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9A2B3-A890-68E9-D14A-A13DD5A5C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18179B-20FD-FC8B-AE61-A9B203A74D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3B560C-2663-C1BB-2A04-861444879F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sf?</a:t>
            </a:r>
          </a:p>
        </p:txBody>
      </p:sp>
    </p:spTree>
    <p:extLst>
      <p:ext uri="{BB962C8B-B14F-4D97-AF65-F5344CB8AC3E}">
        <p14:creationId xmlns:p14="http://schemas.microsoft.com/office/powerpoint/2010/main" val="421142141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EC53D-DF5B-DE77-8D44-A5CB1E083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E09A57-ECA9-04EE-A395-441BFA435D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Miscellany-$400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D5B0A4-E833-8901-7DFF-E34836301F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US" sz="4400" dirty="0"/>
              <a:t>This theorem is the foundation for the construction of confidence intervals and hypothesis testing. </a:t>
            </a:r>
          </a:p>
        </p:txBody>
      </p:sp>
    </p:spTree>
    <p:extLst>
      <p:ext uri="{BB962C8B-B14F-4D97-AF65-F5344CB8AC3E}">
        <p14:creationId xmlns:p14="http://schemas.microsoft.com/office/powerpoint/2010/main" val="76595654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A21C68-EA2E-4D88-5553-713B795CA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ADE123-ABFF-E9EC-8310-20EBD5AF7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F5BF8-64A1-F0FF-9E8A-BDFB13E266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the Central Limit Theorem?</a:t>
            </a:r>
          </a:p>
        </p:txBody>
      </p:sp>
    </p:spTree>
    <p:extLst>
      <p:ext uri="{BB962C8B-B14F-4D97-AF65-F5344CB8AC3E}">
        <p14:creationId xmlns:p14="http://schemas.microsoft.com/office/powerpoint/2010/main" val="88976100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C05D0C-8C7F-5BC0-0663-29E88ECE6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1A07C5-F39B-C4BA-0AA8-FA0FF0E6CA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Miscellany-$600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95437C-8659-E29E-5B7F-DFE7CDBABC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US" sz="4400" dirty="0"/>
              <a:t>This test allows you to calculate an exact p-value.</a:t>
            </a:r>
          </a:p>
        </p:txBody>
      </p:sp>
    </p:spTree>
    <p:extLst>
      <p:ext uri="{BB962C8B-B14F-4D97-AF65-F5344CB8AC3E}">
        <p14:creationId xmlns:p14="http://schemas.microsoft.com/office/powerpoint/2010/main" val="98240884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BB5C3-6984-4D22-042F-26F25ECB6D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2B296-A6DB-6C33-BD35-8DC599685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F516C7-0ADB-05A5-C097-87CB45A08B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Fisher’s exact test?</a:t>
            </a:r>
          </a:p>
        </p:txBody>
      </p:sp>
    </p:spTree>
    <p:extLst>
      <p:ext uri="{BB962C8B-B14F-4D97-AF65-F5344CB8AC3E}">
        <p14:creationId xmlns:p14="http://schemas.microsoft.com/office/powerpoint/2010/main" val="34191876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855CFE-577F-2061-96AA-0B1CA21836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25EE0D-80EF-AAD8-EE2B-C48DC430EE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Miscellany-$800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E0FCB8-FF77-DB60-5E6F-9D0BF28206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US" sz="4400" dirty="0"/>
              <a:t>This term describes the practice of performing many tests in order to achieve a significant result</a:t>
            </a:r>
          </a:p>
        </p:txBody>
      </p:sp>
    </p:spTree>
    <p:extLst>
      <p:ext uri="{BB962C8B-B14F-4D97-AF65-F5344CB8AC3E}">
        <p14:creationId xmlns:p14="http://schemas.microsoft.com/office/powerpoint/2010/main" val="342443709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62283-DF92-EF71-D430-98C697C35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648B06-1DC5-DF9B-39F8-74A5485F16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921E41-71B7-8CE3-D06A-75D55A1B90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p-hacking?</a:t>
            </a:r>
          </a:p>
        </p:txBody>
      </p:sp>
    </p:spTree>
    <p:extLst>
      <p:ext uri="{BB962C8B-B14F-4D97-AF65-F5344CB8AC3E}">
        <p14:creationId xmlns:p14="http://schemas.microsoft.com/office/powerpoint/2010/main" val="47897097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30467E-2441-6779-77F8-559FA096D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44103-A36C-87D0-E31E-80142B5593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Miscellany-$1000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909AFB-663C-8E3E-8B91-70A95A943B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US" sz="4400" dirty="0"/>
              <a:t>This six-character string can be used to describe a color in R.</a:t>
            </a:r>
          </a:p>
        </p:txBody>
      </p:sp>
    </p:spTree>
    <p:extLst>
      <p:ext uri="{BB962C8B-B14F-4D97-AF65-F5344CB8AC3E}">
        <p14:creationId xmlns:p14="http://schemas.microsoft.com/office/powerpoint/2010/main" val="198144976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7882A8-FB3B-E902-A3B0-9152DD186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601E1-651A-6853-F759-8C7D7EF7F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A183A7-90F7-4F12-257C-47DF4D2FA4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 fontAlgn="ctr">
              <a:buNone/>
            </a:pPr>
            <a:r>
              <a:rPr lang="en-US" sz="4400" b="1" dirty="0"/>
              <a:t>What is a hex code?</a:t>
            </a:r>
          </a:p>
        </p:txBody>
      </p:sp>
    </p:spTree>
    <p:extLst>
      <p:ext uri="{BB962C8B-B14F-4D97-AF65-F5344CB8AC3E}">
        <p14:creationId xmlns:p14="http://schemas.microsoft.com/office/powerpoint/2010/main" val="61216353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9FADB7-AC94-EC32-1E8B-2365916D7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529217-20DB-695C-8645-157AB7806C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276200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5E667F-E4FE-B985-EE5E-6D0113D6D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Jeopardy – Hypothesis Testing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71B992-4739-CBBA-7A5D-9B240FB209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493596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FBF47-04B4-17D9-0C0E-BDA1939D2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Jeopardy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E8BFCD-7593-DBBE-819B-B6466D026B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Let’s say you are conducting a study on the effects of a new medication on platelet count as measured in a complete blood count. You have two groups, one of which receives a placebo and the other of which receives the new medication. Your null hypothesis is that the two groups will have equal mean platelet count; your alternative is that the two groups will have different mean platelet count. </a:t>
            </a:r>
          </a:p>
          <a:p>
            <a:pPr marL="0" indent="0">
              <a:buNone/>
            </a:pPr>
            <a:r>
              <a:rPr lang="en-US" sz="2400" dirty="0"/>
              <a:t>We will assume that the two groups have unequal variance, and the first few rows of your data table (named </a:t>
            </a:r>
            <a:r>
              <a:rPr lang="en-US" sz="2400" dirty="0" err="1"/>
              <a:t>study_results</a:t>
            </a:r>
            <a:r>
              <a:rPr lang="en-US" sz="2400" dirty="0"/>
              <a:t>) looks like this: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7D26FD2-0AE4-D5BB-CDDB-14533701A0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6719625"/>
              </p:ext>
            </p:extLst>
          </p:nvPr>
        </p:nvGraphicFramePr>
        <p:xfrm>
          <a:off x="568960" y="4558666"/>
          <a:ext cx="404368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6720">
                  <a:extLst>
                    <a:ext uri="{9D8B030D-6E8A-4147-A177-3AD203B41FA5}">
                      <a16:colId xmlns:a16="http://schemas.microsoft.com/office/drawing/2014/main" val="262997953"/>
                    </a:ext>
                  </a:extLst>
                </a:gridCol>
                <a:gridCol w="1259840">
                  <a:extLst>
                    <a:ext uri="{9D8B030D-6E8A-4147-A177-3AD203B41FA5}">
                      <a16:colId xmlns:a16="http://schemas.microsoft.com/office/drawing/2014/main" val="3293070170"/>
                    </a:ext>
                  </a:extLst>
                </a:gridCol>
                <a:gridCol w="1087120">
                  <a:extLst>
                    <a:ext uri="{9D8B030D-6E8A-4147-A177-3AD203B41FA5}">
                      <a16:colId xmlns:a16="http://schemas.microsoft.com/office/drawing/2014/main" val="238490986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Participant_id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platelet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89488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Treatment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84933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Placebo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140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10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Placebo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615935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CAA6B12D-BB8B-F6FF-41B6-459E59BD3FE0}"/>
              </a:ext>
            </a:extLst>
          </p:cNvPr>
          <p:cNvSpPr txBox="1"/>
          <p:nvPr/>
        </p:nvSpPr>
        <p:spPr>
          <a:xfrm>
            <a:off x="5130800" y="4654015"/>
            <a:ext cx="535432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What would you enter in R to conduct a two-sample t-test for this study?</a:t>
            </a:r>
          </a:p>
          <a:p>
            <a:endParaRPr lang="en-US" sz="2000" dirty="0"/>
          </a:p>
          <a:p>
            <a:r>
              <a:rPr lang="en-US" sz="2000" dirty="0"/>
              <a:t>What is the precise definition of the p-value from your test in this scenario?</a:t>
            </a:r>
          </a:p>
        </p:txBody>
      </p:sp>
    </p:spTree>
    <p:extLst>
      <p:ext uri="{BB962C8B-B14F-4D97-AF65-F5344CB8AC3E}">
        <p14:creationId xmlns:p14="http://schemas.microsoft.com/office/powerpoint/2010/main" val="418372032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9804279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A0409-5167-078C-F696-E4DA68616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E95FA9-2E52-CDDF-1D0A-D4FB66B9B5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745777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56"/>
  <p:tag name="ORIGINALWIDTH" val=" 70"/>
  <p:tag name="OUTPUTTYPE" val="PNG"/>
  <p:tag name="IGUANATEXVERSION" val="162"/>
  <p:tag name="LATEXADDIN" val="\documentclass{article}&#10;\usepackage{amsmath}&#10;\pagestyle{empty}&#10;\begin{document}&#10;&#10;$\alpha$&#10;&#10;&#10;\end{document}"/>
  <p:tag name="IGUANATEXSIZE" val="20"/>
  <p:tag name="IGUANATEXCURSOR" val="89"/>
  <p:tag name="TRANSPARENCY" val="True"/>
  <p:tag name="CHOOSECOLOR" val="False"/>
  <p:tag name="COLORHEX" val="000000"/>
  <p:tag name="LATEXENGINEID" val="0"/>
  <p:tag name="TEMPFOLDER" val="/Users/mollyhoch/Library/Containers/com.microsoft.Powerpoint/Data/tmp/TemporaryItems/"/>
  <p:tag name="LATEXFORMHEIGHT" val=" 426.65"/>
  <p:tag name="LATEXFORMWIDTH" val=" 513.35"/>
  <p:tag name="LATEXFORMWRAP" val="True"/>
  <p:tag name="BITMAPVECTOR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12"/>
  <p:tag name="ORIGINALWIDTH" val=" 276"/>
  <p:tag name="OUTPUTTYPE" val="PNG"/>
  <p:tag name="IGUANATEXVERSION" val="162"/>
  <p:tag name="LATEXADDIN" val="\documentclass{article}&#10;\usepackage{amsmath}&#10;\pagestyle{empty}&#10;\begin{document}&#10;&#10;&#10;$1-\beta$&#10;&#10;\end{document}"/>
  <p:tag name="IGUANATEXSIZE" val="20"/>
  <p:tag name="IGUANATEXCURSOR" val="91"/>
  <p:tag name="TRANSPARENCY" val="True"/>
  <p:tag name="CHOOSECOLOR" val="False"/>
  <p:tag name="COLORHEX" val="000000"/>
  <p:tag name="LATEXENGINEID" val="0"/>
  <p:tag name="TEMPFOLDER" val="/Users/mollyhoch/Library/Containers/com.microsoft.Powerpoint/Data/tmp/TemporaryItems/"/>
  <p:tag name="LATEXFORMHEIGHT" val=" 426.65"/>
  <p:tag name="LATEXFORMWIDTH" val=" 513.35"/>
  <p:tag name="LATEXFORMWRAP" val="True"/>
  <p:tag name="BITMAPVECTOR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81"/>
  <p:tag name="ORIGINALWIDTH" val=" 60"/>
  <p:tag name="OUTPUTTYPE" val="PNG"/>
  <p:tag name="IGUANATEXVERSION" val="162"/>
  <p:tag name="LATEXADDIN" val="\documentclass{article}&#10;\usepackage{amsmath}&#10;\pagestyle{empty}&#10;\begin{document}&#10;&#10;&#10;$\rho$&#10;&#10;\end{document}"/>
  <p:tag name="IGUANATEXSIZE" val="20"/>
  <p:tag name="IGUANATEXCURSOR" val="88"/>
  <p:tag name="TRANSPARENCY" val="True"/>
  <p:tag name="CHOOSECOLOR" val="False"/>
  <p:tag name="COLORHEX" val="000000"/>
  <p:tag name="LATEXENGINEID" val="0"/>
  <p:tag name="TEMPFOLDER" val="/Users/mollyhoch/Library/Containers/com.microsoft.Powerpoint/Data/tmp/TemporaryItems/"/>
  <p:tag name="LATEXFORMHEIGHT" val=" 426.65"/>
  <p:tag name="LATEXFORMWIDTH" val=" 513.35"/>
  <p:tag name="LATEXFORMWRAP" val="True"/>
  <p:tag name="BITMAPVECTOR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12"/>
  <p:tag name="ORIGINALWIDTH" val=" 69"/>
  <p:tag name="OUTPUTTYPE" val="PNG"/>
  <p:tag name="IGUANATEXVERSION" val="162"/>
  <p:tag name="LATEXADDIN" val="\documentclass{article}&#10;\usepackage{amsmath}&#10;\pagestyle{empty}&#10;\begin{document}&#10;&#10;$\beta$&#10;&#10;&#10;\end{document}"/>
  <p:tag name="IGUANATEXSIZE" val="20"/>
  <p:tag name="IGUANATEXCURSOR" val="88"/>
  <p:tag name="TRANSPARENCY" val="True"/>
  <p:tag name="CHOOSECOLOR" val="False"/>
  <p:tag name="COLORHEX" val="000000"/>
  <p:tag name="LATEXENGINEID" val="0"/>
  <p:tag name="TEMPFOLDER" val="/Users/mollyhoch/Library/Containers/com.microsoft.Powerpoint/Data/tmp/TemporaryItems/"/>
  <p:tag name="LATEXFORMHEIGHT" val=" 426.65"/>
  <p:tag name="LATEXFORMWIDTH" val=" 513.35"/>
  <p:tag name="LATEXFORMWRAP" val="True"/>
  <p:tag name="BITMAPVECTOR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90"/>
  <p:tag name="ORIGINALWIDTH" val=" 51"/>
  <p:tag name="OUTPUTTYPE" val="PNG"/>
  <p:tag name="IGUANATEXVERSION" val="162"/>
  <p:tag name="LATEXADDIN" val="\documentclass{article}&#10;\usepackage{amsmath}&#10;\pagestyle{empty}&#10;\begin{document}&#10;&#10;&#10;$\delta$&#10;&#10;\end{document}"/>
  <p:tag name="IGUANATEXSIZE" val="20"/>
  <p:tag name="IGUANATEXCURSOR" val="90"/>
  <p:tag name="TRANSPARENCY" val="True"/>
  <p:tag name="CHOOSECOLOR" val="False"/>
  <p:tag name="COLORHEX" val="000000"/>
  <p:tag name="LATEXENGINEID" val="0"/>
  <p:tag name="TEMPFOLDER" val="/Users/mollyhoch/Library/Containers/com.microsoft.Powerpoint/Data/tmp/TemporaryItems/"/>
  <p:tag name="LATEXFORMHEIGHT" val=" 426.65"/>
  <p:tag name="LATEXFORMWIDTH" val=" 513.35"/>
  <p:tag name="LATEXFORMWRAP" val="True"/>
  <p:tag name="BITMAPVECTOR" val="0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415</TotalTime>
  <Words>1329</Words>
  <Application>Microsoft Macintosh PowerPoint</Application>
  <PresentationFormat>Widescreen</PresentationFormat>
  <Paragraphs>164</Paragraphs>
  <Slides>72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77" baseType="lpstr">
      <vt:lpstr>Aptos</vt:lpstr>
      <vt:lpstr>Aptos Display</vt:lpstr>
      <vt:lpstr>Arial</vt:lpstr>
      <vt:lpstr>Cambria Math</vt:lpstr>
      <vt:lpstr>Office Theme</vt:lpstr>
      <vt:lpstr>Exam 2 Review</vt:lpstr>
      <vt:lpstr>Exam Info</vt:lpstr>
      <vt:lpstr>Jeopardy game</vt:lpstr>
      <vt:lpstr>Set-up/Rules</vt:lpstr>
      <vt:lpstr>Set-up/Rules</vt:lpstr>
      <vt:lpstr>One Final Rule</vt:lpstr>
      <vt:lpstr>PowerPoint Presentation</vt:lpstr>
      <vt:lpstr>R Functions -$200</vt:lpstr>
      <vt:lpstr>PowerPoint Presentation</vt:lpstr>
      <vt:lpstr>R Functions -$400</vt:lpstr>
      <vt:lpstr>PowerPoint Presentation</vt:lpstr>
      <vt:lpstr>R Functions -$600</vt:lpstr>
      <vt:lpstr>PowerPoint Presentation</vt:lpstr>
      <vt:lpstr>R Functions -$800</vt:lpstr>
      <vt:lpstr>PowerPoint Presentation</vt:lpstr>
      <vt:lpstr>R Functions -$1000</vt:lpstr>
      <vt:lpstr>PowerPoint Presentation</vt:lpstr>
      <vt:lpstr>Test Statistics - $200</vt:lpstr>
      <vt:lpstr>PowerPoint Presentation</vt:lpstr>
      <vt:lpstr>Test statistics-$400</vt:lpstr>
      <vt:lpstr>PowerPoint Presentation</vt:lpstr>
      <vt:lpstr>Data Types -$600</vt:lpstr>
      <vt:lpstr>PowerPoint Presentation</vt:lpstr>
      <vt:lpstr>Test Statistics -$800</vt:lpstr>
      <vt:lpstr>PowerPoint Presentation</vt:lpstr>
      <vt:lpstr>Test Statistics-$1000</vt:lpstr>
      <vt:lpstr>PowerPoint Presentation</vt:lpstr>
      <vt:lpstr>Name That Test - $200</vt:lpstr>
      <vt:lpstr>PowerPoint Presentation</vt:lpstr>
      <vt:lpstr>Name That Test-$400</vt:lpstr>
      <vt:lpstr>PowerPoint Presentation</vt:lpstr>
      <vt:lpstr>Name That Test-$600</vt:lpstr>
      <vt:lpstr>PowerPoint Presentation</vt:lpstr>
      <vt:lpstr>Name That Test-$800</vt:lpstr>
      <vt:lpstr>PowerPoint Presentation</vt:lpstr>
      <vt:lpstr>Name That Test-$1000</vt:lpstr>
      <vt:lpstr>PowerPoint Presentation</vt:lpstr>
      <vt:lpstr>Going Greek-$200</vt:lpstr>
      <vt:lpstr>PowerPoint Presentation</vt:lpstr>
      <vt:lpstr>Going Greek-$400</vt:lpstr>
      <vt:lpstr>PowerPoint Presentation</vt:lpstr>
      <vt:lpstr>Going Greek-$600</vt:lpstr>
      <vt:lpstr>PowerPoint Presentation</vt:lpstr>
      <vt:lpstr>Going Greek-$800</vt:lpstr>
      <vt:lpstr>PowerPoint Presentation</vt:lpstr>
      <vt:lpstr>Going Greek-$1000</vt:lpstr>
      <vt:lpstr>PowerPoint Presentation</vt:lpstr>
      <vt:lpstr>We’ve Got the Power-$200</vt:lpstr>
      <vt:lpstr>PowerPoint Presentation</vt:lpstr>
      <vt:lpstr>We’ve Got the Power-$400</vt:lpstr>
      <vt:lpstr>PowerPoint Presentation</vt:lpstr>
      <vt:lpstr>We’ve Got the Power-$600</vt:lpstr>
      <vt:lpstr>PowerPoint Presentation</vt:lpstr>
      <vt:lpstr>We’ve Got the Power-$800</vt:lpstr>
      <vt:lpstr>PowerPoint Presentation</vt:lpstr>
      <vt:lpstr>We’ve Got the Power-$1000</vt:lpstr>
      <vt:lpstr>PowerPoint Presentation</vt:lpstr>
      <vt:lpstr>Miscellany-$200</vt:lpstr>
      <vt:lpstr>PowerPoint Presentation</vt:lpstr>
      <vt:lpstr>Miscellany-$400</vt:lpstr>
      <vt:lpstr>PowerPoint Presentation</vt:lpstr>
      <vt:lpstr>Miscellany-$600</vt:lpstr>
      <vt:lpstr>PowerPoint Presentation</vt:lpstr>
      <vt:lpstr>Miscellany-$800</vt:lpstr>
      <vt:lpstr>PowerPoint Presentation</vt:lpstr>
      <vt:lpstr>Miscellany-$1000</vt:lpstr>
      <vt:lpstr>PowerPoint Presentation</vt:lpstr>
      <vt:lpstr>PowerPoint Presentation</vt:lpstr>
      <vt:lpstr>Final Jeopardy – Hypothesis Testing</vt:lpstr>
      <vt:lpstr>Final Jeopardy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Hoch, Margaret</dc:creator>
  <cp:lastModifiedBy>Hoch, Margaret</cp:lastModifiedBy>
  <cp:revision>6</cp:revision>
  <dcterms:created xsi:type="dcterms:W3CDTF">2026-06-30T16:46:06Z</dcterms:created>
  <dcterms:modified xsi:type="dcterms:W3CDTF">2026-07-14T20:31:56Z</dcterms:modified>
</cp:coreProperties>
</file>