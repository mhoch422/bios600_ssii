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332" r:id="rId3"/>
    <p:sldId id="328" r:id="rId4"/>
    <p:sldId id="329" r:id="rId5"/>
    <p:sldId id="322" r:id="rId6"/>
    <p:sldId id="323" r:id="rId7"/>
    <p:sldId id="33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321" r:id="rId30"/>
    <p:sldId id="279" r:id="rId31"/>
    <p:sldId id="320" r:id="rId32"/>
    <p:sldId id="281" r:id="rId33"/>
    <p:sldId id="319" r:id="rId34"/>
    <p:sldId id="283" r:id="rId35"/>
    <p:sldId id="318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24" r:id="rId70"/>
    <p:sldId id="325" r:id="rId71"/>
    <p:sldId id="327" r:id="rId72"/>
    <p:sldId id="330" r:id="rId73"/>
    <p:sldId id="326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589"/>
  </p:normalViewPr>
  <p:slideViewPr>
    <p:cSldViewPr snapToGrid="0">
      <p:cViewPr varScale="1">
        <p:scale>
          <a:sx n="113" d="100"/>
          <a:sy n="113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FAA7-23B9-2F9F-E75C-3784F8E92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94038-2C5D-FB20-0018-A3550AE1F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C44F-0D84-9048-2212-6CD8AE6B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2FC7-5DDF-7E4A-E1AF-81FDDC2D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023C9-9B6B-02C0-5202-DB771E2F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5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72FB-B0E6-B9F0-482F-596FC357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4E90-1849-996F-04C0-0E5477A0D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1509-17CE-9256-C78D-D634DE34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CF97-9958-965F-ED37-70417464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96CDF-4832-6A8A-EBC8-B2C838A9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C431-DE96-F500-A7ED-7674714B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62B7C-D862-74A4-50A9-7C5BAA16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A6FF-1B80-5566-E6EF-42121FD8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53D89-A129-0BDF-FEED-31EA3B98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9104-3DEE-10EC-D700-D10D807A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02EF-EB88-E93A-261A-716BF8BA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7EBA-56A8-3276-27EA-E696F9D5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C7BAD-E463-CBA0-3671-3DC82CE3D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B9103-27F9-BE94-8F47-BCEC2ED8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0866B-88DC-AADF-E045-90E0232D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45D99-A353-56E8-7A1A-027435DB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AAD8-B3BF-6994-A4FE-C0679CCE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01764-F0CA-06B7-1341-4B46939E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BBED4-6277-B4F8-50CF-2CDC827A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167DE-7D5B-A79A-76E5-03BA39DB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319F8-52E1-6ACB-3F08-9B50B27BF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AA98F-84D8-0D75-4C99-1219F89E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97B00-C99B-6F19-6F0E-C4372CFA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27045-3E14-F664-2C8F-04AC6537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2696-B771-15EA-375F-8896B9A7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C4B4E-776B-59F7-56C6-198FC4C4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8AEDA-F763-E7E5-DB0E-7F507398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FC923-1DBF-337F-3BAB-97CCD74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1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93321-F08F-395E-5029-7480FB5E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BCE27-B656-0885-A7FF-D0F2F7F0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5B5F8-CD77-EDE3-B6FC-BE771537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F205-7F18-90E3-B23A-39B9ACE5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BC07-DEA9-C04D-827D-DF402CC0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4582-CBF2-6845-E573-0E0B7143F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38EA5-DC33-6B00-D296-1AAF6448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1C506-CC16-1886-0B0A-0FAD7F24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DC3A-970A-FF50-5F9B-03A58602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6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F4DB-C1BC-1F04-967C-7EA42580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EE98E-54E8-7AE2-3F1F-402EEA7EF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A267F-6F8B-5246-E916-45E64D6E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4EA9E-9A1D-2A9D-F4B6-449A90E4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CE87B-F2F5-280A-F98B-1861DB16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D7170-FCC0-2343-52BF-B813AF23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734-CDBE-BDA1-3F8D-CA5A5148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7DD68-FB39-B2B8-6852-CB2234366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3267-BF48-EA25-0A96-B55C1762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5A9A-7CC8-F366-7575-417ABE7F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EDE0-A280-2539-6D50-207F0A2B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98546-49C5-47C6-324C-52118C881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CF669-21B7-492C-A871-986D8997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87408-691D-CB9C-A7CA-0DFD575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4974-4C73-E67E-95E1-B8989EAB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B23BC-08D3-0FBB-00D5-4DF097F5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7CFA5-D897-6B60-F313-78D6AE2D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23953-6A8A-C585-888A-AD1BD7C0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1225-F760-A6CC-0842-80A9A56D1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B8AC5-964B-8C48-8528-DE848C3F2F8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E266-F3F7-7A2C-541C-3D93F0F9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1D8-A807-1496-45A1-54BD25BC8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8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61.xml"/><Relationship Id="rId18" Type="http://schemas.openxmlformats.org/officeDocument/2006/relationships/slide" Target="slide53.xml"/><Relationship Id="rId26" Type="http://schemas.openxmlformats.org/officeDocument/2006/relationships/slide" Target="slide17.xml"/><Relationship Id="rId3" Type="http://schemas.openxmlformats.org/officeDocument/2006/relationships/slide" Target="slide19.xml"/><Relationship Id="rId21" Type="http://schemas.openxmlformats.org/officeDocument/2006/relationships/slide" Target="slide25.xml"/><Relationship Id="rId7" Type="http://schemas.openxmlformats.org/officeDocument/2006/relationships/slide" Target="slide59.xml"/><Relationship Id="rId12" Type="http://schemas.openxmlformats.org/officeDocument/2006/relationships/slide" Target="slide51.xml"/><Relationship Id="rId17" Type="http://schemas.openxmlformats.org/officeDocument/2006/relationships/slide" Target="slide43.xml"/><Relationship Id="rId25" Type="http://schemas.openxmlformats.org/officeDocument/2006/relationships/slide" Target="slide65.xml"/><Relationship Id="rId2" Type="http://schemas.openxmlformats.org/officeDocument/2006/relationships/slide" Target="slide9.xml"/><Relationship Id="rId16" Type="http://schemas.openxmlformats.org/officeDocument/2006/relationships/slide" Target="slide33.xml"/><Relationship Id="rId20" Type="http://schemas.openxmlformats.org/officeDocument/2006/relationships/slide" Target="slide15.xml"/><Relationship Id="rId29" Type="http://schemas.openxmlformats.org/officeDocument/2006/relationships/slide" Target="slide5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11" Type="http://schemas.openxmlformats.org/officeDocument/2006/relationships/slide" Target="slide41.xml"/><Relationship Id="rId24" Type="http://schemas.openxmlformats.org/officeDocument/2006/relationships/slide" Target="slide55.xml"/><Relationship Id="rId5" Type="http://schemas.openxmlformats.org/officeDocument/2006/relationships/slide" Target="slide39.xml"/><Relationship Id="rId15" Type="http://schemas.openxmlformats.org/officeDocument/2006/relationships/slide" Target="slide23.xml"/><Relationship Id="rId23" Type="http://schemas.openxmlformats.org/officeDocument/2006/relationships/slide" Target="slide45.xml"/><Relationship Id="rId28" Type="http://schemas.openxmlformats.org/officeDocument/2006/relationships/slide" Target="slide47.xml"/><Relationship Id="rId10" Type="http://schemas.openxmlformats.org/officeDocument/2006/relationships/slide" Target="slide29.xml"/><Relationship Id="rId19" Type="http://schemas.openxmlformats.org/officeDocument/2006/relationships/slide" Target="slide63.xml"/><Relationship Id="rId4" Type="http://schemas.openxmlformats.org/officeDocument/2006/relationships/slide" Target="slide27.xml"/><Relationship Id="rId9" Type="http://schemas.openxmlformats.org/officeDocument/2006/relationships/slide" Target="slide21.xml"/><Relationship Id="rId14" Type="http://schemas.openxmlformats.org/officeDocument/2006/relationships/slide" Target="slide13.xml"/><Relationship Id="rId22" Type="http://schemas.openxmlformats.org/officeDocument/2006/relationships/slide" Target="slide35.xml"/><Relationship Id="rId27" Type="http://schemas.openxmlformats.org/officeDocument/2006/relationships/slide" Target="slide37.xml"/><Relationship Id="rId30" Type="http://schemas.openxmlformats.org/officeDocument/2006/relationships/slide" Target="slide6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D14A-7041-9367-1C7A-EE533F067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Exam 2 </a:t>
            </a: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0C71E-BE3D-891A-E2C7-F5136CD84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BIOS 600 Summer Session II</a:t>
            </a:r>
          </a:p>
        </p:txBody>
      </p:sp>
    </p:spTree>
    <p:extLst>
      <p:ext uri="{BB962C8B-B14F-4D97-AF65-F5344CB8AC3E}">
        <p14:creationId xmlns:p14="http://schemas.microsoft.com/office/powerpoint/2010/main" val="138101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BBCD-3B56-A313-5E83-3CC7F408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D753-E878-A77F-550A-D787F04F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that HW 12 is due tonight by midnight</a:t>
            </a:r>
          </a:p>
          <a:p>
            <a:r>
              <a:rPr lang="en-US" dirty="0"/>
              <a:t>The late assignment deadline for HW 11 is today at noon</a:t>
            </a:r>
          </a:p>
          <a:p>
            <a:r>
              <a:rPr lang="en-US" dirty="0"/>
              <a:t>Placeholder bullet point to remind Molly to talk a little more about </a:t>
            </a:r>
            <a:r>
              <a:rPr lang="en-US"/>
              <a:t>coding style</a:t>
            </a:r>
          </a:p>
        </p:txBody>
      </p:sp>
    </p:spTree>
    <p:extLst>
      <p:ext uri="{BB962C8B-B14F-4D97-AF65-F5344CB8AC3E}">
        <p14:creationId xmlns:p14="http://schemas.microsoft.com/office/powerpoint/2010/main" val="436939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40D8-AB00-798E-35C5-803556A0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1404-C1A8-2E80-7CAE-9E92FDA3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that the exam is closed-note – all you need to bring is a pencil (or pen)!</a:t>
            </a:r>
          </a:p>
          <a:p>
            <a:r>
              <a:rPr lang="en-US" dirty="0"/>
              <a:t>There are three categories of question – code-based, applications, and theory</a:t>
            </a:r>
          </a:p>
          <a:p>
            <a:r>
              <a:rPr lang="en-US" dirty="0"/>
              <a:t>Questions will be a mix of multiple-choice, true/false, and open response</a:t>
            </a:r>
          </a:p>
          <a:p>
            <a:r>
              <a:rPr lang="en-US" dirty="0"/>
              <a:t>Questions follow formats like the review questions on Canvas</a:t>
            </a:r>
          </a:p>
        </p:txBody>
      </p:sp>
    </p:spTree>
    <p:extLst>
      <p:ext uri="{BB962C8B-B14F-4D97-AF65-F5344CB8AC3E}">
        <p14:creationId xmlns:p14="http://schemas.microsoft.com/office/powerpoint/2010/main" val="192583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B164-459A-5845-CDA9-568B10BA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Jeopardy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C66AC-4172-2428-B08F-2744BD8F1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3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1C79-2784-73FA-4997-10942C45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93DAF-69CD-CBAF-5D92-996CAE602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into three groups</a:t>
            </a:r>
          </a:p>
          <a:p>
            <a:r>
              <a:rPr lang="en-US" dirty="0"/>
              <a:t>Each group will work as a team to earn points, which are determined by the “worth” of the questions.</a:t>
            </a:r>
          </a:p>
          <a:p>
            <a:r>
              <a:rPr lang="en-US" dirty="0"/>
              <a:t>There are six categories, and each category has 5 questions with value ranging from $200 to $1000, with difficulty roughly aligned with the worth of the question.</a:t>
            </a:r>
          </a:p>
          <a:p>
            <a:r>
              <a:rPr lang="en-US" dirty="0"/>
              <a:t>If your group gets an answer correct, the worth of that question is added to your score; if you do not get the answer correct, it is subtracted from your score and the other teams will have the chance to answer it</a:t>
            </a:r>
          </a:p>
        </p:txBody>
      </p:sp>
    </p:spTree>
    <p:extLst>
      <p:ext uri="{BB962C8B-B14F-4D97-AF65-F5344CB8AC3E}">
        <p14:creationId xmlns:p14="http://schemas.microsoft.com/office/powerpoint/2010/main" val="22806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7013-C044-D839-DA78-C5CFAE3B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4977-0934-08BE-428B-E50B0733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A74A-FA3D-D255-A7D8-CDEF8F9F8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pick a group at random to start; they will pick a question off of the board (for example, “BIOS 600 fun facts for $400”)</a:t>
            </a:r>
          </a:p>
          <a:p>
            <a:r>
              <a:rPr lang="en-US" dirty="0"/>
              <a:t>Once the question is revealed, whichever group has someone raise their hand the fastest will then have 10 seconds to answer the question</a:t>
            </a:r>
          </a:p>
          <a:p>
            <a:r>
              <a:rPr lang="en-US" dirty="0"/>
              <a:t>Can answer in the form of a question or not, up to you</a:t>
            </a:r>
          </a:p>
          <a:p>
            <a:r>
              <a:rPr lang="en-US" dirty="0"/>
              <a:t>After we clear the first round, there will be a final jeopardy question, at which point your team can wager as many of your points as you want – if you get the question correct, that wager is added to your final score; if not, it is subtracted.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2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C18A-8229-F0AE-1E8A-55E49140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Final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3802-888F-DDA6-288C-C9EEB87E4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referencing notes/the internet/textbooks! This is an opportunity for you to see what you know ahead of tomorrow’s exam.</a:t>
            </a:r>
          </a:p>
        </p:txBody>
      </p:sp>
    </p:spTree>
    <p:extLst>
      <p:ext uri="{BB962C8B-B14F-4D97-AF65-F5344CB8AC3E}">
        <p14:creationId xmlns:p14="http://schemas.microsoft.com/office/powerpoint/2010/main" val="358756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00000C-CC9A-CFE3-0968-DB8DC8CB1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60700"/>
              </p:ext>
            </p:extLst>
          </p:nvPr>
        </p:nvGraphicFramePr>
        <p:xfrm>
          <a:off x="1374423" y="434199"/>
          <a:ext cx="9443154" cy="598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859">
                  <a:extLst>
                    <a:ext uri="{9D8B030D-6E8A-4147-A177-3AD203B41FA5}">
                      <a16:colId xmlns:a16="http://schemas.microsoft.com/office/drawing/2014/main" val="1761681897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688658007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897676424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972304504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336238556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444483873"/>
                    </a:ext>
                  </a:extLst>
                </a:gridCol>
              </a:tblGrid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That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Going Greek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We’ve Got the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Miscellany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88788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6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7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45337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8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9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0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1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2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3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15403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4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5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6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7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8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9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30698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0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1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2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3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4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5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59389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6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7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8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9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0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42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44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42D9-CB3D-39A1-A989-F8178DCC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 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C007-38E3-C68B-8053-086252B8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returns the appropriate quantile of a  standard 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64515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0B6F-51A1-0511-0E27-F06942A3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AEAA-4681-C74B-8214-02F118E0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39D1-B7ED-B7FE-30F8-F246D763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qnorm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189396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456F-FB12-115F-EAF6-07348C7B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82A8-0081-C10B-06DB-4BD1A642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 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C16A-17D1-0081-7328-DE506E66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can be used to calculate the necessary sample size for a study.</a:t>
            </a:r>
          </a:p>
        </p:txBody>
      </p:sp>
    </p:spTree>
    <p:extLst>
      <p:ext uri="{BB962C8B-B14F-4D97-AF65-F5344CB8AC3E}">
        <p14:creationId xmlns:p14="http://schemas.microsoft.com/office/powerpoint/2010/main" val="2788138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BE7-4413-8D7C-8144-83928118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1826-4D00-AF86-A87C-09F4EEF5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D91E-78B2-1B9C-01D9-07D626AF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power.t.test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29682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FD02-5E46-7611-EBC9-E367EA8F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341E-00B8-32C1-1E06-CF70C7CF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 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4301-221B-5CDE-224C-659F8521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is used to remove the metadata and geometry column when working with spatial data.</a:t>
            </a:r>
          </a:p>
        </p:txBody>
      </p:sp>
    </p:spTree>
    <p:extLst>
      <p:ext uri="{BB962C8B-B14F-4D97-AF65-F5344CB8AC3E}">
        <p14:creationId xmlns:p14="http://schemas.microsoft.com/office/powerpoint/2010/main" val="224629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BCA-C41B-40B6-BF45-BB330DD5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1278-D9AE-4959-93C6-FC7C3075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CD44-143F-9135-263A-733C0479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drop_geometry_st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422300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0ACD-C920-44B9-3ED1-D0D6F2C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04FA-B773-B0FC-0D44-7849B82C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 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ECE1-381A-A344-A097-41F8F797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is used to plot spatial data with </a:t>
            </a:r>
            <a:r>
              <a:rPr lang="en-US" sz="4400" dirty="0" err="1"/>
              <a:t>ggplot</a:t>
            </a:r>
            <a:r>
              <a:rPr lang="en-US" sz="4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330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9DCF-FCEF-AE0D-CE9D-D04523C2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914-FA6C-F5D0-E76C-FF366DB0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C7C7-EE14-2CC2-4DDD-B8C7A754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geom_sf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97356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FB3-3413-2CD6-CB9F-23E78703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8D4D-86A7-8B0E-D974-83D7CCF3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 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26B8-ACF0-7396-F858-287AF940B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is used when calculating the p-value for the sign test.</a:t>
            </a:r>
          </a:p>
        </p:txBody>
      </p:sp>
    </p:spTree>
    <p:extLst>
      <p:ext uri="{BB962C8B-B14F-4D97-AF65-F5344CB8AC3E}">
        <p14:creationId xmlns:p14="http://schemas.microsoft.com/office/powerpoint/2010/main" val="268186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4EC-275C-9B1A-B8EF-AA18C230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4623-E6D3-C21B-C613-5E96AE97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12E8-FD32-E242-C48F-7E2DF1A6A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pbinom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932838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5634-1B14-DBD2-42B4-709F60E2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2F9C-1D5B-1663-B171-CDB42453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- 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8520-8944-6973-C0BA-55E643396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2003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E84-0CD3-9E75-BF71-E1D4589E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045B-5173-6CB6-6AD8-C24E1BB0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E1EC-74AF-0E40-2B50-02AD1973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57312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6435-CAFB-91CF-30BB-9AF2E4C1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6DDF-FD68-7488-5827-DDFE4E68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961C-6862-513E-428C-697F5CD4F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test statistic, used for tests of association, can take on only non-negative values.</a:t>
            </a:r>
          </a:p>
        </p:txBody>
      </p:sp>
    </p:spTree>
    <p:extLst>
      <p:ext uri="{BB962C8B-B14F-4D97-AF65-F5344CB8AC3E}">
        <p14:creationId xmlns:p14="http://schemas.microsoft.com/office/powerpoint/2010/main" val="1304940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ACD5-0B54-2AA5-4F1F-B30A180F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D509-D6CD-6201-E530-FFA93AFE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DFAA-B8CB-04C6-339E-06AB5283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chi-square statistic?</a:t>
            </a:r>
          </a:p>
        </p:txBody>
      </p:sp>
    </p:spTree>
    <p:extLst>
      <p:ext uri="{BB962C8B-B14F-4D97-AF65-F5344CB8AC3E}">
        <p14:creationId xmlns:p14="http://schemas.microsoft.com/office/powerpoint/2010/main" val="1347247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DFDD-7EE2-E885-2DE8-B0812533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8E1D-9139-1216-1374-D7F59C0B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19B9-FD37-DEB9-D90B-00B8A087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Under the null hypothesis, for a one-sample t-test on a sample of size 88, the test statistic follows this distribution.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72635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4325-762E-5680-057B-4EEC43D4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8917-7106-4549-1CBF-F0BEC868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DC79-B92D-67C3-0968-61378080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t-distribution with 87 degrees of freedom?</a:t>
            </a:r>
          </a:p>
        </p:txBody>
      </p:sp>
    </p:spTree>
    <p:extLst>
      <p:ext uri="{BB962C8B-B14F-4D97-AF65-F5344CB8AC3E}">
        <p14:creationId xmlns:p14="http://schemas.microsoft.com/office/powerpoint/2010/main" val="4168935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36CE-8BE4-1D09-9A6F-9F169D45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AC77-DB81-9758-D0F9-1D55E012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2AB6-4CF5-84E5-5679-7CC8467BC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test statistic is a ratio of between-group and within-group variance.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29647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17F4-FCEF-4471-3326-79757DB0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97D1-F2C5-2D97-4CA3-0ACDCA75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3830-7389-4FE3-4AAE-731D16D8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an F-statistic?</a:t>
            </a:r>
          </a:p>
        </p:txBody>
      </p:sp>
    </p:spTree>
    <p:extLst>
      <p:ext uri="{BB962C8B-B14F-4D97-AF65-F5344CB8AC3E}">
        <p14:creationId xmlns:p14="http://schemas.microsoft.com/office/powerpoint/2010/main" val="80678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3600-9F53-25AA-BCD1-424BF02C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A6E3-14BC-0732-3594-438F6392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Statistics-$1000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248C2-5CBC-5B59-8A88-A4EE2ECCF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fontAlgn="ctr">
                  <a:buNone/>
                </a:pPr>
                <a:r>
                  <a:rPr lang="en-US" sz="4400" dirty="0"/>
                  <a:t>When this is true, the degrees of freedom for a two-sample t-test statistic 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− 2</m:t>
                    </m:r>
                  </m:oMath>
                </a14:m>
                <a:r>
                  <a:rPr lang="en-US" sz="4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248C2-5CBC-5B59-8A88-A4EE2ECCF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3" t="-3779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064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D439-801D-8B46-8C15-1E6350BC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17AC-2C71-34DC-9203-55FE5F5F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DB62-06FF-ED0B-4EFE-AF4A60977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equal variances in the two populations/</a:t>
            </a:r>
            <a:r>
              <a:rPr lang="en-US" sz="4400" b="1" dirty="0" err="1"/>
              <a:t>var.equal</a:t>
            </a:r>
            <a:r>
              <a:rPr lang="en-US" sz="4400" b="1" dirty="0"/>
              <a:t> = TRUE?</a:t>
            </a:r>
          </a:p>
        </p:txBody>
      </p:sp>
    </p:spTree>
    <p:extLst>
      <p:ext uri="{BB962C8B-B14F-4D97-AF65-F5344CB8AC3E}">
        <p14:creationId xmlns:p14="http://schemas.microsoft.com/office/powerpoint/2010/main" val="1279273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BCD2-33FC-8940-56E0-CE218E25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F00B-054A-2ACD-C724-A57883CB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Test - $200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5E6B7-A48D-69A5-B386-C90D596F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311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test would be used to test if the means of four groups are equal.</a:t>
            </a:r>
          </a:p>
        </p:txBody>
      </p:sp>
    </p:spTree>
    <p:extLst>
      <p:ext uri="{BB962C8B-B14F-4D97-AF65-F5344CB8AC3E}">
        <p14:creationId xmlns:p14="http://schemas.microsoft.com/office/powerpoint/2010/main" val="3693326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853E-C150-C41F-0EF2-69DE0766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1F6C-ED52-1EE8-2C02-B4D4C5D7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DF78-5DBF-742E-FB31-97F2C280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ANOVA?</a:t>
            </a:r>
          </a:p>
        </p:txBody>
      </p:sp>
    </p:spTree>
    <p:extLst>
      <p:ext uri="{BB962C8B-B14F-4D97-AF65-F5344CB8AC3E}">
        <p14:creationId xmlns:p14="http://schemas.microsoft.com/office/powerpoint/2010/main" val="4181215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1A8E-3BBB-822D-92D2-4F0F3DD5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3FBE-126D-C803-5175-6B170B28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Test-$400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A060B-C3E4-676C-3E81-CAC0AA70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test can be used to test the association between two categorical variables when each cell has an expected value greater than 10. </a:t>
            </a:r>
          </a:p>
        </p:txBody>
      </p:sp>
    </p:spTree>
    <p:extLst>
      <p:ext uri="{BB962C8B-B14F-4D97-AF65-F5344CB8AC3E}">
        <p14:creationId xmlns:p14="http://schemas.microsoft.com/office/powerpoint/2010/main" val="990264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934-6879-1167-85B2-34DEF107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C57F-E945-972F-F468-725AA155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4910-6C56-B599-3126-A6FF3ED0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chi-square test?</a:t>
            </a:r>
          </a:p>
        </p:txBody>
      </p:sp>
    </p:spTree>
    <p:extLst>
      <p:ext uri="{BB962C8B-B14F-4D97-AF65-F5344CB8AC3E}">
        <p14:creationId xmlns:p14="http://schemas.microsoft.com/office/powerpoint/2010/main" val="1334749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CB01-AA8F-46C4-CA33-08725A89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EC14-7698-4ED0-43D7-C1C18059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Test-$600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0FEDC-10AA-68E3-BF61-68F3AA16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One example of when you would use this test is when you have a study with participants matched by age, sex, and socioeconomic status, where one groups has a specific condition and the other does not.</a:t>
            </a:r>
          </a:p>
        </p:txBody>
      </p:sp>
    </p:spTree>
    <p:extLst>
      <p:ext uri="{BB962C8B-B14F-4D97-AF65-F5344CB8AC3E}">
        <p14:creationId xmlns:p14="http://schemas.microsoft.com/office/powerpoint/2010/main" val="1123614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9260-AC1A-1229-6D34-18452560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2A2D-077E-C312-7DEE-02F5E608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BF05-C8C5-4A38-443B-33869769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paired t-test?</a:t>
            </a:r>
          </a:p>
        </p:txBody>
      </p:sp>
    </p:spTree>
    <p:extLst>
      <p:ext uri="{BB962C8B-B14F-4D97-AF65-F5344CB8AC3E}">
        <p14:creationId xmlns:p14="http://schemas.microsoft.com/office/powerpoint/2010/main" val="2894134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77D1-2F7C-3612-C301-643F78C8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34EB-584E-501E-E536-141ECD88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Test-$800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3855F-5C20-5D4D-BC6C-0C868E45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To run this test in R, the first argument to its function has the format:</a:t>
            </a:r>
          </a:p>
          <a:p>
            <a:pPr marL="0" indent="0">
              <a:buNone/>
            </a:pPr>
            <a:r>
              <a:rPr lang="en-US" sz="4400" dirty="0"/>
              <a:t> “outcome ~ group”.</a:t>
            </a:r>
          </a:p>
        </p:txBody>
      </p:sp>
    </p:spTree>
    <p:extLst>
      <p:ext uri="{BB962C8B-B14F-4D97-AF65-F5344CB8AC3E}">
        <p14:creationId xmlns:p14="http://schemas.microsoft.com/office/powerpoint/2010/main" val="2864847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50F7-D2E8-80C5-3B98-A5CD30DC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91EA-647F-13F5-E83D-BC80A398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F70A-8C7C-5826-78F1-651150EC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two-sample t-test?</a:t>
            </a:r>
          </a:p>
        </p:txBody>
      </p:sp>
    </p:spTree>
    <p:extLst>
      <p:ext uri="{BB962C8B-B14F-4D97-AF65-F5344CB8AC3E}">
        <p14:creationId xmlns:p14="http://schemas.microsoft.com/office/powerpoint/2010/main" val="2757809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C147-6162-9057-F963-37FB5D77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AD58-BC10-91E5-A6E4-E7686B51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Test-$1000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D1A6C-C1DF-6331-896F-C84A5F2C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test involves the calculation of U-statistics.</a:t>
            </a:r>
          </a:p>
        </p:txBody>
      </p:sp>
    </p:spTree>
    <p:extLst>
      <p:ext uri="{BB962C8B-B14F-4D97-AF65-F5344CB8AC3E}">
        <p14:creationId xmlns:p14="http://schemas.microsoft.com/office/powerpoint/2010/main" val="3727847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2B30-D365-AE19-2E4F-58FD0242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C8AC-8B8B-3525-FA1A-4983F29C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C902-301A-1E8B-A6B5-08CB471AE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Mann-Whitney U Test/Wilcoxon rank sum test/Wilcoxon-Mann-Whitney test?</a:t>
            </a:r>
          </a:p>
        </p:txBody>
      </p:sp>
    </p:spTree>
    <p:extLst>
      <p:ext uri="{BB962C8B-B14F-4D97-AF65-F5344CB8AC3E}">
        <p14:creationId xmlns:p14="http://schemas.microsoft.com/office/powerpoint/2010/main" val="3582923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1774-A817-04C4-2EE9-61EF4684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A7BE-C539-6EF5-24E9-BB86AC91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Greek-$200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72D8B-739E-3887-1BF0-6E9496F5CC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92977" y="2370667"/>
            <a:ext cx="2187223" cy="174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68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F14C6-DFFE-6843-ED20-C64426BB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C605-B8CB-0297-A6E7-31CA93DF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4555-CC47-9A7C-88F4-66A9562BE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significance level/Type I error rate?</a:t>
            </a:r>
          </a:p>
        </p:txBody>
      </p:sp>
    </p:spTree>
    <p:extLst>
      <p:ext uri="{BB962C8B-B14F-4D97-AF65-F5344CB8AC3E}">
        <p14:creationId xmlns:p14="http://schemas.microsoft.com/office/powerpoint/2010/main" val="1920583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FFC7-7882-6B2F-4650-EADD1ADC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232F-BD86-4140-5A5A-643891C1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Greek-$400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5DA28-58A7-F55B-033E-E3FA0CFF3D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10845" y="2038526"/>
            <a:ext cx="4061582" cy="16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40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F7CB-09E2-11D3-B16E-0A14F034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E06F-FF34-9B8B-D803-0C19F798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155B-6227-81E3-4290-48E770F5C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power?</a:t>
            </a:r>
          </a:p>
        </p:txBody>
      </p:sp>
    </p:spTree>
    <p:extLst>
      <p:ext uri="{BB962C8B-B14F-4D97-AF65-F5344CB8AC3E}">
        <p14:creationId xmlns:p14="http://schemas.microsoft.com/office/powerpoint/2010/main" val="2746229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4867-A304-46CD-F996-C8B7CAD9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A1E5-F2E4-25C6-AFA4-DA9971B3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Greek-$600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140F5-48FF-5462-3190-4C1D0D8CC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86489" y="2065019"/>
            <a:ext cx="2020712" cy="272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272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4886-CD1D-1F23-2AF5-509D84EF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58BB-01E7-3224-3C82-A48749F7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DDE5-0056-D492-83AE-2360AC22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correlation?</a:t>
            </a:r>
          </a:p>
        </p:txBody>
      </p:sp>
    </p:spTree>
    <p:extLst>
      <p:ext uri="{BB962C8B-B14F-4D97-AF65-F5344CB8AC3E}">
        <p14:creationId xmlns:p14="http://schemas.microsoft.com/office/powerpoint/2010/main" val="3894517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4556-39C9-1681-6E72-441CBB55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831B-9789-EA75-F28B-03BB3BEC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Greek-$800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C06B2-1B03-E5C0-F2BD-109F4F6CB91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75200" y="2027214"/>
            <a:ext cx="1727200" cy="28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94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F47A-5538-6942-DBBA-BD3B6317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777E-7398-C240-8397-07637BE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B08B-1085-E979-9AF6-12DF5B92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Type II error rate?</a:t>
            </a:r>
          </a:p>
        </p:txBody>
      </p:sp>
    </p:spTree>
    <p:extLst>
      <p:ext uri="{BB962C8B-B14F-4D97-AF65-F5344CB8AC3E}">
        <p14:creationId xmlns:p14="http://schemas.microsoft.com/office/powerpoint/2010/main" val="313714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FD7D-E3FB-3CBC-403C-28A27936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D6F4-D7A6-70EB-C76B-F1237417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Greek-$1000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356D5-E29E-4650-9784-ED845A6D60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00978" y="2173941"/>
            <a:ext cx="1422400" cy="25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2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F46C-5070-795E-F5EC-24140897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D9CD-5185-AFF7-B364-7EF02270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9AC10-5A2F-B2A3-2DC2-EAFDCFE1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effect size?</a:t>
            </a:r>
          </a:p>
        </p:txBody>
      </p:sp>
    </p:spTree>
    <p:extLst>
      <p:ext uri="{BB962C8B-B14F-4D97-AF65-F5344CB8AC3E}">
        <p14:creationId xmlns:p14="http://schemas.microsoft.com/office/powerpoint/2010/main" val="2713569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A3A8-BCD9-481B-E1E2-74263066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A865-95AA-E906-3E54-ED662829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the Power-$200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B8AF0-EBE4-5165-EF34-ED9DF5AAD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Holding effect size, variance, and significance constant, decreasing this will decrease the power of a study.</a:t>
            </a:r>
          </a:p>
        </p:txBody>
      </p:sp>
    </p:spTree>
    <p:extLst>
      <p:ext uri="{BB962C8B-B14F-4D97-AF65-F5344CB8AC3E}">
        <p14:creationId xmlns:p14="http://schemas.microsoft.com/office/powerpoint/2010/main" val="4219249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0F9E-75F1-8AA6-735E-AE10D59B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79D4-D7B9-CB14-108B-7C2AF44E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E7EB-13B0-743E-FABE-6135F762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sample size?</a:t>
            </a:r>
          </a:p>
        </p:txBody>
      </p:sp>
    </p:spTree>
    <p:extLst>
      <p:ext uri="{BB962C8B-B14F-4D97-AF65-F5344CB8AC3E}">
        <p14:creationId xmlns:p14="http://schemas.microsoft.com/office/powerpoint/2010/main" val="2859718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64F-3244-2895-4473-E64071EB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E609-02E3-B563-2B11-BC265797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the Power-$400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12A-C9E6-007B-BDE1-7B4A6945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rate is the complement of the power.</a:t>
            </a:r>
          </a:p>
        </p:txBody>
      </p:sp>
    </p:spTree>
    <p:extLst>
      <p:ext uri="{BB962C8B-B14F-4D97-AF65-F5344CB8AC3E}">
        <p14:creationId xmlns:p14="http://schemas.microsoft.com/office/powerpoint/2010/main" val="21984089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08A0-5BE9-C12F-580A-A887CF1E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E427-B3E0-A637-07E0-E7CC1CCA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79DB-2B9E-3328-C04C-98968AB9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Type II error rate?</a:t>
            </a:r>
          </a:p>
        </p:txBody>
      </p:sp>
    </p:spTree>
    <p:extLst>
      <p:ext uri="{BB962C8B-B14F-4D97-AF65-F5344CB8AC3E}">
        <p14:creationId xmlns:p14="http://schemas.microsoft.com/office/powerpoint/2010/main" val="37274346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ACFF-D4E3-50CB-B617-9AC8D302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BE3F-B391-2521-D1A6-FD6D6358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the Power-$600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D78C-E707-C04A-CAAB-B49154CA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 a situation where both parametric or non-parametric tests are valid, using this type of test with result in greater statistical power.</a:t>
            </a:r>
          </a:p>
        </p:txBody>
      </p:sp>
    </p:spTree>
    <p:extLst>
      <p:ext uri="{BB962C8B-B14F-4D97-AF65-F5344CB8AC3E}">
        <p14:creationId xmlns:p14="http://schemas.microsoft.com/office/powerpoint/2010/main" val="3518267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832C-AEFE-46B7-30CF-B92C9E6C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5D0-3358-09DC-9C06-35CCA53D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EE67-E5A4-AA7D-9F2C-C00D42DE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parametric test?</a:t>
            </a:r>
          </a:p>
        </p:txBody>
      </p:sp>
    </p:spTree>
    <p:extLst>
      <p:ext uri="{BB962C8B-B14F-4D97-AF65-F5344CB8AC3E}">
        <p14:creationId xmlns:p14="http://schemas.microsoft.com/office/powerpoint/2010/main" val="2988638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4CA5-B13B-828B-6C9C-D5439B11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5055-5687-7F50-D66A-F8A94517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the Power-$800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2B1B-90C7-E729-DFD9-CC4201F8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test will have greater statistical power than a sign test when the differences in medians are symmetrically distributed.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23777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94C1-3246-EAEE-782A-6733210B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F76A-D8C7-D2A1-06C6-3919F15A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2FC5-0290-D412-4494-63A0B06F4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Wilcoxon sign-rank test?</a:t>
            </a:r>
          </a:p>
        </p:txBody>
      </p:sp>
    </p:spTree>
    <p:extLst>
      <p:ext uri="{BB962C8B-B14F-4D97-AF65-F5344CB8AC3E}">
        <p14:creationId xmlns:p14="http://schemas.microsoft.com/office/powerpoint/2010/main" val="35823714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A3E-FEF9-E130-21AE-13CDAD4D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FDA-05D1-A194-8763-B66C1A0F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the Power-$1000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2089-506E-BA24-F704-C6966F8F6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400" dirty="0"/>
              <a:t>The following R function will solve for this variable:</a:t>
            </a:r>
          </a:p>
          <a:p>
            <a:pPr marL="0" indent="0">
              <a:buNone/>
            </a:pPr>
            <a:r>
              <a:rPr lang="en-US" sz="3600" dirty="0" err="1"/>
              <a:t>power.t.test</a:t>
            </a:r>
            <a:r>
              <a:rPr lang="en-US" sz="3600" dirty="0"/>
              <a:t>(n = 20,</a:t>
            </a:r>
          </a:p>
          <a:p>
            <a:pPr marL="0" indent="0">
              <a:buNone/>
            </a:pPr>
            <a:r>
              <a:rPr lang="en-US" sz="3600" dirty="0"/>
              <a:t>                          </a:t>
            </a:r>
            <a:r>
              <a:rPr lang="en-US" sz="3600" dirty="0" err="1"/>
              <a:t>sd</a:t>
            </a:r>
            <a:r>
              <a:rPr lang="en-US" sz="3600" dirty="0"/>
              <a:t> = 3,</a:t>
            </a:r>
          </a:p>
          <a:p>
            <a:pPr marL="0" indent="0">
              <a:buNone/>
            </a:pPr>
            <a:r>
              <a:rPr lang="en-US" sz="3600" dirty="0"/>
              <a:t>                          power = 0.80,</a:t>
            </a:r>
          </a:p>
          <a:p>
            <a:pPr marL="0" indent="0">
              <a:buNone/>
            </a:pPr>
            <a:r>
              <a:rPr lang="en-US" sz="3600" dirty="0"/>
              <a:t>                          </a:t>
            </a:r>
            <a:r>
              <a:rPr lang="en-US" sz="3600" dirty="0" err="1"/>
              <a:t>sig.level</a:t>
            </a:r>
            <a:r>
              <a:rPr lang="en-US" sz="3600" dirty="0"/>
              <a:t> = 0.05,</a:t>
            </a:r>
          </a:p>
          <a:p>
            <a:pPr marL="0" indent="0">
              <a:buNone/>
            </a:pPr>
            <a:r>
              <a:rPr lang="en-US" sz="3600" dirty="0"/>
              <a:t>		       type = “</a:t>
            </a:r>
            <a:r>
              <a:rPr lang="en-US" sz="3600" dirty="0" err="1"/>
              <a:t>one.sample</a:t>
            </a:r>
            <a:r>
              <a:rPr lang="en-US" sz="3600" dirty="0"/>
              <a:t>”)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14963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CE43-2615-4A67-3CFF-D511E168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E9B0-7522-A5E7-AAFF-C59C2D83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F860-183D-4072-AB53-655EC9012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effect size/delta?</a:t>
            </a:r>
          </a:p>
        </p:txBody>
      </p:sp>
    </p:spTree>
    <p:extLst>
      <p:ext uri="{BB962C8B-B14F-4D97-AF65-F5344CB8AC3E}">
        <p14:creationId xmlns:p14="http://schemas.microsoft.com/office/powerpoint/2010/main" val="26658243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413F-4556-7C71-1E86-3BA240B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3F01-972C-817A-90F1-5C52C9B2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B7959-9E90-C6D7-59CB-ABE2F77F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R package allows us to read and manipulate spatial data.</a:t>
            </a:r>
          </a:p>
        </p:txBody>
      </p:sp>
    </p:spTree>
    <p:extLst>
      <p:ext uri="{BB962C8B-B14F-4D97-AF65-F5344CB8AC3E}">
        <p14:creationId xmlns:p14="http://schemas.microsoft.com/office/powerpoint/2010/main" val="18585001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A2B3-A890-68E9-D14A-A13DD5A5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179B-20FD-FC8B-AE61-A9B203A7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560C-2663-C1BB-2A04-861444879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sf?</a:t>
            </a:r>
          </a:p>
        </p:txBody>
      </p:sp>
    </p:spTree>
    <p:extLst>
      <p:ext uri="{BB962C8B-B14F-4D97-AF65-F5344CB8AC3E}">
        <p14:creationId xmlns:p14="http://schemas.microsoft.com/office/powerpoint/2010/main" val="4211421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C53D-DF5B-DE77-8D44-A5CB1E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9A57-ECA9-04EE-A395-441BFA43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B0A4-E833-8901-7DFF-E34836301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theorem is the foundation for the construction of confidence intervals and hypothesis testing. </a:t>
            </a:r>
          </a:p>
        </p:txBody>
      </p:sp>
    </p:spTree>
    <p:extLst>
      <p:ext uri="{BB962C8B-B14F-4D97-AF65-F5344CB8AC3E}">
        <p14:creationId xmlns:p14="http://schemas.microsoft.com/office/powerpoint/2010/main" val="7659565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1C68-EA2E-4D88-5553-713B795C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E123-ABFF-E9EC-8310-20EBD5AF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F5BF8-64A1-F0FF-9E8A-BDFB13E26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Central Limit Theorem?</a:t>
            </a:r>
          </a:p>
        </p:txBody>
      </p:sp>
    </p:spTree>
    <p:extLst>
      <p:ext uri="{BB962C8B-B14F-4D97-AF65-F5344CB8AC3E}">
        <p14:creationId xmlns:p14="http://schemas.microsoft.com/office/powerpoint/2010/main" val="8897610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5D0C-8C7F-5BC0-0663-29E88ECE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07C5-F39B-C4BA-0AA8-FA0FF0E6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437C-8659-E29E-5B7F-DFE7CDBA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test allows you to calculate an exact p-value.</a:t>
            </a:r>
          </a:p>
        </p:txBody>
      </p:sp>
    </p:spTree>
    <p:extLst>
      <p:ext uri="{BB962C8B-B14F-4D97-AF65-F5344CB8AC3E}">
        <p14:creationId xmlns:p14="http://schemas.microsoft.com/office/powerpoint/2010/main" val="9824088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B5C3-6984-4D22-042F-26F25ECB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B296-A6DB-6C33-BD35-8DC59968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16C7-0ADB-05A5-C097-87CB45A0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Fisher’s exact test?</a:t>
            </a:r>
          </a:p>
        </p:txBody>
      </p:sp>
    </p:spTree>
    <p:extLst>
      <p:ext uri="{BB962C8B-B14F-4D97-AF65-F5344CB8AC3E}">
        <p14:creationId xmlns:p14="http://schemas.microsoft.com/office/powerpoint/2010/main" val="341918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5CFE-577F-2061-96AA-0B1CA218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EE0D-80EF-AAD8-EE2B-C48DC430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FCB8-FF77-DB60-5E6F-9D0BF282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term describes the practice of performing many tests in order to achieve a significant result</a:t>
            </a:r>
          </a:p>
        </p:txBody>
      </p:sp>
    </p:spTree>
    <p:extLst>
      <p:ext uri="{BB962C8B-B14F-4D97-AF65-F5344CB8AC3E}">
        <p14:creationId xmlns:p14="http://schemas.microsoft.com/office/powerpoint/2010/main" val="34244370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2283-DF92-EF71-D430-98C697C3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8B06-1DC5-DF9B-39F8-74A5485F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21E41-71B7-8CE3-D06A-75D55A1B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p-hacking?</a:t>
            </a:r>
          </a:p>
        </p:txBody>
      </p:sp>
    </p:spTree>
    <p:extLst>
      <p:ext uri="{BB962C8B-B14F-4D97-AF65-F5344CB8AC3E}">
        <p14:creationId xmlns:p14="http://schemas.microsoft.com/office/powerpoint/2010/main" val="4789709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467E-2441-6779-77F8-559FA096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4103-A36C-87D0-E31E-80142B55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9AFB-663C-8E3E-8B91-70A95A943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six-character string can be used to describe a color in R.</a:t>
            </a:r>
          </a:p>
        </p:txBody>
      </p:sp>
    </p:spTree>
    <p:extLst>
      <p:ext uri="{BB962C8B-B14F-4D97-AF65-F5344CB8AC3E}">
        <p14:creationId xmlns:p14="http://schemas.microsoft.com/office/powerpoint/2010/main" val="19814497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82A8-FB3B-E902-A3B0-9152DD18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01E1-651A-6853-F759-8C7D7EF7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183A7-90F7-4F12-257C-47DF4D2F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hex code?</a:t>
            </a:r>
          </a:p>
        </p:txBody>
      </p:sp>
    </p:spTree>
    <p:extLst>
      <p:ext uri="{BB962C8B-B14F-4D97-AF65-F5344CB8AC3E}">
        <p14:creationId xmlns:p14="http://schemas.microsoft.com/office/powerpoint/2010/main" val="6121635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ADB7-AC94-EC32-1E8B-2365916D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9217-20DB-695C-8645-157AB780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62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667F-E4FE-B985-EE5E-6D0113D6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 – 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1B992-4739-CBBA-7A5D-9B240FB2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359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BF47-04B4-17D9-0C0E-BDA1939D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BFCD-7593-DBBE-819B-B6466D02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Let’s say you are conducting a study on the effects of a new medication on platelet count as measured in a complete blood count. You have two groups, one of which receives a placebo and the other of which receives the new medication. Your null hypothesis is that the two groups will have equal mean platelet count; your alternative is that the two groups will have different mean platelet count. </a:t>
            </a:r>
          </a:p>
          <a:p>
            <a:pPr marL="0" indent="0">
              <a:buNone/>
            </a:pPr>
            <a:r>
              <a:rPr lang="en-US" sz="2400" dirty="0"/>
              <a:t>We will assume that the two groups have unequal variance, and the first few rows of your data table (named </a:t>
            </a:r>
            <a:r>
              <a:rPr lang="en-US" sz="2400" dirty="0" err="1"/>
              <a:t>study_results</a:t>
            </a:r>
            <a:r>
              <a:rPr lang="en-US" sz="2400" dirty="0"/>
              <a:t>) looks like this: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D26FD2-0AE4-D5BB-CDDB-14533701A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719625"/>
              </p:ext>
            </p:extLst>
          </p:nvPr>
        </p:nvGraphicFramePr>
        <p:xfrm>
          <a:off x="568960" y="4558666"/>
          <a:ext cx="40436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262997953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293070170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384909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Participant_id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platelet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94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49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593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A6B12D-BB8B-F6FF-41B6-459E59BD3FE0}"/>
              </a:ext>
            </a:extLst>
          </p:cNvPr>
          <p:cNvSpPr txBox="1"/>
          <p:nvPr/>
        </p:nvSpPr>
        <p:spPr>
          <a:xfrm>
            <a:off x="5130800" y="4654015"/>
            <a:ext cx="5354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would you enter in R to conduct a two-sample t-test for this study?</a:t>
            </a:r>
          </a:p>
          <a:p>
            <a:endParaRPr lang="en-US" sz="2000" dirty="0"/>
          </a:p>
          <a:p>
            <a:r>
              <a:rPr lang="en-US" sz="2000" dirty="0"/>
              <a:t>What is the precise definition of the p-value from your test in this scenario?</a:t>
            </a:r>
          </a:p>
        </p:txBody>
      </p:sp>
    </p:spTree>
    <p:extLst>
      <p:ext uri="{BB962C8B-B14F-4D97-AF65-F5344CB8AC3E}">
        <p14:creationId xmlns:p14="http://schemas.microsoft.com/office/powerpoint/2010/main" val="41837203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0427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409-5167-078C-F696-E4DA6861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95FA9-2E52-CDDF-1D0A-D4FB66B9B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7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6"/>
  <p:tag name="ORIGINALWIDTH" val=" 70"/>
  <p:tag name="OUTPUTTYPE" val="PNG"/>
  <p:tag name="IGUANATEXVERSION" val="162"/>
  <p:tag name="LATEXADDIN" val="\documentclass{article}&#10;\usepackage{amsmath}&#10;\pagestyle{empty}&#10;\begin{document}&#10;&#10;$\alpha$&#10;&#10;&#10;\end{document}"/>
  <p:tag name="IGUANATEXSIZE" val="20"/>
  <p:tag name="IGUANATEXCURSOR" val="89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"/>
  <p:tag name="ORIGINALWIDTH" val=" 276"/>
  <p:tag name="OUTPUTTYPE" val="PNG"/>
  <p:tag name="IGUANATEXVERSION" val="162"/>
  <p:tag name="LATEXADDIN" val="\documentclass{article}&#10;\usepackage{amsmath}&#10;\pagestyle{empty}&#10;\begin{document}&#10;&#10;&#10;$1-\beta$&#10;&#10;\end{document}"/>
  <p:tag name="IGUANATEXSIZE" val="20"/>
  <p:tag name="IGUANATEXCURSOR" val="91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1"/>
  <p:tag name="ORIGINALWIDTH" val=" 60"/>
  <p:tag name="OUTPUTTYPE" val="PNG"/>
  <p:tag name="IGUANATEXVERSION" val="162"/>
  <p:tag name="LATEXADDIN" val="\documentclass{article}&#10;\usepackage{amsmath}&#10;\pagestyle{empty}&#10;\begin{document}&#10;&#10;&#10;$\rho$&#10;&#10;\end{document}"/>
  <p:tag name="IGUANATEXSIZE" val="20"/>
  <p:tag name="IGUANATEXCURSOR" val="88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"/>
  <p:tag name="ORIGINALWIDTH" val=" 69"/>
  <p:tag name="OUTPUTTYPE" val="PNG"/>
  <p:tag name="IGUANATEXVERSION" val="162"/>
  <p:tag name="LATEXADDIN" val="\documentclass{article}&#10;\usepackage{amsmath}&#10;\pagestyle{empty}&#10;\begin{document}&#10;&#10;$\beta$&#10;&#10;&#10;\end{document}"/>
  <p:tag name="IGUANATEXSIZE" val="20"/>
  <p:tag name="IGUANATEXCURSOR" val="88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0"/>
  <p:tag name="ORIGINALWIDTH" val=" 51"/>
  <p:tag name="OUTPUTTYPE" val="PNG"/>
  <p:tag name="IGUANATEXVERSION" val="162"/>
  <p:tag name="LATEXADDIN" val="\documentclass{article}&#10;\usepackage{amsmath}&#10;\pagestyle{empty}&#10;\begin{document}&#10;&#10;&#10;$\delta$&#10;&#10;\end{document}"/>
  <p:tag name="IGUANATEXSIZE" val="20"/>
  <p:tag name="IGUANATEXCURSOR" val="90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1364</Words>
  <Application>Microsoft Macintosh PowerPoint</Application>
  <PresentationFormat>Widescreen</PresentationFormat>
  <Paragraphs>168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Aptos</vt:lpstr>
      <vt:lpstr>Aptos Display</vt:lpstr>
      <vt:lpstr>Arial</vt:lpstr>
      <vt:lpstr>Cambria Math</vt:lpstr>
      <vt:lpstr>Office Theme</vt:lpstr>
      <vt:lpstr>Exam 2 Review</vt:lpstr>
      <vt:lpstr>Announcements</vt:lpstr>
      <vt:lpstr>Exam Info</vt:lpstr>
      <vt:lpstr>Jeopardy game</vt:lpstr>
      <vt:lpstr>Set-up/Rules</vt:lpstr>
      <vt:lpstr>Set-up/Rules</vt:lpstr>
      <vt:lpstr>One Final Rule</vt:lpstr>
      <vt:lpstr>PowerPoint Presentation</vt:lpstr>
      <vt:lpstr>R Functions -$200</vt:lpstr>
      <vt:lpstr>PowerPoint Presentation</vt:lpstr>
      <vt:lpstr>R Functions -$400</vt:lpstr>
      <vt:lpstr>PowerPoint Presentation</vt:lpstr>
      <vt:lpstr>R Functions -$600</vt:lpstr>
      <vt:lpstr>PowerPoint Presentation</vt:lpstr>
      <vt:lpstr>R Functions -$800</vt:lpstr>
      <vt:lpstr>PowerPoint Presentation</vt:lpstr>
      <vt:lpstr>R Functions -$1000</vt:lpstr>
      <vt:lpstr>PowerPoint Presentation</vt:lpstr>
      <vt:lpstr>Test Statistics - $200</vt:lpstr>
      <vt:lpstr>PowerPoint Presentation</vt:lpstr>
      <vt:lpstr>Test statistics-$400</vt:lpstr>
      <vt:lpstr>PowerPoint Presentation</vt:lpstr>
      <vt:lpstr>Data Types -$600</vt:lpstr>
      <vt:lpstr>PowerPoint Presentation</vt:lpstr>
      <vt:lpstr>Test Statistics -$800</vt:lpstr>
      <vt:lpstr>PowerPoint Presentation</vt:lpstr>
      <vt:lpstr>Test Statistics-$1000</vt:lpstr>
      <vt:lpstr>PowerPoint Presentation</vt:lpstr>
      <vt:lpstr>Name That Test - $200</vt:lpstr>
      <vt:lpstr>PowerPoint Presentation</vt:lpstr>
      <vt:lpstr>Name That Test-$400</vt:lpstr>
      <vt:lpstr>PowerPoint Presentation</vt:lpstr>
      <vt:lpstr>Name That Test-$600</vt:lpstr>
      <vt:lpstr>PowerPoint Presentation</vt:lpstr>
      <vt:lpstr>Name That Test-$800</vt:lpstr>
      <vt:lpstr>PowerPoint Presentation</vt:lpstr>
      <vt:lpstr>Name That Test-$1000</vt:lpstr>
      <vt:lpstr>PowerPoint Presentation</vt:lpstr>
      <vt:lpstr>Going Greek-$200</vt:lpstr>
      <vt:lpstr>PowerPoint Presentation</vt:lpstr>
      <vt:lpstr>Going Greek-$400</vt:lpstr>
      <vt:lpstr>PowerPoint Presentation</vt:lpstr>
      <vt:lpstr>Going Greek-$600</vt:lpstr>
      <vt:lpstr>PowerPoint Presentation</vt:lpstr>
      <vt:lpstr>Going Greek-$800</vt:lpstr>
      <vt:lpstr>PowerPoint Presentation</vt:lpstr>
      <vt:lpstr>Going Greek-$1000</vt:lpstr>
      <vt:lpstr>PowerPoint Presentation</vt:lpstr>
      <vt:lpstr>We’ve Got the Power-$200</vt:lpstr>
      <vt:lpstr>PowerPoint Presentation</vt:lpstr>
      <vt:lpstr>We’ve Got the Power-$400</vt:lpstr>
      <vt:lpstr>PowerPoint Presentation</vt:lpstr>
      <vt:lpstr>We’ve Got the Power-$600</vt:lpstr>
      <vt:lpstr>PowerPoint Presentation</vt:lpstr>
      <vt:lpstr>We’ve Got the Power-$800</vt:lpstr>
      <vt:lpstr>PowerPoint Presentation</vt:lpstr>
      <vt:lpstr>We’ve Got the Power-$1000</vt:lpstr>
      <vt:lpstr>PowerPoint Presentation</vt:lpstr>
      <vt:lpstr>Miscellany-$200</vt:lpstr>
      <vt:lpstr>PowerPoint Presentation</vt:lpstr>
      <vt:lpstr>Miscellany-$400</vt:lpstr>
      <vt:lpstr>PowerPoint Presentation</vt:lpstr>
      <vt:lpstr>Miscellany-$600</vt:lpstr>
      <vt:lpstr>PowerPoint Presentation</vt:lpstr>
      <vt:lpstr>Miscellany-$800</vt:lpstr>
      <vt:lpstr>PowerPoint Presentation</vt:lpstr>
      <vt:lpstr>Miscellany-$1000</vt:lpstr>
      <vt:lpstr>PowerPoint Presentation</vt:lpstr>
      <vt:lpstr>PowerPoint Presentation</vt:lpstr>
      <vt:lpstr>Final Jeopardy – Hypothesis Testing</vt:lpstr>
      <vt:lpstr>Final Jeopardy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Hoch, Margaret</dc:creator>
  <cp:lastModifiedBy>Hoch, Margaret</cp:lastModifiedBy>
  <cp:revision>7</cp:revision>
  <dcterms:created xsi:type="dcterms:W3CDTF">2026-06-30T16:46:06Z</dcterms:created>
  <dcterms:modified xsi:type="dcterms:W3CDTF">2026-07-14T22:53:43Z</dcterms:modified>
</cp:coreProperties>
</file>