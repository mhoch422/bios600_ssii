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328" r:id="rId3"/>
    <p:sldId id="329" r:id="rId4"/>
    <p:sldId id="322" r:id="rId5"/>
    <p:sldId id="32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321" r:id="rId28"/>
    <p:sldId id="279" r:id="rId29"/>
    <p:sldId id="320" r:id="rId30"/>
    <p:sldId id="281" r:id="rId31"/>
    <p:sldId id="319" r:id="rId32"/>
    <p:sldId id="283" r:id="rId33"/>
    <p:sldId id="318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24" r:id="rId68"/>
    <p:sldId id="325" r:id="rId69"/>
    <p:sldId id="327" r:id="rId70"/>
    <p:sldId id="330" r:id="rId71"/>
    <p:sldId id="326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557"/>
  </p:normalViewPr>
  <p:slideViewPr>
    <p:cSldViewPr snapToGrid="0">
      <p:cViewPr varScale="1">
        <p:scale>
          <a:sx n="113" d="100"/>
          <a:sy n="113" d="100"/>
        </p:scale>
        <p:origin x="6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FAA7-23B9-2F9F-E75C-3784F8E92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94038-2C5D-FB20-0018-A3550AE1F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CC44F-0D84-9048-2212-6CD8AE6B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A2FC7-5DDF-7E4A-E1AF-81FDDC2D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023C9-9B6B-02C0-5202-DB771E2F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5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72FB-B0E6-B9F0-482F-596FC357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74E90-1849-996F-04C0-0E5477A0D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51509-17CE-9256-C78D-D634DE34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0CF97-9958-965F-ED37-70417464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96CDF-4832-6A8A-EBC8-B2C838A9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6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C431-DE96-F500-A7ED-7674714B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62B7C-D862-74A4-50A9-7C5BAA162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7A6FF-1B80-5566-E6EF-42121FD86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53D89-A129-0BDF-FEED-31EA3B98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59104-3DEE-10EC-D700-D10D807A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D02EF-EB88-E93A-261A-716BF8BA0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67EBA-56A8-3276-27EA-E696F9D5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C7BAD-E463-CBA0-3671-3DC82CE3D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B9103-27F9-BE94-8F47-BCEC2ED8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0866B-88DC-AADF-E045-90E0232D2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45D99-A353-56E8-7A1A-027435DB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8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AAD8-B3BF-6994-A4FE-C0679CCE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01764-F0CA-06B7-1341-4B46939EA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BBED4-6277-B4F8-50CF-2CDC827AC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167DE-7D5B-A79A-76E5-03BA39DB0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F319F8-52E1-6ACB-3F08-9B50B27BF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AA98F-84D8-0D75-4C99-1219F89E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D97B00-C99B-6F19-6F0E-C4372CFAB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27045-3E14-F664-2C8F-04AC6537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9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2696-B771-15EA-375F-8896B9A7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C4B4E-776B-59F7-56C6-198FC4C4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8AEDA-F763-E7E5-DB0E-7F5073983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FC923-1DBF-337F-3BAB-97CCD748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1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93321-F08F-395E-5029-7480FB5E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CBCE27-B656-0885-A7FF-D0F2F7F0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5B5F8-CD77-EDE3-B6FC-BE771537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9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F205-7F18-90E3-B23A-39B9ACE5A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9BC07-DEA9-C04D-827D-DF402CC0C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24582-CBF2-6845-E573-0E0B7143F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38EA5-DC33-6B00-D296-1AAF6448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1C506-CC16-1886-0B0A-0FAD7F24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2DC3A-970A-FF50-5F9B-03A58602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6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F4DB-C1BC-1F04-967C-7EA425805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EE98E-54E8-7AE2-3F1F-402EEA7EF8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A267F-6F8B-5246-E916-45E64D6E4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4EA9E-9A1D-2A9D-F4B6-449A90E45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CE87B-F2F5-280A-F98B-1861DB16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D7170-FCC0-2343-52BF-B813AF23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7734-CDBE-BDA1-3F8D-CA5A51482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7DD68-FB39-B2B8-6852-CB2234366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3267-BF48-EA25-0A96-B55C1762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A5A9A-7CC8-F366-7575-417ABE7F6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5EDE0-A280-2539-6D50-207F0A2B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91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C98546-49C5-47C6-324C-52118C881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CF669-21B7-492C-A871-986D89970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87408-691D-CB9C-A7CA-0DFD5756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14974-4C73-E67E-95E1-B8989EAB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B23BC-08D3-0FBB-00D5-4DF097F5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95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17CFA5-D897-6B60-F313-78D6AE2D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23953-6A8A-C585-888A-AD1BD7C05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B1225-F760-A6CC-0842-80A9A56D1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B8AC5-964B-8C48-8528-DE848C3F2F85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0E266-F3F7-7A2C-541C-3D93F0F95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4A1D8-A807-1496-45A1-54BD25BC8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B4642-4C44-7F44-80D9-88AEDC94B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8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59.xml"/><Relationship Id="rId18" Type="http://schemas.openxmlformats.org/officeDocument/2006/relationships/slide" Target="slide51.xml"/><Relationship Id="rId26" Type="http://schemas.openxmlformats.org/officeDocument/2006/relationships/slide" Target="slide15.xml"/><Relationship Id="rId3" Type="http://schemas.openxmlformats.org/officeDocument/2006/relationships/slide" Target="slide17.xml"/><Relationship Id="rId21" Type="http://schemas.openxmlformats.org/officeDocument/2006/relationships/slide" Target="slide23.xml"/><Relationship Id="rId7" Type="http://schemas.openxmlformats.org/officeDocument/2006/relationships/slide" Target="slide57.xml"/><Relationship Id="rId12" Type="http://schemas.openxmlformats.org/officeDocument/2006/relationships/slide" Target="slide49.xml"/><Relationship Id="rId17" Type="http://schemas.openxmlformats.org/officeDocument/2006/relationships/slide" Target="slide41.xml"/><Relationship Id="rId25" Type="http://schemas.openxmlformats.org/officeDocument/2006/relationships/slide" Target="slide63.xml"/><Relationship Id="rId2" Type="http://schemas.openxmlformats.org/officeDocument/2006/relationships/slide" Target="slide7.xml"/><Relationship Id="rId16" Type="http://schemas.openxmlformats.org/officeDocument/2006/relationships/slide" Target="slide31.xml"/><Relationship Id="rId20" Type="http://schemas.openxmlformats.org/officeDocument/2006/relationships/slide" Target="slide13.xml"/><Relationship Id="rId29" Type="http://schemas.openxmlformats.org/officeDocument/2006/relationships/slide" Target="slide5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7.xml"/><Relationship Id="rId11" Type="http://schemas.openxmlformats.org/officeDocument/2006/relationships/slide" Target="slide39.xml"/><Relationship Id="rId24" Type="http://schemas.openxmlformats.org/officeDocument/2006/relationships/slide" Target="slide53.xml"/><Relationship Id="rId5" Type="http://schemas.openxmlformats.org/officeDocument/2006/relationships/slide" Target="slide37.xml"/><Relationship Id="rId15" Type="http://schemas.openxmlformats.org/officeDocument/2006/relationships/slide" Target="slide21.xml"/><Relationship Id="rId23" Type="http://schemas.openxmlformats.org/officeDocument/2006/relationships/slide" Target="slide43.xml"/><Relationship Id="rId28" Type="http://schemas.openxmlformats.org/officeDocument/2006/relationships/slide" Target="slide45.xml"/><Relationship Id="rId10" Type="http://schemas.openxmlformats.org/officeDocument/2006/relationships/slide" Target="slide27.xml"/><Relationship Id="rId19" Type="http://schemas.openxmlformats.org/officeDocument/2006/relationships/slide" Target="slide61.xml"/><Relationship Id="rId4" Type="http://schemas.openxmlformats.org/officeDocument/2006/relationships/slide" Target="slide25.xml"/><Relationship Id="rId9" Type="http://schemas.openxmlformats.org/officeDocument/2006/relationships/slide" Target="slide19.xml"/><Relationship Id="rId14" Type="http://schemas.openxmlformats.org/officeDocument/2006/relationships/slide" Target="slide11.xml"/><Relationship Id="rId22" Type="http://schemas.openxmlformats.org/officeDocument/2006/relationships/slide" Target="slide33.xml"/><Relationship Id="rId27" Type="http://schemas.openxmlformats.org/officeDocument/2006/relationships/slide" Target="slide35.xml"/><Relationship Id="rId30" Type="http://schemas.openxmlformats.org/officeDocument/2006/relationships/slide" Target="slide6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1D14A-7041-9367-1C7A-EE533F0677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1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0C71E-BE3D-891A-E2C7-F5136CD846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BIOS 600 Summer Session II</a:t>
            </a:r>
          </a:p>
        </p:txBody>
      </p:sp>
    </p:spTree>
    <p:extLst>
      <p:ext uri="{BB962C8B-B14F-4D97-AF65-F5344CB8AC3E}">
        <p14:creationId xmlns:p14="http://schemas.microsoft.com/office/powerpoint/2010/main" val="138101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440D8-AB00-798E-35C5-803556A0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71404-C1A8-2E80-7CAE-9E92FDA38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Reminder that the exam is closed-note – all you need to bring is a pencil (or pen)!</a:t>
            </a:r>
          </a:p>
          <a:p>
            <a:r>
              <a:rPr lang="en-US" dirty="0"/>
              <a:t>There are three categories of question – code-based, applications, and theory</a:t>
            </a:r>
          </a:p>
          <a:p>
            <a:r>
              <a:rPr lang="en-US" dirty="0"/>
              <a:t>Questions will be a mix of multiple-choice, true/false, and open response</a:t>
            </a:r>
          </a:p>
          <a:p>
            <a:r>
              <a:rPr lang="en-US" dirty="0"/>
              <a:t>Questions follow formats like the review questions on Canvas</a:t>
            </a:r>
          </a:p>
        </p:txBody>
      </p:sp>
    </p:spTree>
    <p:extLst>
      <p:ext uri="{BB962C8B-B14F-4D97-AF65-F5344CB8AC3E}">
        <p14:creationId xmlns:p14="http://schemas.microsoft.com/office/powerpoint/2010/main" val="1925833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B164-459A-5845-CDA9-568B10BA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Jeopardy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C66AC-4172-2428-B08F-2744BD8F1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834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1C79-2784-73FA-4997-10942C454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Set-up/Rules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93DAF-69CD-CBAF-5D92-996CAE602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into three groups</a:t>
            </a:r>
          </a:p>
          <a:p>
            <a:r>
              <a:rPr lang="en-US" dirty="0"/>
              <a:t>Each group will work as a team to earn points, which are determined by the “worth” of the questions.</a:t>
            </a:r>
          </a:p>
          <a:p>
            <a:r>
              <a:rPr lang="en-US" dirty="0"/>
              <a:t>There are six categories, and each category has 5 questions with value ranging from $200 to $1000, with difficulty roughly aligned with the worth of the question.</a:t>
            </a:r>
          </a:p>
          <a:p>
            <a:r>
              <a:rPr lang="en-US" dirty="0"/>
              <a:t>If your group gets an answer correct, the worth of that question is added to your score; if you do not get the answer correct, it is subtracted from your score and the other teams will have the chance to answer it</a:t>
            </a:r>
          </a:p>
        </p:txBody>
      </p:sp>
    </p:spTree>
    <p:extLst>
      <p:ext uri="{BB962C8B-B14F-4D97-AF65-F5344CB8AC3E}">
        <p14:creationId xmlns:p14="http://schemas.microsoft.com/office/powerpoint/2010/main" val="228064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47013-C044-D839-DA78-C5CFAE3B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4977-0934-08BE-428B-E50B0733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Set-up/Rules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AA74A-FA3D-D255-A7D8-CDEF8F9F8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I’ll pick a group at random to start; they will pick a question off of the board (for example, “BIOS 600 fun facts for $400”)</a:t>
            </a:r>
          </a:p>
          <a:p>
            <a:r>
              <a:rPr lang="en-US" dirty="0"/>
              <a:t>Once the question is revealed, whichever group has someone raise their hand the fastest will then have 10 seconds to answer the question</a:t>
            </a:r>
          </a:p>
          <a:p>
            <a:r>
              <a:rPr lang="en-US" dirty="0"/>
              <a:t>Can answer in the form of a question or not, up to you</a:t>
            </a:r>
          </a:p>
          <a:p>
            <a:r>
              <a:rPr lang="en-US" dirty="0"/>
              <a:t>After we clear the first round, there will be a final jeopardy question, at which point your team can wager as many of your points as you want – if you get the question correct, that wager is added to your final score; if not, it is subtracted.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24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00000C-CC9A-CFE3-0968-DB8DC8CB1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634586"/>
              </p:ext>
            </p:extLst>
          </p:nvPr>
        </p:nvGraphicFramePr>
        <p:xfrm>
          <a:off x="1374423" y="434199"/>
          <a:ext cx="9443154" cy="5989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859">
                  <a:extLst>
                    <a:ext uri="{9D8B030D-6E8A-4147-A177-3AD203B41FA5}">
                      <a16:colId xmlns:a16="http://schemas.microsoft.com/office/drawing/2014/main" val="1761681897"/>
                    </a:ext>
                  </a:extLst>
                </a:gridCol>
                <a:gridCol w="1573859">
                  <a:extLst>
                    <a:ext uri="{9D8B030D-6E8A-4147-A177-3AD203B41FA5}">
                      <a16:colId xmlns:a16="http://schemas.microsoft.com/office/drawing/2014/main" val="688658007"/>
                    </a:ext>
                  </a:extLst>
                </a:gridCol>
                <a:gridCol w="1573859">
                  <a:extLst>
                    <a:ext uri="{9D8B030D-6E8A-4147-A177-3AD203B41FA5}">
                      <a16:colId xmlns:a16="http://schemas.microsoft.com/office/drawing/2014/main" val="2897676424"/>
                    </a:ext>
                  </a:extLst>
                </a:gridCol>
                <a:gridCol w="1573859">
                  <a:extLst>
                    <a:ext uri="{9D8B030D-6E8A-4147-A177-3AD203B41FA5}">
                      <a16:colId xmlns:a16="http://schemas.microsoft.com/office/drawing/2014/main" val="2972304504"/>
                    </a:ext>
                  </a:extLst>
                </a:gridCol>
                <a:gridCol w="1573859">
                  <a:extLst>
                    <a:ext uri="{9D8B030D-6E8A-4147-A177-3AD203B41FA5}">
                      <a16:colId xmlns:a16="http://schemas.microsoft.com/office/drawing/2014/main" val="336238556"/>
                    </a:ext>
                  </a:extLst>
                </a:gridCol>
                <a:gridCol w="1573859">
                  <a:extLst>
                    <a:ext uri="{9D8B030D-6E8A-4147-A177-3AD203B41FA5}">
                      <a16:colId xmlns:a16="http://schemas.microsoft.com/office/drawing/2014/main" val="2444483873"/>
                    </a:ext>
                  </a:extLst>
                </a:gridCol>
              </a:tblGrid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Tidyverse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Diagnostics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Distributions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Miscellany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4888788"/>
                  </a:ext>
                </a:extLst>
              </a:tr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3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4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5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6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7" action="ppaction://hlinksldjump"/>
                        </a:rPr>
                        <a:t>$200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45337"/>
                  </a:ext>
                </a:extLst>
              </a:tr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8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9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0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1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2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13" action="ppaction://hlinksldjump"/>
                        </a:rPr>
                        <a:t>$400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415403"/>
                  </a:ext>
                </a:extLst>
              </a:tr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4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5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6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7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8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19" action="ppaction://hlinksldjump"/>
                        </a:rPr>
                        <a:t>$600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830698"/>
                  </a:ext>
                </a:extLst>
              </a:tr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0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1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2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3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4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5" action="ppaction://hlinksldjump"/>
                        </a:rPr>
                        <a:t>$800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759389"/>
                  </a:ext>
                </a:extLst>
              </a:tr>
              <a:tr h="99826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6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4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7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8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9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30" action="ppaction://hlinksldjump"/>
                        </a:rPr>
                        <a:t>$1000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242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44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42D9-CB3D-39A1-A989-F8178DCC5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Tidyverse</a:t>
            </a:r>
            <a:r>
              <a:rPr lang="en-US" dirty="0"/>
              <a:t> 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EC007-38E3-C68B-8053-086252B8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</a:t>
            </a:r>
            <a:r>
              <a:rPr lang="en-US" sz="4400" dirty="0" err="1"/>
              <a:t>dplyr</a:t>
            </a:r>
            <a:r>
              <a:rPr lang="en-US" sz="4400" dirty="0"/>
              <a:t> function allows you to choose specific columns in a data frame.</a:t>
            </a:r>
          </a:p>
        </p:txBody>
      </p:sp>
    </p:spTree>
    <p:extLst>
      <p:ext uri="{BB962C8B-B14F-4D97-AF65-F5344CB8AC3E}">
        <p14:creationId xmlns:p14="http://schemas.microsoft.com/office/powerpoint/2010/main" val="3645156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D0B6F-51A1-0511-0E27-F06942A3E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AEAA-4681-C74B-8214-02F118E0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A39D1-B7ED-B7FE-30F8-F246D763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select()?</a:t>
            </a:r>
          </a:p>
        </p:txBody>
      </p:sp>
    </p:spTree>
    <p:extLst>
      <p:ext uri="{BB962C8B-B14F-4D97-AF65-F5344CB8AC3E}">
        <p14:creationId xmlns:p14="http://schemas.microsoft.com/office/powerpoint/2010/main" val="1893961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3456F-FB12-115F-EAF6-07348C7BA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82A8-0081-C10B-06DB-4BD1A642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Tidyverse</a:t>
            </a:r>
            <a:r>
              <a:rPr lang="en-US" dirty="0"/>
              <a:t> 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CC16A-17D1-0081-7328-DE506E669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</a:t>
            </a:r>
            <a:r>
              <a:rPr lang="en-US" sz="4400" dirty="0" err="1"/>
              <a:t>ggplot</a:t>
            </a:r>
            <a:r>
              <a:rPr lang="en-US" sz="4400" dirty="0"/>
              <a:t> geometry will produce a scatterplot.</a:t>
            </a:r>
          </a:p>
        </p:txBody>
      </p:sp>
    </p:spTree>
    <p:extLst>
      <p:ext uri="{BB962C8B-B14F-4D97-AF65-F5344CB8AC3E}">
        <p14:creationId xmlns:p14="http://schemas.microsoft.com/office/powerpoint/2010/main" val="2788138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FBE7-4413-8D7C-8144-83928118A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1826-4D00-AF86-A87C-09F4EEF5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FD91E-78B2-1B9C-01D9-07D626AF4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</a:t>
            </a:r>
            <a:r>
              <a:rPr lang="en-US" sz="4400" b="1" dirty="0" err="1"/>
              <a:t>geom_point</a:t>
            </a:r>
            <a:r>
              <a:rPr lang="en-US" sz="4400" b="1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2296823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6FD02-5E46-7611-EBC9-E367EA8F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341E-00B8-32C1-1E06-CF70C7CFC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Tidyverse</a:t>
            </a:r>
            <a:r>
              <a:rPr lang="en-US" dirty="0"/>
              <a:t> 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94301-221B-5CDE-224C-659F8521C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symbol is used to designate the output of one line of code as the input to the next line in </a:t>
            </a:r>
            <a:r>
              <a:rPr lang="en-US" sz="4400" dirty="0" err="1"/>
              <a:t>dplyr</a:t>
            </a:r>
            <a:r>
              <a:rPr lang="en-US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6291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2BCA-C41B-40B6-BF45-BB330DD5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1278-D9AE-4959-93C6-FC7C30756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BCD44-143F-9135-263A-733C0479A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pipe (or |&gt; or %&gt;%)?</a:t>
            </a:r>
          </a:p>
        </p:txBody>
      </p:sp>
    </p:spTree>
    <p:extLst>
      <p:ext uri="{BB962C8B-B14F-4D97-AF65-F5344CB8AC3E}">
        <p14:creationId xmlns:p14="http://schemas.microsoft.com/office/powerpoint/2010/main" val="4223004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70ACD-C920-44B9-3ED1-D0D6F2C9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04FA-B773-B0FC-0D44-7849B82C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Tidyverse</a:t>
            </a:r>
            <a:r>
              <a:rPr lang="en-US" dirty="0"/>
              <a:t> 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ECE1-381A-A344-A097-41F8F7979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logical operator is used to assess if two variables are exactly equal.</a:t>
            </a:r>
          </a:p>
        </p:txBody>
      </p:sp>
    </p:spTree>
    <p:extLst>
      <p:ext uri="{BB962C8B-B14F-4D97-AF65-F5344CB8AC3E}">
        <p14:creationId xmlns:p14="http://schemas.microsoft.com/office/powerpoint/2010/main" val="2123309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29DCF-FCEF-AE0D-CE9D-D04523C2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B914-FA6C-F5D0-E76C-FF366DB0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CC7C7-EE14-2CC2-4DDD-B8C7A754F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==?</a:t>
            </a:r>
          </a:p>
        </p:txBody>
      </p:sp>
    </p:spTree>
    <p:extLst>
      <p:ext uri="{BB962C8B-B14F-4D97-AF65-F5344CB8AC3E}">
        <p14:creationId xmlns:p14="http://schemas.microsoft.com/office/powerpoint/2010/main" val="2973562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AFB3-3413-2CD6-CB9F-23E78703F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8D4D-86A7-8B0E-D974-83D7CCF3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Tidyverse</a:t>
            </a:r>
            <a:r>
              <a:rPr lang="en-US" dirty="0"/>
              <a:t> 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326B8-ACF0-7396-F858-287AF940B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parameter of the </a:t>
            </a:r>
            <a:r>
              <a:rPr lang="en-US" sz="4400" dirty="0" err="1"/>
              <a:t>ggplot</a:t>
            </a:r>
            <a:r>
              <a:rPr lang="en-US" sz="4400" dirty="0"/>
              <a:t>() function can be used to tell R what variable(s) corresponds to the x axis or the color of the plot, among other things.</a:t>
            </a:r>
          </a:p>
        </p:txBody>
      </p:sp>
    </p:spTree>
    <p:extLst>
      <p:ext uri="{BB962C8B-B14F-4D97-AF65-F5344CB8AC3E}">
        <p14:creationId xmlns:p14="http://schemas.microsoft.com/office/powerpoint/2010/main" val="2681867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34EC-275C-9B1A-B8EF-AA18C2305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4623-E6D3-C21B-C613-5E96AE97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B12E8-FD32-E242-C48F-7E2DF1A6A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</a:t>
            </a:r>
            <a:r>
              <a:rPr lang="en-US" sz="4400" b="1" dirty="0" err="1"/>
              <a:t>aes</a:t>
            </a:r>
            <a:r>
              <a:rPr lang="en-US" sz="4400" b="1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2932838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5634-1B14-DBD2-42B4-709F60E2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2F9C-1D5B-1663-B171-CDB42453A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8520-8944-6973-C0BA-55E643396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One example of this data type is binary data.</a:t>
            </a:r>
          </a:p>
        </p:txBody>
      </p:sp>
    </p:spTree>
    <p:extLst>
      <p:ext uri="{BB962C8B-B14F-4D97-AF65-F5344CB8AC3E}">
        <p14:creationId xmlns:p14="http://schemas.microsoft.com/office/powerpoint/2010/main" val="3220031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3E84-0CD3-9E75-BF71-E1D4589E8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045B-5173-6CB6-6AD8-C24E1BB0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AE1EC-74AF-0E40-2B50-02AD1973D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categorical nominal?</a:t>
            </a:r>
          </a:p>
        </p:txBody>
      </p:sp>
    </p:spTree>
    <p:extLst>
      <p:ext uri="{BB962C8B-B14F-4D97-AF65-F5344CB8AC3E}">
        <p14:creationId xmlns:p14="http://schemas.microsoft.com/office/powerpoint/2010/main" val="57312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6435-CAFB-91CF-30BB-9AF2E4C1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6DDF-FD68-7488-5827-DDFE4E68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C961C-6862-513E-428C-697F5CD4F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visualization is used to show the frequency distribution for numerical data.</a:t>
            </a:r>
          </a:p>
        </p:txBody>
      </p:sp>
    </p:spTree>
    <p:extLst>
      <p:ext uri="{BB962C8B-B14F-4D97-AF65-F5344CB8AC3E}">
        <p14:creationId xmlns:p14="http://schemas.microsoft.com/office/powerpoint/2010/main" val="1304940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EACD5-0B54-2AA5-4F1F-B30A180F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D509-D6CD-6201-E530-FFA93AFE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0DFAA-B8CB-04C6-339E-06AB5283D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histogram?</a:t>
            </a:r>
          </a:p>
        </p:txBody>
      </p:sp>
    </p:spTree>
    <p:extLst>
      <p:ext uri="{BB962C8B-B14F-4D97-AF65-F5344CB8AC3E}">
        <p14:creationId xmlns:p14="http://schemas.microsoft.com/office/powerpoint/2010/main" val="1347247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DFDD-7EE2-E885-2DE8-B0812533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8E1D-9139-1216-1374-D7F59C0B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19B9-FD37-DEB9-D90B-00B8A087A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Examples of this data type include age, calories consumed, and height.</a:t>
            </a:r>
          </a:p>
        </p:txBody>
      </p:sp>
    </p:spTree>
    <p:extLst>
      <p:ext uri="{BB962C8B-B14F-4D97-AF65-F5344CB8AC3E}">
        <p14:creationId xmlns:p14="http://schemas.microsoft.com/office/powerpoint/2010/main" val="3972635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4325-762E-5680-057B-4EEC43D4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38917-7106-4549-1CBF-F0BEC8689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DC79-B92D-67C3-0968-613780804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numerical continuous?</a:t>
            </a:r>
          </a:p>
        </p:txBody>
      </p:sp>
    </p:spTree>
    <p:extLst>
      <p:ext uri="{BB962C8B-B14F-4D97-AF65-F5344CB8AC3E}">
        <p14:creationId xmlns:p14="http://schemas.microsoft.com/office/powerpoint/2010/main" val="4168935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36CE-8BE4-1D09-9A6F-9F169D45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BAC77-DB81-9758-D0F9-1D55E012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52AB6-4CF5-84E5-5679-7CC8467BC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is a summary statistic for numerical data which describes the most frequent value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3729647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17F4-FCEF-4471-3326-79757DB03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A97D1-F2C5-2D97-4CA3-0ACDCA75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03830-7389-4FE3-4AAE-731D16D8F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mode?</a:t>
            </a:r>
          </a:p>
        </p:txBody>
      </p:sp>
    </p:spTree>
    <p:extLst>
      <p:ext uri="{BB962C8B-B14F-4D97-AF65-F5344CB8AC3E}">
        <p14:creationId xmlns:p14="http://schemas.microsoft.com/office/powerpoint/2010/main" val="80678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3600-9F53-25AA-BCD1-424BF02C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A6E3-14BC-0732-3594-438F6392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48C2-5CBC-5B59-8A88-A4EE2ECCF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An example of this data type is the “often, sometimes, rarely, never” scale.</a:t>
            </a:r>
          </a:p>
        </p:txBody>
      </p:sp>
    </p:spTree>
    <p:extLst>
      <p:ext uri="{BB962C8B-B14F-4D97-AF65-F5344CB8AC3E}">
        <p14:creationId xmlns:p14="http://schemas.microsoft.com/office/powerpoint/2010/main" val="1833064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D439-801D-8B46-8C15-1E6350BC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17AC-2C71-34DC-9203-55FE5F5F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EDB62-06FF-ED0B-4EFE-AF4A60977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categorical ordinal?</a:t>
            </a:r>
          </a:p>
        </p:txBody>
      </p:sp>
    </p:spTree>
    <p:extLst>
      <p:ext uri="{BB962C8B-B14F-4D97-AF65-F5344CB8AC3E}">
        <p14:creationId xmlns:p14="http://schemas.microsoft.com/office/powerpoint/2010/main" val="1279273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DBCD2-33FC-8940-56E0-CE218E25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F00B-054A-2ACD-C724-A57883CB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Diagnostics-$200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43E222-ECD4-055A-1AA9-12E8C3776F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7474"/>
          <a:ext cx="3896360" cy="192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717">
                  <a:extLst>
                    <a:ext uri="{9D8B030D-6E8A-4147-A177-3AD203B41FA5}">
                      <a16:colId xmlns:a16="http://schemas.microsoft.com/office/drawing/2014/main" val="3023708258"/>
                    </a:ext>
                  </a:extLst>
                </a:gridCol>
                <a:gridCol w="895334">
                  <a:extLst>
                    <a:ext uri="{9D8B030D-6E8A-4147-A177-3AD203B41FA5}">
                      <a16:colId xmlns:a16="http://schemas.microsoft.com/office/drawing/2014/main" val="2137269984"/>
                    </a:ext>
                  </a:extLst>
                </a:gridCol>
                <a:gridCol w="1016922">
                  <a:extLst>
                    <a:ext uri="{9D8B030D-6E8A-4147-A177-3AD203B41FA5}">
                      <a16:colId xmlns:a16="http://schemas.microsoft.com/office/drawing/2014/main" val="3194795100"/>
                    </a:ext>
                  </a:extLst>
                </a:gridCol>
                <a:gridCol w="906387">
                  <a:extLst>
                    <a:ext uri="{9D8B030D-6E8A-4147-A177-3AD203B41FA5}">
                      <a16:colId xmlns:a16="http://schemas.microsoft.com/office/drawing/2014/main" val="840720929"/>
                    </a:ext>
                  </a:extLst>
                </a:gridCol>
              </a:tblGrid>
              <a:tr h="479326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Flu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Flu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02969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Test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1083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Test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069896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3164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19E6CB-8874-2AC9-D05D-249A96A28A14}"/>
                  </a:ext>
                </a:extLst>
              </p:cNvPr>
              <p:cNvSpPr txBox="1"/>
              <p:nvPr/>
            </p:nvSpPr>
            <p:spPr>
              <a:xfrm>
                <a:off x="6096000" y="3002586"/>
                <a:ext cx="2692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5%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19E6CB-8874-2AC9-D05D-249A96A28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02586"/>
                <a:ext cx="2692400" cy="646331"/>
              </a:xfrm>
              <a:prstGeom prst="rect">
                <a:avLst/>
              </a:prstGeom>
              <a:blipFill>
                <a:blip r:embed="rId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326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853E-C150-C41F-0EF2-69DE0766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1F6C-ED52-1EE8-2C02-B4D4C5D77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DDF78-5DBF-742E-FB31-97F2C280A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prevalence?</a:t>
            </a:r>
          </a:p>
        </p:txBody>
      </p:sp>
    </p:spTree>
    <p:extLst>
      <p:ext uri="{BB962C8B-B14F-4D97-AF65-F5344CB8AC3E}">
        <p14:creationId xmlns:p14="http://schemas.microsoft.com/office/powerpoint/2010/main" val="41812159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1A8E-3BBB-822D-92D2-4F0F3DD5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73FBE-126D-C803-5175-6B170B28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Diagnostics-$400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3F6911-99F2-033C-1F3E-4C1A3ED00E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7474"/>
          <a:ext cx="3896360" cy="192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717">
                  <a:extLst>
                    <a:ext uri="{9D8B030D-6E8A-4147-A177-3AD203B41FA5}">
                      <a16:colId xmlns:a16="http://schemas.microsoft.com/office/drawing/2014/main" val="3023708258"/>
                    </a:ext>
                  </a:extLst>
                </a:gridCol>
                <a:gridCol w="895334">
                  <a:extLst>
                    <a:ext uri="{9D8B030D-6E8A-4147-A177-3AD203B41FA5}">
                      <a16:colId xmlns:a16="http://schemas.microsoft.com/office/drawing/2014/main" val="2137269984"/>
                    </a:ext>
                  </a:extLst>
                </a:gridCol>
                <a:gridCol w="1016922">
                  <a:extLst>
                    <a:ext uri="{9D8B030D-6E8A-4147-A177-3AD203B41FA5}">
                      <a16:colId xmlns:a16="http://schemas.microsoft.com/office/drawing/2014/main" val="3194795100"/>
                    </a:ext>
                  </a:extLst>
                </a:gridCol>
                <a:gridCol w="906387">
                  <a:extLst>
                    <a:ext uri="{9D8B030D-6E8A-4147-A177-3AD203B41FA5}">
                      <a16:colId xmlns:a16="http://schemas.microsoft.com/office/drawing/2014/main" val="840720929"/>
                    </a:ext>
                  </a:extLst>
                </a:gridCol>
              </a:tblGrid>
              <a:tr h="479326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Flu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Flu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02969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Test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1083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Test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069896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3164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C34C44-21BC-52AD-2AA0-0706ABC05EB5}"/>
                  </a:ext>
                </a:extLst>
              </p:cNvPr>
              <p:cNvSpPr txBox="1"/>
              <p:nvPr/>
            </p:nvSpPr>
            <p:spPr>
              <a:xfrm>
                <a:off x="6096000" y="3002586"/>
                <a:ext cx="2692400" cy="11443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65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68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C34C44-21BC-52AD-2AA0-0706ABC05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02586"/>
                <a:ext cx="2692400" cy="1144352"/>
              </a:xfrm>
              <a:prstGeom prst="rect">
                <a:avLst/>
              </a:prstGeom>
              <a:blipFill>
                <a:blip r:embed="rId2"/>
                <a:stretch>
                  <a:fillRect b="-8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2647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E934-6879-1167-85B2-34DEF107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C57F-E945-972F-F468-725AA155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4910-6C56-B599-3126-A6FF3ED0B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negative predictive value?</a:t>
            </a:r>
          </a:p>
        </p:txBody>
      </p:sp>
    </p:spTree>
    <p:extLst>
      <p:ext uri="{BB962C8B-B14F-4D97-AF65-F5344CB8AC3E}">
        <p14:creationId xmlns:p14="http://schemas.microsoft.com/office/powerpoint/2010/main" val="1334749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CB01-AA8F-46C4-CA33-08725A89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EC14-7698-4ED0-43D7-C1C18059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Diagnostics-$600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7D26DF-AAA1-6F2F-AC40-9CD6F1550C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7474"/>
          <a:ext cx="3896360" cy="192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717">
                  <a:extLst>
                    <a:ext uri="{9D8B030D-6E8A-4147-A177-3AD203B41FA5}">
                      <a16:colId xmlns:a16="http://schemas.microsoft.com/office/drawing/2014/main" val="3023708258"/>
                    </a:ext>
                  </a:extLst>
                </a:gridCol>
                <a:gridCol w="895334">
                  <a:extLst>
                    <a:ext uri="{9D8B030D-6E8A-4147-A177-3AD203B41FA5}">
                      <a16:colId xmlns:a16="http://schemas.microsoft.com/office/drawing/2014/main" val="2137269984"/>
                    </a:ext>
                  </a:extLst>
                </a:gridCol>
                <a:gridCol w="1016922">
                  <a:extLst>
                    <a:ext uri="{9D8B030D-6E8A-4147-A177-3AD203B41FA5}">
                      <a16:colId xmlns:a16="http://schemas.microsoft.com/office/drawing/2014/main" val="3194795100"/>
                    </a:ext>
                  </a:extLst>
                </a:gridCol>
                <a:gridCol w="906387">
                  <a:extLst>
                    <a:ext uri="{9D8B030D-6E8A-4147-A177-3AD203B41FA5}">
                      <a16:colId xmlns:a16="http://schemas.microsoft.com/office/drawing/2014/main" val="840720929"/>
                    </a:ext>
                  </a:extLst>
                </a:gridCol>
              </a:tblGrid>
              <a:tr h="479326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Flu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Flu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02969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Test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1083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Test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069896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3164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6BC301-F441-DDC7-AF27-A9C09DBA605B}"/>
                  </a:ext>
                </a:extLst>
              </p:cNvPr>
              <p:cNvSpPr txBox="1"/>
              <p:nvPr/>
            </p:nvSpPr>
            <p:spPr>
              <a:xfrm>
                <a:off x="6096000" y="3002586"/>
                <a:ext cx="2692400" cy="1133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6BC301-F441-DDC7-AF27-A9C09DBA6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02586"/>
                <a:ext cx="2692400" cy="1133067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614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39260-AC1A-1229-6D34-18452560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2A2D-077E-C312-7DEE-02F5E608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5BF05-C8C5-4A38-443B-33869769B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sensitivity?</a:t>
            </a:r>
          </a:p>
        </p:txBody>
      </p:sp>
    </p:spTree>
    <p:extLst>
      <p:ext uri="{BB962C8B-B14F-4D97-AF65-F5344CB8AC3E}">
        <p14:creationId xmlns:p14="http://schemas.microsoft.com/office/powerpoint/2010/main" val="28941348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77D1-2F7C-3612-C301-643F78C8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34EB-584E-501E-E536-141ECD88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Diagnostics-$800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A215A2-5BFC-C5DB-27FA-74308A6A80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7474"/>
          <a:ext cx="3896360" cy="192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717">
                  <a:extLst>
                    <a:ext uri="{9D8B030D-6E8A-4147-A177-3AD203B41FA5}">
                      <a16:colId xmlns:a16="http://schemas.microsoft.com/office/drawing/2014/main" val="3023708258"/>
                    </a:ext>
                  </a:extLst>
                </a:gridCol>
                <a:gridCol w="895334">
                  <a:extLst>
                    <a:ext uri="{9D8B030D-6E8A-4147-A177-3AD203B41FA5}">
                      <a16:colId xmlns:a16="http://schemas.microsoft.com/office/drawing/2014/main" val="2137269984"/>
                    </a:ext>
                  </a:extLst>
                </a:gridCol>
                <a:gridCol w="1016922">
                  <a:extLst>
                    <a:ext uri="{9D8B030D-6E8A-4147-A177-3AD203B41FA5}">
                      <a16:colId xmlns:a16="http://schemas.microsoft.com/office/drawing/2014/main" val="3194795100"/>
                    </a:ext>
                  </a:extLst>
                </a:gridCol>
                <a:gridCol w="906387">
                  <a:extLst>
                    <a:ext uri="{9D8B030D-6E8A-4147-A177-3AD203B41FA5}">
                      <a16:colId xmlns:a16="http://schemas.microsoft.com/office/drawing/2014/main" val="840720929"/>
                    </a:ext>
                  </a:extLst>
                </a:gridCol>
              </a:tblGrid>
              <a:tr h="479326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Flu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Flu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02969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Test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1083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Test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069896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3164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C0138D-9228-9C1A-DF3F-9549B470421F}"/>
                  </a:ext>
                </a:extLst>
              </p:cNvPr>
              <p:cNvSpPr txBox="1"/>
              <p:nvPr/>
            </p:nvSpPr>
            <p:spPr>
              <a:xfrm>
                <a:off x="6096000" y="3002586"/>
                <a:ext cx="2692400" cy="1133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C0138D-9228-9C1A-DF3F-9549B4704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02586"/>
                <a:ext cx="2692400" cy="1133067"/>
              </a:xfrm>
              <a:prstGeom prst="rect">
                <a:avLst/>
              </a:prstGeom>
              <a:blipFill>
                <a:blip r:embed="rId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847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50F7-D2E8-80C5-3B98-A5CD30DC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91EA-647F-13F5-E83D-BC80A398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F70A-8C7C-5826-78F1-651150EC8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positive predictive value?</a:t>
            </a:r>
          </a:p>
        </p:txBody>
      </p:sp>
    </p:spTree>
    <p:extLst>
      <p:ext uri="{BB962C8B-B14F-4D97-AF65-F5344CB8AC3E}">
        <p14:creationId xmlns:p14="http://schemas.microsoft.com/office/powerpoint/2010/main" val="27578090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C147-6162-9057-F963-37FB5D77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AD58-BC10-91E5-A6E4-E7686B51A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Diagnostics-$1000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1F5369-FD8F-64E0-7C84-697F595A9D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979658"/>
              </p:ext>
            </p:extLst>
          </p:nvPr>
        </p:nvGraphicFramePr>
        <p:xfrm>
          <a:off x="838200" y="1857474"/>
          <a:ext cx="3896360" cy="192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717">
                  <a:extLst>
                    <a:ext uri="{9D8B030D-6E8A-4147-A177-3AD203B41FA5}">
                      <a16:colId xmlns:a16="http://schemas.microsoft.com/office/drawing/2014/main" val="3023708258"/>
                    </a:ext>
                  </a:extLst>
                </a:gridCol>
                <a:gridCol w="895334">
                  <a:extLst>
                    <a:ext uri="{9D8B030D-6E8A-4147-A177-3AD203B41FA5}">
                      <a16:colId xmlns:a16="http://schemas.microsoft.com/office/drawing/2014/main" val="2137269984"/>
                    </a:ext>
                  </a:extLst>
                </a:gridCol>
                <a:gridCol w="1016922">
                  <a:extLst>
                    <a:ext uri="{9D8B030D-6E8A-4147-A177-3AD203B41FA5}">
                      <a16:colId xmlns:a16="http://schemas.microsoft.com/office/drawing/2014/main" val="3194795100"/>
                    </a:ext>
                  </a:extLst>
                </a:gridCol>
                <a:gridCol w="906387">
                  <a:extLst>
                    <a:ext uri="{9D8B030D-6E8A-4147-A177-3AD203B41FA5}">
                      <a16:colId xmlns:a16="http://schemas.microsoft.com/office/drawing/2014/main" val="840720929"/>
                    </a:ext>
                  </a:extLst>
                </a:gridCol>
              </a:tblGrid>
              <a:tr h="479326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Flu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Flu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02969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Test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1083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Test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069896"/>
                  </a:ext>
                </a:extLst>
              </a:tr>
              <a:tr h="481256"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3164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59F72B-80B7-B504-21A2-B21B2157FE35}"/>
                  </a:ext>
                </a:extLst>
              </p:cNvPr>
              <p:cNvSpPr txBox="1"/>
              <p:nvPr/>
            </p:nvSpPr>
            <p:spPr>
              <a:xfrm>
                <a:off x="6096000" y="3002586"/>
                <a:ext cx="2692400" cy="1133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59F72B-80B7-B504-21A2-B21B2157F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02586"/>
                <a:ext cx="2692400" cy="1133067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847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2B30-D365-AE19-2E4F-58FD0242A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C8AC-8B8B-3525-FA1A-4983F29C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2C902-301A-1E8B-A6B5-08CB471AE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false positive rate?</a:t>
            </a:r>
          </a:p>
        </p:txBody>
      </p:sp>
    </p:spTree>
    <p:extLst>
      <p:ext uri="{BB962C8B-B14F-4D97-AF65-F5344CB8AC3E}">
        <p14:creationId xmlns:p14="http://schemas.microsoft.com/office/powerpoint/2010/main" val="3582923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1774-A817-04C4-2EE9-61EF46844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A7BE-C539-6EF5-24E9-BB86AC91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531FA-975F-1153-0A5B-5D47E15E7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distribution is used to model the number of successes in a finite series of Bernoulli trials.</a:t>
            </a:r>
          </a:p>
        </p:txBody>
      </p:sp>
    </p:spTree>
    <p:extLst>
      <p:ext uri="{BB962C8B-B14F-4D97-AF65-F5344CB8AC3E}">
        <p14:creationId xmlns:p14="http://schemas.microsoft.com/office/powerpoint/2010/main" val="28914684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F14C6-DFFE-6843-ED20-C64426BB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C605-B8CB-0297-A6E7-31CA93DF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B4555-CC47-9A7C-88F4-66A9562BE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binomial distribution?</a:t>
            </a:r>
          </a:p>
        </p:txBody>
      </p:sp>
    </p:spTree>
    <p:extLst>
      <p:ext uri="{BB962C8B-B14F-4D97-AF65-F5344CB8AC3E}">
        <p14:creationId xmlns:p14="http://schemas.microsoft.com/office/powerpoint/2010/main" val="19205834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FFC7-7882-6B2F-4650-EADD1ADCD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232F-BD86-4140-5A5A-643891C1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6FF99-953F-FF7D-AD9D-292700D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distribution has equal expectation and variance.</a:t>
            </a:r>
          </a:p>
        </p:txBody>
      </p:sp>
    </p:spTree>
    <p:extLst>
      <p:ext uri="{BB962C8B-B14F-4D97-AF65-F5344CB8AC3E}">
        <p14:creationId xmlns:p14="http://schemas.microsoft.com/office/powerpoint/2010/main" val="7968402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1F7CB-09E2-11D3-B16E-0A14F034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E06F-FF34-9B8B-D803-0C19F798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0155B-6227-81E3-4290-48E770F5C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Poisson?</a:t>
            </a:r>
          </a:p>
        </p:txBody>
      </p:sp>
    </p:spTree>
    <p:extLst>
      <p:ext uri="{BB962C8B-B14F-4D97-AF65-F5344CB8AC3E}">
        <p14:creationId xmlns:p14="http://schemas.microsoft.com/office/powerpoint/2010/main" val="27462290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44867-A304-46CD-F996-C8B7CAD9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A1E5-F2E4-25C6-AFA4-DA9971B3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0C51D-14CE-BC53-949C-F6658F7E7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Increasing the value of this parameter for the normal distribution will make is probability density function shorter and wider.</a:t>
            </a:r>
          </a:p>
        </p:txBody>
      </p:sp>
    </p:spTree>
    <p:extLst>
      <p:ext uri="{BB962C8B-B14F-4D97-AF65-F5344CB8AC3E}">
        <p14:creationId xmlns:p14="http://schemas.microsoft.com/office/powerpoint/2010/main" val="16454272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4886-CD1D-1F23-2AF5-509D84EF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58BB-01E7-3224-3C82-A48749F7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DDE5-0056-D492-83AE-2360AC220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variance?</a:t>
            </a:r>
          </a:p>
        </p:txBody>
      </p:sp>
    </p:spTree>
    <p:extLst>
      <p:ext uri="{BB962C8B-B14F-4D97-AF65-F5344CB8AC3E}">
        <p14:creationId xmlns:p14="http://schemas.microsoft.com/office/powerpoint/2010/main" val="38945173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B4556-39C9-1681-6E72-441CBB55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831B-9789-EA75-F28B-03BB3BEC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0E2C5-31C9-B404-6667-721F7D22B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quantity can be used to compare values from different normal distributions.</a:t>
            </a:r>
          </a:p>
        </p:txBody>
      </p:sp>
    </p:spTree>
    <p:extLst>
      <p:ext uri="{BB962C8B-B14F-4D97-AF65-F5344CB8AC3E}">
        <p14:creationId xmlns:p14="http://schemas.microsoft.com/office/powerpoint/2010/main" val="4003694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F47A-5538-6942-DBBA-BD3B63179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777E-7398-C240-8397-07637BE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EB08B-1085-E979-9AF6-12DF5B927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z-score?</a:t>
            </a:r>
          </a:p>
        </p:txBody>
      </p:sp>
    </p:spTree>
    <p:extLst>
      <p:ext uri="{BB962C8B-B14F-4D97-AF65-F5344CB8AC3E}">
        <p14:creationId xmlns:p14="http://schemas.microsoft.com/office/powerpoint/2010/main" val="3137144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FD7D-E3FB-3CBC-403C-28A27936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D6F4-D7A6-70EB-C76B-F1237417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C2CC2-2978-15D3-AF45-44989A52F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For X ~ </a:t>
            </a:r>
            <a:r>
              <a:rPr lang="en-US" sz="4400" dirty="0" err="1"/>
              <a:t>Binom</a:t>
            </a:r>
            <a:r>
              <a:rPr lang="en-US" sz="4400" dirty="0"/>
              <a:t>(15, 0.25), this line of R code would calculate P(X = 4).</a:t>
            </a:r>
          </a:p>
        </p:txBody>
      </p:sp>
    </p:spTree>
    <p:extLst>
      <p:ext uri="{BB962C8B-B14F-4D97-AF65-F5344CB8AC3E}">
        <p14:creationId xmlns:p14="http://schemas.microsoft.com/office/powerpoint/2010/main" val="2569025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F46C-5070-795E-F5EC-241408971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5D9CD-5185-AFF7-B364-7EF02270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9AC10-5A2F-B2A3-2DC2-EAFDCFE10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</a:t>
            </a:r>
            <a:r>
              <a:rPr lang="en-US" sz="4400" b="1" dirty="0" err="1"/>
              <a:t>dbinom</a:t>
            </a:r>
            <a:r>
              <a:rPr lang="en-US" sz="4400" b="1" dirty="0"/>
              <a:t>(4, 15, 0.25)?</a:t>
            </a:r>
          </a:p>
        </p:txBody>
      </p:sp>
    </p:spTree>
    <p:extLst>
      <p:ext uri="{BB962C8B-B14F-4D97-AF65-F5344CB8AC3E}">
        <p14:creationId xmlns:p14="http://schemas.microsoft.com/office/powerpoint/2010/main" val="27135695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A3A8-BCD9-481B-E1E2-742630661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A865-95AA-E906-3E54-ED662829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B8AF0-EBE4-5165-EF34-ED9DF5AAD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symbol is used to mean “and” in probability.</a:t>
            </a:r>
          </a:p>
        </p:txBody>
      </p:sp>
    </p:spTree>
    <p:extLst>
      <p:ext uri="{BB962C8B-B14F-4D97-AF65-F5344CB8AC3E}">
        <p14:creationId xmlns:p14="http://schemas.microsoft.com/office/powerpoint/2010/main" val="42192494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0F9E-75F1-8AA6-735E-AE10D59B4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79D4-D7B9-CB14-108B-7C2AF44E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E7EB-13B0-743E-FABE-6135F7621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⋂ (intersection)?</a:t>
            </a:r>
          </a:p>
        </p:txBody>
      </p:sp>
    </p:spTree>
    <p:extLst>
      <p:ext uri="{BB962C8B-B14F-4D97-AF65-F5344CB8AC3E}">
        <p14:creationId xmlns:p14="http://schemas.microsoft.com/office/powerpoint/2010/main" val="28597186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AC64F-3244-2895-4473-E64071EB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E609-02E3-B563-2B11-BC265797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Probability-$400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F2212A-C9E6-007B-BDE1-7B4A69455F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fontAlgn="ctr">
                  <a:buNone/>
                </a:pPr>
                <a:r>
                  <a:rPr lang="en-US" sz="4400" dirty="0"/>
                  <a:t>This rule allows us to calculate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4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4400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4400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dirty="0"/>
                  <a:t> when we know P(A).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F2212A-C9E6-007B-BDE1-7B4A69455F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13" t="-3488" r="-3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4089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08A0-5BE9-C12F-580A-A887CF1E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E427-B3E0-A637-07E0-E7CC1CCA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D79DB-2B9E-3328-C04C-98968AB92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the complement rule?</a:t>
            </a:r>
          </a:p>
        </p:txBody>
      </p:sp>
    </p:spTree>
    <p:extLst>
      <p:ext uri="{BB962C8B-B14F-4D97-AF65-F5344CB8AC3E}">
        <p14:creationId xmlns:p14="http://schemas.microsoft.com/office/powerpoint/2010/main" val="37274346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ACFF-D4E3-50CB-B617-9AC8D3021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BE3F-B391-2521-D1A6-FD6D6358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1D78C-E707-C04A-CAAB-B49154CAD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is the adjective used to describe two events where A </a:t>
            </a:r>
            <a:r>
              <a:rPr lang="en-US" sz="4400" b="1" dirty="0"/>
              <a:t>⋂ </a:t>
            </a:r>
            <a:r>
              <a:rPr lang="en-US" sz="4400" dirty="0"/>
              <a:t>B = </a:t>
            </a:r>
            <a:r>
              <a:rPr lang="en-US" sz="4400" dirty="0" err="1"/>
              <a:t>Ø</a:t>
            </a:r>
            <a:r>
              <a:rPr lang="en-US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82673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832C-AEFE-46B7-30CF-B92C9E6C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D5D0-3358-09DC-9C06-35CCA53D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6EE67-E5A4-AA7D-9F2C-C00D42DE3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disjoint?</a:t>
            </a:r>
          </a:p>
        </p:txBody>
      </p:sp>
    </p:spTree>
    <p:extLst>
      <p:ext uri="{BB962C8B-B14F-4D97-AF65-F5344CB8AC3E}">
        <p14:creationId xmlns:p14="http://schemas.microsoft.com/office/powerpoint/2010/main" val="29886389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94CA5-B13B-828B-6C9C-D5439B11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5055-5687-7F50-D66A-F8A94517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72B1B-90C7-E729-DFD9-CC4201F80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rule lets us swap the order of conditioning.</a:t>
            </a:r>
          </a:p>
          <a:p>
            <a:pPr marL="0" indent="0" fontAlgn="ctr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1237779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94C1-3246-EAEE-782A-6733210B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F76A-D8C7-D2A1-06C6-3919F15A5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2FC5-0290-D412-4494-63A0B06F4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Bayes’ Rule?</a:t>
            </a:r>
          </a:p>
          <a:p>
            <a:pPr marL="0" indent="0" algn="ctr" fontAlgn="ctr">
              <a:buNone/>
            </a:pP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823714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AA3E-FEF9-E130-21AE-13CDAD4D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2EFDA-05D1-A194-8763-B66C1A0F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Probability-$1000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D82089-506E-BA24-F704-C6966F8F60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font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4400" i="1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4400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 ∩ </m:t>
                        </m:r>
                        <m:r>
                          <m:rPr>
                            <m:sty m:val="p"/>
                          </m:rPr>
                          <a:rPr lang="en-US" sz="4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US" sz="4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en-US" sz="4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sz="4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p>
                    </m:sSup>
                  </m:oMath>
                </a14:m>
                <a:r>
                  <a:rPr lang="en-US" sz="4400" dirty="0"/>
                  <a:t> is part of this set of laws.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D82089-506E-BA24-F704-C6966F8F60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13" t="-3488" r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9639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4CE43-2615-4A67-3CFF-D511E168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E9B0-7522-A5E7-AAFF-C59C2D83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0F860-183D-4072-AB53-655EC9012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 err="1"/>
              <a:t>DeMorgan’s</a:t>
            </a:r>
            <a:r>
              <a:rPr lang="en-US" sz="4400" b="1" dirty="0"/>
              <a:t> Laws</a:t>
            </a:r>
          </a:p>
        </p:txBody>
      </p:sp>
    </p:spTree>
    <p:extLst>
      <p:ext uri="{BB962C8B-B14F-4D97-AF65-F5344CB8AC3E}">
        <p14:creationId xmlns:p14="http://schemas.microsoft.com/office/powerpoint/2010/main" val="26658243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413F-4556-7C71-1E86-3BA240BB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3F01-972C-817A-90F1-5C52C9B2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Miscellany-$200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B7959-9E90-C6D7-59CB-ABE2F77FC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type of study allows you to make causal statements about the results.</a:t>
            </a:r>
          </a:p>
        </p:txBody>
      </p:sp>
    </p:spTree>
    <p:extLst>
      <p:ext uri="{BB962C8B-B14F-4D97-AF65-F5344CB8AC3E}">
        <p14:creationId xmlns:p14="http://schemas.microsoft.com/office/powerpoint/2010/main" val="18585001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A2B3-A890-68E9-D14A-A13DD5A5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179B-20FD-FC8B-AE61-A9B203A7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B560C-2663-C1BB-2A04-861444879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an experimental study?</a:t>
            </a:r>
          </a:p>
        </p:txBody>
      </p:sp>
    </p:spTree>
    <p:extLst>
      <p:ext uri="{BB962C8B-B14F-4D97-AF65-F5344CB8AC3E}">
        <p14:creationId xmlns:p14="http://schemas.microsoft.com/office/powerpoint/2010/main" val="42114214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C53D-DF5B-DE77-8D44-A5CB1E08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9A57-ECA9-04EE-A395-441BFA435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5B0A4-E833-8901-7DFF-E34836301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R chunk option will hide the code itself, but print anything produced by the code (like a graph or table).</a:t>
            </a:r>
          </a:p>
        </p:txBody>
      </p:sp>
    </p:spTree>
    <p:extLst>
      <p:ext uri="{BB962C8B-B14F-4D97-AF65-F5344CB8AC3E}">
        <p14:creationId xmlns:p14="http://schemas.microsoft.com/office/powerpoint/2010/main" val="7659565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1C68-EA2E-4D88-5553-713B795CA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DE123-ABFF-E9EC-8310-20EBD5AF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F5BF8-64A1-F0FF-9E8A-BDFB13E26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#| echo: FALSE?</a:t>
            </a:r>
          </a:p>
        </p:txBody>
      </p:sp>
    </p:spTree>
    <p:extLst>
      <p:ext uri="{BB962C8B-B14F-4D97-AF65-F5344CB8AC3E}">
        <p14:creationId xmlns:p14="http://schemas.microsoft.com/office/powerpoint/2010/main" val="8897610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5D0C-8C7F-5BC0-0663-29E88ECE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07C5-F39B-C4BA-0AA8-FA0FF0E6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Miscellany-$600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437C-8659-E29E-5B7F-DFE7CDBAB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is the total area under any probability density function.</a:t>
            </a:r>
          </a:p>
        </p:txBody>
      </p:sp>
    </p:spTree>
    <p:extLst>
      <p:ext uri="{BB962C8B-B14F-4D97-AF65-F5344CB8AC3E}">
        <p14:creationId xmlns:p14="http://schemas.microsoft.com/office/powerpoint/2010/main" val="9824088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B5C3-6984-4D22-042F-26F25ECB6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B296-A6DB-6C33-BD35-8DC59968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16C7-0ADB-05A5-C097-87CB45A08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1?</a:t>
            </a:r>
          </a:p>
        </p:txBody>
      </p:sp>
    </p:spTree>
    <p:extLst>
      <p:ext uri="{BB962C8B-B14F-4D97-AF65-F5344CB8AC3E}">
        <p14:creationId xmlns:p14="http://schemas.microsoft.com/office/powerpoint/2010/main" val="3419187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5CFE-577F-2061-96AA-0B1CA2183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EE0D-80EF-AAD8-EE2B-C48DC430E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Miscellany-$800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0FCB8-FF77-DB60-5E6F-9D0BF282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term refers to independently repeating an entire study without use of the original data.</a:t>
            </a:r>
          </a:p>
        </p:txBody>
      </p:sp>
    </p:spTree>
    <p:extLst>
      <p:ext uri="{BB962C8B-B14F-4D97-AF65-F5344CB8AC3E}">
        <p14:creationId xmlns:p14="http://schemas.microsoft.com/office/powerpoint/2010/main" val="34244370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2283-DF92-EF71-D430-98C697C3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8B06-1DC5-DF9B-39F8-74A5485F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21E41-71B7-8CE3-D06A-75D55A1B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replicability?</a:t>
            </a:r>
          </a:p>
        </p:txBody>
      </p:sp>
    </p:spTree>
    <p:extLst>
      <p:ext uri="{BB962C8B-B14F-4D97-AF65-F5344CB8AC3E}">
        <p14:creationId xmlns:p14="http://schemas.microsoft.com/office/powerpoint/2010/main" val="4789709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467E-2441-6779-77F8-559FA096D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4103-A36C-87D0-E31E-80142B55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Miscellany-$1000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9AFB-663C-8E3E-8B91-70A95A943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400" dirty="0"/>
              <a:t>This type of visualization is often used with time data on the x-axis.</a:t>
            </a:r>
          </a:p>
          <a:p>
            <a:pPr marL="0" indent="0" fontAlgn="ctr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814497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82A8-FB3B-E902-A3B0-9152DD18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01E1-651A-6853-F759-8C7D7EF7F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183A7-90F7-4F12-257C-47DF4D2FA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ctr">
              <a:buNone/>
            </a:pPr>
            <a:r>
              <a:rPr lang="en-US" sz="4400" b="1" dirty="0"/>
              <a:t>What is a line plot?</a:t>
            </a:r>
          </a:p>
          <a:p>
            <a:pPr marL="0" indent="0" algn="ctr" fontAlgn="ctr">
              <a:buNone/>
            </a:pP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6121635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ADB7-AC94-EC32-1E8B-2365916D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29217-20DB-695C-8645-157AB7806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620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667F-E4FE-B985-EE5E-6D0113D6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Jeopardy – Diagnostic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1B992-4739-CBBA-7A5D-9B240FB20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359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BF47-04B4-17D9-0C0E-BDA1939D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Jeopardy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E8BFCD-7593-DBBE-819B-B6466D026B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Let’s say you have developed a test for an illness. You know that this test has negative predictive value of 90% and positive predictive value of 100%. If 40% of tests have a positive result, what is the prevalence of the disease in the population?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that for events A and B,</a:t>
                </a:r>
              </a:p>
              <a:p>
                <a:pPr marL="0" indent="0">
                  <a:buNone/>
                </a:pPr>
                <a:r>
                  <a:rPr lang="en-US" dirty="0"/>
                  <a:t>P(A|B)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∩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∩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+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∩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E8BFCD-7593-DBBE-819B-B6466D026B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37203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FF95D4-B28A-1E4E-D852-DD39AAEDEB47}"/>
                  </a:ext>
                </a:extLst>
              </p:cNvPr>
              <p:cNvSpPr txBox="1"/>
              <p:nvPr/>
            </p:nvSpPr>
            <p:spPr>
              <a:xfrm>
                <a:off x="976489" y="637822"/>
                <a:ext cx="4205575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𝑇𝑒𝑠𝑡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𝑇𝑒𝑠𝑡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= P(+ | Test +)P(Test +) + P(+ | Test -)P(Test -)</a:t>
                </a:r>
              </a:p>
              <a:p>
                <a:r>
                  <a:rPr lang="en-US" dirty="0"/>
                  <a:t>= (1)(0.4) + [1-P(-|Test -)][1-P(Test +)]</a:t>
                </a:r>
              </a:p>
              <a:p>
                <a:r>
                  <a:rPr lang="en-US" dirty="0"/>
                  <a:t>= 0.4 + (0.1)(0.6)</a:t>
                </a:r>
              </a:p>
              <a:p>
                <a:r>
                  <a:rPr lang="en-US" dirty="0"/>
                  <a:t>=0.46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FF95D4-B28A-1E4E-D852-DD39AAEDE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489" y="637822"/>
                <a:ext cx="4205575" cy="1384995"/>
              </a:xfrm>
              <a:prstGeom prst="rect">
                <a:avLst/>
              </a:prstGeom>
              <a:blipFill>
                <a:blip r:embed="rId2"/>
                <a:stretch>
                  <a:fillRect l="-3303" r="-2402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A183D9D-0E3D-89B6-BEC3-0E1D825E7032}"/>
              </a:ext>
            </a:extLst>
          </p:cNvPr>
          <p:cNvSpPr txBox="1"/>
          <p:nvPr/>
        </p:nvSpPr>
        <p:spPr>
          <a:xfrm>
            <a:off x="1140178" y="2540000"/>
            <a:ext cx="76007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won’t be asking you to perform any calculations this involved on the exam!</a:t>
            </a:r>
          </a:p>
          <a:p>
            <a:endParaRPr lang="en-US" dirty="0"/>
          </a:p>
          <a:p>
            <a:r>
              <a:rPr lang="en-US" dirty="0"/>
              <a:t>Alternative approach: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E9B1BD-3AC5-B930-02A1-EAD5753C9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773892"/>
              </p:ext>
            </p:extLst>
          </p:nvPr>
        </p:nvGraphicFramePr>
        <p:xfrm>
          <a:off x="1309511" y="399344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830354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54307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534391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89541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428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27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149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75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0427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409-5167-078C-F696-E4DA6861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95FA9-2E52-CDDF-1D0A-D4FB66B9B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57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1299</Words>
  <Application>Microsoft Macintosh PowerPoint</Application>
  <PresentationFormat>Widescreen</PresentationFormat>
  <Paragraphs>249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6" baseType="lpstr">
      <vt:lpstr>Aptos</vt:lpstr>
      <vt:lpstr>Aptos Display</vt:lpstr>
      <vt:lpstr>Arial</vt:lpstr>
      <vt:lpstr>Cambria Math</vt:lpstr>
      <vt:lpstr>Office Theme</vt:lpstr>
      <vt:lpstr>Exam 1 Review</vt:lpstr>
      <vt:lpstr>Exam Info</vt:lpstr>
      <vt:lpstr>Jeopardy game</vt:lpstr>
      <vt:lpstr>Set-up/Rules</vt:lpstr>
      <vt:lpstr>Set-up/Rules</vt:lpstr>
      <vt:lpstr>PowerPoint Presentation</vt:lpstr>
      <vt:lpstr>Tidyverse -$200</vt:lpstr>
      <vt:lpstr>PowerPoint Presentation</vt:lpstr>
      <vt:lpstr>Tidyverse -$400</vt:lpstr>
      <vt:lpstr>PowerPoint Presentation</vt:lpstr>
      <vt:lpstr>Tidyverse -$600</vt:lpstr>
      <vt:lpstr>PowerPoint Presentation</vt:lpstr>
      <vt:lpstr>Tidyverse -$800</vt:lpstr>
      <vt:lpstr>PowerPoint Presentation</vt:lpstr>
      <vt:lpstr>Tidyverse -$1000</vt:lpstr>
      <vt:lpstr>PowerPoint Presentation</vt:lpstr>
      <vt:lpstr>Data Types -$200</vt:lpstr>
      <vt:lpstr>PowerPoint Presentation</vt:lpstr>
      <vt:lpstr>Data Types -$400</vt:lpstr>
      <vt:lpstr>PowerPoint Presentation</vt:lpstr>
      <vt:lpstr>Data Types -$600</vt:lpstr>
      <vt:lpstr>PowerPoint Presentation</vt:lpstr>
      <vt:lpstr>Data Types -$800</vt:lpstr>
      <vt:lpstr>PowerPoint Presentation</vt:lpstr>
      <vt:lpstr>Data Types -$1000</vt:lpstr>
      <vt:lpstr>PowerPoint Presentation</vt:lpstr>
      <vt:lpstr>Diagnostics-$200</vt:lpstr>
      <vt:lpstr>PowerPoint Presentation</vt:lpstr>
      <vt:lpstr>Diagnostics-$400</vt:lpstr>
      <vt:lpstr>PowerPoint Presentation</vt:lpstr>
      <vt:lpstr>Diagnostics-$600</vt:lpstr>
      <vt:lpstr>PowerPoint Presentation</vt:lpstr>
      <vt:lpstr>Diagnostics-$800</vt:lpstr>
      <vt:lpstr>PowerPoint Presentation</vt:lpstr>
      <vt:lpstr>Diagnostics-$1000</vt:lpstr>
      <vt:lpstr>PowerPoint Presentation</vt:lpstr>
      <vt:lpstr>Distributions-$200</vt:lpstr>
      <vt:lpstr>PowerPoint Presentation</vt:lpstr>
      <vt:lpstr>Distributions-$400</vt:lpstr>
      <vt:lpstr>PowerPoint Presentation</vt:lpstr>
      <vt:lpstr>Distributions-$600</vt:lpstr>
      <vt:lpstr>PowerPoint Presentation</vt:lpstr>
      <vt:lpstr>Distributions-$800</vt:lpstr>
      <vt:lpstr>PowerPoint Presentation</vt:lpstr>
      <vt:lpstr>Distributions-$1000</vt:lpstr>
      <vt:lpstr>PowerPoint Presentation</vt:lpstr>
      <vt:lpstr>Probability-$200</vt:lpstr>
      <vt:lpstr>PowerPoint Presentation</vt:lpstr>
      <vt:lpstr>Probability-$400</vt:lpstr>
      <vt:lpstr>PowerPoint Presentation</vt:lpstr>
      <vt:lpstr>Probability-$600</vt:lpstr>
      <vt:lpstr>PowerPoint Presentation</vt:lpstr>
      <vt:lpstr>Probability-$800</vt:lpstr>
      <vt:lpstr>PowerPoint Presentation</vt:lpstr>
      <vt:lpstr>Probability-$1000</vt:lpstr>
      <vt:lpstr>PowerPoint Presentation</vt:lpstr>
      <vt:lpstr>Miscellany-$200</vt:lpstr>
      <vt:lpstr>PowerPoint Presentation</vt:lpstr>
      <vt:lpstr>Miscellany-$400</vt:lpstr>
      <vt:lpstr>PowerPoint Presentation</vt:lpstr>
      <vt:lpstr>Miscellany-$600</vt:lpstr>
      <vt:lpstr>PowerPoint Presentation</vt:lpstr>
      <vt:lpstr>Miscellany-$800</vt:lpstr>
      <vt:lpstr>PowerPoint Presentation</vt:lpstr>
      <vt:lpstr>Miscellany-$1000</vt:lpstr>
      <vt:lpstr>PowerPoint Presentation</vt:lpstr>
      <vt:lpstr>PowerPoint Presentation</vt:lpstr>
      <vt:lpstr>Final Jeopardy – Diagnostic Testing</vt:lpstr>
      <vt:lpstr>Final Jeopardy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Hoch, Margaret</dc:creator>
  <cp:lastModifiedBy>Hoch, Margaret</cp:lastModifiedBy>
  <cp:revision>4</cp:revision>
  <dcterms:created xsi:type="dcterms:W3CDTF">2026-06-30T16:46:06Z</dcterms:created>
  <dcterms:modified xsi:type="dcterms:W3CDTF">2026-07-01T15:20:34Z</dcterms:modified>
</cp:coreProperties>
</file>