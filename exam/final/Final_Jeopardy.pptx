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332" r:id="rId3"/>
    <p:sldId id="328" r:id="rId4"/>
    <p:sldId id="329" r:id="rId5"/>
    <p:sldId id="322" r:id="rId6"/>
    <p:sldId id="323" r:id="rId7"/>
    <p:sldId id="331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321" r:id="rId30"/>
    <p:sldId id="279" r:id="rId31"/>
    <p:sldId id="320" r:id="rId32"/>
    <p:sldId id="281" r:id="rId33"/>
    <p:sldId id="319" r:id="rId34"/>
    <p:sldId id="283" r:id="rId35"/>
    <p:sldId id="318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24" r:id="rId70"/>
    <p:sldId id="325" r:id="rId71"/>
    <p:sldId id="327" r:id="rId72"/>
    <p:sldId id="330" r:id="rId73"/>
    <p:sldId id="326" r:id="rId7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14"/>
    <p:restoredTop sz="94603"/>
  </p:normalViewPr>
  <p:slideViewPr>
    <p:cSldViewPr snapToGrid="0">
      <p:cViewPr varScale="1">
        <p:scale>
          <a:sx n="123" d="100"/>
          <a:sy n="123" d="100"/>
        </p:scale>
        <p:origin x="22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3FAA7-23B9-2F9F-E75C-3784F8E92C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994038-2C5D-FB20-0018-A3550AE1F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CC44F-0D84-9048-2212-6CD8AE6B2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8AC5-964B-8C48-8528-DE848C3F2F85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A2FC7-5DDF-7E4A-E1AF-81FDDC2D1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023C9-9B6B-02C0-5202-DB771E2F2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B4642-4C44-7F44-80D9-88AEDC94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659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472FB-B0E6-B9F0-482F-596FC3579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74E90-1849-996F-04C0-0E5477A0D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51509-17CE-9256-C78D-D634DE349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8AC5-964B-8C48-8528-DE848C3F2F85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0CF97-9958-965F-ED37-704174642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96CDF-4832-6A8A-EBC8-B2C838A9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B4642-4C44-7F44-80D9-88AEDC94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962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EC431-DE96-F500-A7ED-7674714B3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E62B7C-D862-74A4-50A9-7C5BAA162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7A6FF-1B80-5566-E6EF-42121FD86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8AC5-964B-8C48-8528-DE848C3F2F85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53D89-A129-0BDF-FEED-31EA3B983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59104-3DEE-10EC-D700-D10D807A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B4642-4C44-7F44-80D9-88AEDC94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53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D02EF-EB88-E93A-261A-716BF8BA0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67EBA-56A8-3276-27EA-E696F9D54A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C7BAD-E463-CBA0-3671-3DC82CE3D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7B9103-27F9-BE94-8F47-BCEC2ED86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8AC5-964B-8C48-8528-DE848C3F2F85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80866B-88DC-AADF-E045-90E0232D2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845D99-A353-56E8-7A1A-027435DBA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B4642-4C44-7F44-80D9-88AEDC94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186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CAAD8-B3BF-6994-A4FE-C0679CCE8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01764-F0CA-06B7-1341-4B46939EA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0BBED4-6277-B4F8-50CF-2CDC827AC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1167DE-7D5B-A79A-76E5-03BA39DB02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F319F8-52E1-6ACB-3F08-9B50B27BFC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9AA98F-84D8-0D75-4C99-1219F89E6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8AC5-964B-8C48-8528-DE848C3F2F85}" type="datetimeFigureOut">
              <a:rPr lang="en-US" smtClean="0"/>
              <a:t>7/22/26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D97B00-C99B-6F19-6F0E-C4372CFAB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327045-3E14-F664-2C8F-04AC6537E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B4642-4C44-7F44-80D9-88AEDC94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592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42696-B771-15EA-375F-8896B9A75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1C4B4E-776B-59F7-56C6-198FC4C4F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8AC5-964B-8C48-8528-DE848C3F2F85}" type="datetimeFigureOut">
              <a:rPr lang="en-US" smtClean="0"/>
              <a:t>7/22/26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28AEDA-F763-E7E5-DB0E-7F5073983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BFC923-1DBF-337F-3BAB-97CCD7481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B4642-4C44-7F44-80D9-88AEDC94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319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A93321-F08F-395E-5029-7480FB5E2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8AC5-964B-8C48-8528-DE848C3F2F85}" type="datetimeFigureOut">
              <a:rPr lang="en-US" smtClean="0"/>
              <a:t>7/22/26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CBCE27-B656-0885-A7FF-D0F2F7F0E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55B5F8-CD77-EDE3-B6FC-BE7715374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B4642-4C44-7F44-80D9-88AEDC94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094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7F205-7F18-90E3-B23A-39B9ACE5A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9BC07-DEA9-C04D-827D-DF402CC0C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F24582-CBF2-6845-E573-0E0B7143FA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538EA5-DC33-6B00-D296-1AAF6448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8AC5-964B-8C48-8528-DE848C3F2F85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C1C506-CC16-1886-0B0A-0FAD7F240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F2DC3A-970A-FF50-5F9B-03A58602E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B4642-4C44-7F44-80D9-88AEDC94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766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7F4DB-C1BC-1F04-967C-7EA425805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4EE98E-54E8-7AE2-3F1F-402EEA7EF8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DA267F-6F8B-5246-E916-45E64D6E4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24EA9E-9A1D-2A9D-F4B6-449A90E45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8AC5-964B-8C48-8528-DE848C3F2F85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CE87B-F2F5-280A-F98B-1861DB16B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ED7170-FCC0-2343-52BF-B813AF23A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B4642-4C44-7F44-80D9-88AEDC94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47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87734-CDBE-BDA1-3F8D-CA5A51482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07DD68-FB39-B2B8-6852-CB2234366E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13267-BF48-EA25-0A96-B55C17627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8AC5-964B-8C48-8528-DE848C3F2F85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A5A9A-7CC8-F366-7575-417ABE7F6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5EDE0-A280-2539-6D50-207F0A2B7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B4642-4C44-7F44-80D9-88AEDC94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491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C98546-49C5-47C6-324C-52118C8817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3CF669-21B7-492C-A871-986D89970F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87408-691D-CB9C-A7CA-0DFD5756A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8AC5-964B-8C48-8528-DE848C3F2F85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14974-4C73-E67E-95E1-B8989EAB8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B23BC-08D3-0FBB-00D5-4DF097F5F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B4642-4C44-7F44-80D9-88AEDC94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295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17CFA5-D897-6B60-F313-78D6AE2DF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23953-6A8A-C585-888A-AD1BD7C05C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B1225-F760-A6CC-0842-80A9A56D13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6B8AC5-964B-8C48-8528-DE848C3F2F85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0E266-F3F7-7A2C-541C-3D93F0F957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4A1D8-A807-1496-45A1-54BD25BC8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CB4642-4C44-7F44-80D9-88AEDC94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281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13" Type="http://schemas.openxmlformats.org/officeDocument/2006/relationships/slide" Target="slide61.xml"/><Relationship Id="rId18" Type="http://schemas.openxmlformats.org/officeDocument/2006/relationships/slide" Target="slide53.xml"/><Relationship Id="rId26" Type="http://schemas.openxmlformats.org/officeDocument/2006/relationships/slide" Target="slide17.xml"/><Relationship Id="rId3" Type="http://schemas.openxmlformats.org/officeDocument/2006/relationships/slide" Target="slide19.xml"/><Relationship Id="rId21" Type="http://schemas.openxmlformats.org/officeDocument/2006/relationships/slide" Target="slide25.xml"/><Relationship Id="rId7" Type="http://schemas.openxmlformats.org/officeDocument/2006/relationships/slide" Target="slide59.xml"/><Relationship Id="rId12" Type="http://schemas.openxmlformats.org/officeDocument/2006/relationships/slide" Target="slide51.xml"/><Relationship Id="rId17" Type="http://schemas.openxmlformats.org/officeDocument/2006/relationships/slide" Target="slide43.xml"/><Relationship Id="rId25" Type="http://schemas.openxmlformats.org/officeDocument/2006/relationships/slide" Target="slide65.xml"/><Relationship Id="rId2" Type="http://schemas.openxmlformats.org/officeDocument/2006/relationships/slide" Target="slide9.xml"/><Relationship Id="rId16" Type="http://schemas.openxmlformats.org/officeDocument/2006/relationships/slide" Target="slide33.xml"/><Relationship Id="rId20" Type="http://schemas.openxmlformats.org/officeDocument/2006/relationships/slide" Target="slide15.xml"/><Relationship Id="rId29" Type="http://schemas.openxmlformats.org/officeDocument/2006/relationships/slide" Target="slide5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9.xml"/><Relationship Id="rId11" Type="http://schemas.openxmlformats.org/officeDocument/2006/relationships/slide" Target="slide41.xml"/><Relationship Id="rId24" Type="http://schemas.openxmlformats.org/officeDocument/2006/relationships/slide" Target="slide55.xml"/><Relationship Id="rId5" Type="http://schemas.openxmlformats.org/officeDocument/2006/relationships/slide" Target="slide39.xml"/><Relationship Id="rId15" Type="http://schemas.openxmlformats.org/officeDocument/2006/relationships/slide" Target="slide23.xml"/><Relationship Id="rId23" Type="http://schemas.openxmlformats.org/officeDocument/2006/relationships/slide" Target="slide45.xml"/><Relationship Id="rId28" Type="http://schemas.openxmlformats.org/officeDocument/2006/relationships/slide" Target="slide47.xml"/><Relationship Id="rId10" Type="http://schemas.openxmlformats.org/officeDocument/2006/relationships/slide" Target="slide31.xml"/><Relationship Id="rId19" Type="http://schemas.openxmlformats.org/officeDocument/2006/relationships/slide" Target="slide63.xml"/><Relationship Id="rId4" Type="http://schemas.openxmlformats.org/officeDocument/2006/relationships/slide" Target="slide27.xml"/><Relationship Id="rId9" Type="http://schemas.openxmlformats.org/officeDocument/2006/relationships/slide" Target="slide21.xml"/><Relationship Id="rId14" Type="http://schemas.openxmlformats.org/officeDocument/2006/relationships/slide" Target="slide13.xml"/><Relationship Id="rId22" Type="http://schemas.openxmlformats.org/officeDocument/2006/relationships/slide" Target="slide35.xml"/><Relationship Id="rId27" Type="http://schemas.openxmlformats.org/officeDocument/2006/relationships/slide" Target="slide37.xml"/><Relationship Id="rId30" Type="http://schemas.openxmlformats.org/officeDocument/2006/relationships/slide" Target="slide6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1D14A-7041-9367-1C7A-EE533F0677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Final Exam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50C71E-BE3D-891A-E2C7-F5136CD846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BIOS 600 Summer Session II</a:t>
            </a:r>
          </a:p>
        </p:txBody>
      </p:sp>
    </p:spTree>
    <p:extLst>
      <p:ext uri="{BB962C8B-B14F-4D97-AF65-F5344CB8AC3E}">
        <p14:creationId xmlns:p14="http://schemas.microsoft.com/office/powerpoint/2010/main" val="1381016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2BBCD-3B56-A313-5E83-3CC7F4085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0D753-E878-A77F-550A-D787F04F0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Reminder that HW 15 is due tonight by midnight</a:t>
            </a:r>
          </a:p>
          <a:p>
            <a:r>
              <a:rPr lang="en-US" dirty="0"/>
              <a:t>Please reach out to me over email with any questions you run into over the next few days! I will do my best to reply in a timely manner.</a:t>
            </a:r>
          </a:p>
          <a:p>
            <a:r>
              <a:rPr lang="en-US" dirty="0"/>
              <a:t>Tomorrow (7/24) I will plan to be in the classroom during our usual class time for open office hours</a:t>
            </a:r>
          </a:p>
        </p:txBody>
      </p:sp>
    </p:spTree>
    <p:extLst>
      <p:ext uri="{BB962C8B-B14F-4D97-AF65-F5344CB8AC3E}">
        <p14:creationId xmlns:p14="http://schemas.microsoft.com/office/powerpoint/2010/main" val="436939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440D8-AB00-798E-35C5-803556A07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 Info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71404-C1A8-2E80-7CAE-9E92FDA38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Reminder that the exam is closed-note – all you need to bring is a pencil (or pen)!</a:t>
            </a:r>
          </a:p>
          <a:p>
            <a:r>
              <a:rPr lang="en-US" dirty="0"/>
              <a:t>There are three categories of question – code-based, applications, and theory</a:t>
            </a:r>
          </a:p>
          <a:p>
            <a:r>
              <a:rPr lang="en-US" dirty="0"/>
              <a:t>Questions will be a mix of multiple-choice, true/false, and open response</a:t>
            </a:r>
          </a:p>
          <a:p>
            <a:r>
              <a:rPr lang="en-US" dirty="0"/>
              <a:t>Questions follow formats like the review questions on Canvas</a:t>
            </a:r>
          </a:p>
        </p:txBody>
      </p:sp>
    </p:spTree>
    <p:extLst>
      <p:ext uri="{BB962C8B-B14F-4D97-AF65-F5344CB8AC3E}">
        <p14:creationId xmlns:p14="http://schemas.microsoft.com/office/powerpoint/2010/main" val="1925833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6B164-459A-5845-CDA9-568B10BAC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Jeopardy game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C66AC-4172-2428-B08F-2744BD8F14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834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C1C79-2784-73FA-4997-10942C454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Set-up/Rules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93DAF-69CD-CBAF-5D92-996CAE602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Split into three groups</a:t>
            </a:r>
          </a:p>
          <a:p>
            <a:r>
              <a:rPr lang="en-US" dirty="0"/>
              <a:t>Each group will work as a team to earn points, which are determined by the “worth” of the questions.</a:t>
            </a:r>
          </a:p>
          <a:p>
            <a:r>
              <a:rPr lang="en-US" dirty="0"/>
              <a:t>There are six categories, and each category has 5 questions with value ranging from $200 to $1000, with difficulty roughly aligned with the worth of the question.</a:t>
            </a:r>
          </a:p>
          <a:p>
            <a:r>
              <a:rPr lang="en-US" dirty="0"/>
              <a:t>If your group gets an answer correct, the worth of that question is added to your score; if you do not get the answer correct, it is subtracted from your score and the other teams will have the chance to answer it</a:t>
            </a:r>
          </a:p>
        </p:txBody>
      </p:sp>
    </p:spTree>
    <p:extLst>
      <p:ext uri="{BB962C8B-B14F-4D97-AF65-F5344CB8AC3E}">
        <p14:creationId xmlns:p14="http://schemas.microsoft.com/office/powerpoint/2010/main" val="228064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47013-C044-D839-DA78-C5CFAE3B3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A4977-0934-08BE-428B-E50B07335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Set-up/Rules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AA74A-FA3D-D255-A7D8-CDEF8F9F8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I’ll pick a group at random to start; they will pick a question off of the board (for example, “BIOS 600 fun facts for $400”)</a:t>
            </a:r>
          </a:p>
          <a:p>
            <a:r>
              <a:rPr lang="en-US" dirty="0"/>
              <a:t>Once the question is revealed, whichever group has someone raise their hand the fastest will then have 10 seconds to answer the question</a:t>
            </a:r>
          </a:p>
          <a:p>
            <a:r>
              <a:rPr lang="en-US" dirty="0"/>
              <a:t>Can answer in the form of a question or not, up to you</a:t>
            </a:r>
          </a:p>
          <a:p>
            <a:r>
              <a:rPr lang="en-US" dirty="0"/>
              <a:t>After we clear the first round, there will be a final jeopardy question, at which point your team can wager as many of your points as you want – if you get the question correct, that wager is added to your final score; if not, it is subtracted.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324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3C18A-8229-F0AE-1E8A-55E491407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Final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D3802-888F-DDA6-288C-C9EEB87E4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referencing notes/the internet/textbooks! This is an opportunity for you to see what you know ahead of tomorrow’s exam.</a:t>
            </a:r>
          </a:p>
          <a:p>
            <a:r>
              <a:rPr lang="en-US" dirty="0"/>
              <a:t>I will read out loud the prompt. Groups may not raise their hands until the prompt has been read in full.</a:t>
            </a:r>
          </a:p>
        </p:txBody>
      </p:sp>
    </p:spTree>
    <p:extLst>
      <p:ext uri="{BB962C8B-B14F-4D97-AF65-F5344CB8AC3E}">
        <p14:creationId xmlns:p14="http://schemas.microsoft.com/office/powerpoint/2010/main" val="3587569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200000C-CC9A-CFE3-0968-DB8DC8CB1C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707639"/>
              </p:ext>
            </p:extLst>
          </p:nvPr>
        </p:nvGraphicFramePr>
        <p:xfrm>
          <a:off x="869244" y="347133"/>
          <a:ext cx="10453512" cy="61637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2252">
                  <a:extLst>
                    <a:ext uri="{9D8B030D-6E8A-4147-A177-3AD203B41FA5}">
                      <a16:colId xmlns:a16="http://schemas.microsoft.com/office/drawing/2014/main" val="1761681897"/>
                    </a:ext>
                  </a:extLst>
                </a:gridCol>
                <a:gridCol w="1742252">
                  <a:extLst>
                    <a:ext uri="{9D8B030D-6E8A-4147-A177-3AD203B41FA5}">
                      <a16:colId xmlns:a16="http://schemas.microsoft.com/office/drawing/2014/main" val="688658007"/>
                    </a:ext>
                  </a:extLst>
                </a:gridCol>
                <a:gridCol w="1742252">
                  <a:extLst>
                    <a:ext uri="{9D8B030D-6E8A-4147-A177-3AD203B41FA5}">
                      <a16:colId xmlns:a16="http://schemas.microsoft.com/office/drawing/2014/main" val="2897676424"/>
                    </a:ext>
                  </a:extLst>
                </a:gridCol>
                <a:gridCol w="1742252">
                  <a:extLst>
                    <a:ext uri="{9D8B030D-6E8A-4147-A177-3AD203B41FA5}">
                      <a16:colId xmlns:a16="http://schemas.microsoft.com/office/drawing/2014/main" val="2972304504"/>
                    </a:ext>
                  </a:extLst>
                </a:gridCol>
                <a:gridCol w="1742252">
                  <a:extLst>
                    <a:ext uri="{9D8B030D-6E8A-4147-A177-3AD203B41FA5}">
                      <a16:colId xmlns:a16="http://schemas.microsoft.com/office/drawing/2014/main" val="336238556"/>
                    </a:ext>
                  </a:extLst>
                </a:gridCol>
                <a:gridCol w="1742252">
                  <a:extLst>
                    <a:ext uri="{9D8B030D-6E8A-4147-A177-3AD203B41FA5}">
                      <a16:colId xmlns:a16="http://schemas.microsoft.com/office/drawing/2014/main" val="2444483873"/>
                    </a:ext>
                  </a:extLst>
                </a:gridCol>
              </a:tblGrid>
              <a:tr h="102728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Correlation 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 on a (g)</a:t>
                      </a:r>
                      <a:r>
                        <a:rPr lang="en-US" dirty="0" err="1"/>
                        <a:t>lm</a:t>
                      </a:r>
                      <a:r>
                        <a:rPr lang="en-US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Assumptions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Beating the Odds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Interpretation, not Interpolation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Miscellany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4888788"/>
                  </a:ext>
                </a:extLst>
              </a:tr>
              <a:tr h="102728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2" action="ppaction://hlinksldjump"/>
                        </a:rPr>
                        <a:t>$200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3" action="ppaction://hlinksldjump"/>
                        </a:rPr>
                        <a:t>$200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4" action="ppaction://hlinksldjump"/>
                        </a:rPr>
                        <a:t>$200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5" action="ppaction://hlinksldjump"/>
                        </a:rPr>
                        <a:t>$200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6" action="ppaction://hlinksldjump"/>
                        </a:rPr>
                        <a:t>$200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7" action="ppaction://hlinksldjump"/>
                        </a:rPr>
                        <a:t>$200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445337"/>
                  </a:ext>
                </a:extLst>
              </a:tr>
              <a:tr h="102728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8" action="ppaction://hlinksldjump"/>
                        </a:rPr>
                        <a:t>$400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hlinkClick r:id="rId9" action="ppaction://hlinksldjump"/>
                        </a:rPr>
                        <a:t>$400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hlinkClick r:id="rId10" action="ppaction://hlinksldjump"/>
                        </a:rPr>
                        <a:t>$400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hlinkClick r:id="rId11" action="ppaction://hlinksldjump"/>
                        </a:rPr>
                        <a:t>$400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hlinkClick r:id="rId12" action="ppaction://hlinksldjump"/>
                        </a:rPr>
                        <a:t>$400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hlinkClick r:id="rId13" action="ppaction://hlinksldjump"/>
                        </a:rPr>
                        <a:t>$400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6415403"/>
                  </a:ext>
                </a:extLst>
              </a:tr>
              <a:tr h="102728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14" action="ppaction://hlinksldjump"/>
                        </a:rPr>
                        <a:t>$600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15" action="ppaction://hlinksldjump"/>
                        </a:rPr>
                        <a:t>$600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16" action="ppaction://hlinksldjump"/>
                        </a:rPr>
                        <a:t>$600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17" action="ppaction://hlinksldjump"/>
                        </a:rPr>
                        <a:t>$600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18" action="ppaction://hlinksldjump"/>
                        </a:rPr>
                        <a:t>$600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19" action="ppaction://hlinksldjump"/>
                        </a:rPr>
                        <a:t>$600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830698"/>
                  </a:ext>
                </a:extLst>
              </a:tr>
              <a:tr h="102728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20" action="ppaction://hlinksldjump"/>
                        </a:rPr>
                        <a:t>$800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21" action="ppaction://hlinksldjump"/>
                        </a:rPr>
                        <a:t>$800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22" action="ppaction://hlinksldjump"/>
                        </a:rPr>
                        <a:t>$800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23" action="ppaction://hlinksldjump"/>
                        </a:rPr>
                        <a:t>$800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24" action="ppaction://hlinksldjump"/>
                        </a:rPr>
                        <a:t>$800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25" action="ppaction://hlinksldjump"/>
                        </a:rPr>
                        <a:t>$800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9759389"/>
                  </a:ext>
                </a:extLst>
              </a:tr>
              <a:tr h="102728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26" action="ppaction://hlinksldjump"/>
                        </a:rPr>
                        <a:t>$1000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4" action="ppaction://hlinksldjump"/>
                        </a:rPr>
                        <a:t>$1000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27" action="ppaction://hlinksldjump"/>
                        </a:rPr>
                        <a:t>$1000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28" action="ppaction://hlinksldjump"/>
                        </a:rPr>
                        <a:t>$1000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29" action="ppaction://hlinksldjump"/>
                        </a:rPr>
                        <a:t>$1000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30" action="ppaction://hlinksldjump"/>
                        </a:rPr>
                        <a:t>$1000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7242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3447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242D9-CB3D-39A1-A989-F8178DCC5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Station-$200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EC007-38E3-C68B-8053-086252B85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This type of correlation is the default for the R functions </a:t>
            </a:r>
            <a:r>
              <a:rPr lang="en-US" sz="4400" dirty="0" err="1"/>
              <a:t>cor</a:t>
            </a:r>
            <a:r>
              <a:rPr lang="en-US" sz="4400" dirty="0"/>
              <a:t>() and </a:t>
            </a:r>
            <a:r>
              <a:rPr lang="en-US" sz="4400" dirty="0" err="1"/>
              <a:t>pcor.test</a:t>
            </a:r>
            <a:r>
              <a:rPr lang="en-US" sz="4400" dirty="0"/>
              <a:t>().</a:t>
            </a:r>
          </a:p>
        </p:txBody>
      </p:sp>
    </p:spTree>
    <p:extLst>
      <p:ext uri="{BB962C8B-B14F-4D97-AF65-F5344CB8AC3E}">
        <p14:creationId xmlns:p14="http://schemas.microsoft.com/office/powerpoint/2010/main" val="3645156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D0B6F-51A1-0511-0E27-F06942A3E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6AEAA-4681-C74B-8214-02F118E0A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A39D1-B7ED-B7FE-30F8-F246D7630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Pearson’s correlation?</a:t>
            </a:r>
          </a:p>
        </p:txBody>
      </p:sp>
    </p:spTree>
    <p:extLst>
      <p:ext uri="{BB962C8B-B14F-4D97-AF65-F5344CB8AC3E}">
        <p14:creationId xmlns:p14="http://schemas.microsoft.com/office/powerpoint/2010/main" val="1893961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3456F-FB12-115F-EAF6-07348C7BA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E82A8-0081-C10B-06DB-4BD1A6425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Station-$400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CC16A-17D1-0081-7328-DE506E669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If two variables have </a:t>
            </a:r>
            <a:r>
              <a:rPr lang="el-GR" sz="4400" dirty="0"/>
              <a:t>ρ</a:t>
            </a:r>
            <a:r>
              <a:rPr lang="en-US" sz="4400" dirty="0"/>
              <a:t> = 0.95, we could describe their association with this two-word phrase.</a:t>
            </a:r>
            <a:endParaRPr lang="el-GR" sz="4400" dirty="0"/>
          </a:p>
        </p:txBody>
      </p:sp>
    </p:spTree>
    <p:extLst>
      <p:ext uri="{BB962C8B-B14F-4D97-AF65-F5344CB8AC3E}">
        <p14:creationId xmlns:p14="http://schemas.microsoft.com/office/powerpoint/2010/main" val="2788138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1FBE7-4413-8D7C-8144-83928118A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71826-4D00-AF86-A87C-09F4EEF5C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FD91E-78B2-1B9C-01D9-07D626AF4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strongly positive?</a:t>
            </a:r>
          </a:p>
        </p:txBody>
      </p:sp>
    </p:spTree>
    <p:extLst>
      <p:ext uri="{BB962C8B-B14F-4D97-AF65-F5344CB8AC3E}">
        <p14:creationId xmlns:p14="http://schemas.microsoft.com/office/powerpoint/2010/main" val="2296823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6FD02-5E46-7611-EBC9-E367EA8F1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0341E-00B8-32C1-1E06-CF70C7CFC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Station-$600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94301-221B-5CDE-224C-659F8521C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This type of correlation is calculated using ranks.</a:t>
            </a:r>
          </a:p>
        </p:txBody>
      </p:sp>
    </p:spTree>
    <p:extLst>
      <p:ext uri="{BB962C8B-B14F-4D97-AF65-F5344CB8AC3E}">
        <p14:creationId xmlns:p14="http://schemas.microsoft.com/office/powerpoint/2010/main" val="2246291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52BCA-C41B-40B6-BF45-BB330DD56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01278-D9AE-4959-93C6-FC7C30756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BCD44-143F-9135-263A-733C0479A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Spearman’s correlation?</a:t>
            </a:r>
          </a:p>
        </p:txBody>
      </p:sp>
    </p:spTree>
    <p:extLst>
      <p:ext uri="{BB962C8B-B14F-4D97-AF65-F5344CB8AC3E}">
        <p14:creationId xmlns:p14="http://schemas.microsoft.com/office/powerpoint/2010/main" val="4223004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70ACD-C920-44B9-3ED1-D0D6F2C9A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604FA-B773-B0FC-0D44-7849B82CC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Station-$800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6ECE1-381A-A344-A097-41F8F7979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This function is used to make correlation heatmap plots.</a:t>
            </a:r>
          </a:p>
        </p:txBody>
      </p:sp>
    </p:spTree>
    <p:extLst>
      <p:ext uri="{BB962C8B-B14F-4D97-AF65-F5344CB8AC3E}">
        <p14:creationId xmlns:p14="http://schemas.microsoft.com/office/powerpoint/2010/main" val="2123309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29DCF-FCEF-AE0D-CE9D-D04523C2B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BB914-FA6C-F5D0-E76C-FF366DB0D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CC7C7-EE14-2CC2-4DDD-B8C7A754F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</a:t>
            </a:r>
            <a:r>
              <a:rPr lang="en-US" sz="4400" b="1" dirty="0" err="1"/>
              <a:t>ggcorrplot</a:t>
            </a:r>
            <a:r>
              <a:rPr lang="en-US" sz="4400" b="1" dirty="0"/>
              <a:t>()?</a:t>
            </a:r>
          </a:p>
        </p:txBody>
      </p:sp>
    </p:spTree>
    <p:extLst>
      <p:ext uri="{BB962C8B-B14F-4D97-AF65-F5344CB8AC3E}">
        <p14:creationId xmlns:p14="http://schemas.microsoft.com/office/powerpoint/2010/main" val="29735624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FAFB3-3413-2CD6-CB9F-23E78703F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A8D4D-86A7-8B0E-D974-83D7CCF32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Station-$1000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326B8-ACF0-7396-F858-287AF940B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This quantity can be used to quantify the association between two variables, while accounting for possible confounder(s).</a:t>
            </a:r>
          </a:p>
        </p:txBody>
      </p:sp>
    </p:spTree>
    <p:extLst>
      <p:ext uri="{BB962C8B-B14F-4D97-AF65-F5344CB8AC3E}">
        <p14:creationId xmlns:p14="http://schemas.microsoft.com/office/powerpoint/2010/main" val="26818674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D34EC-275C-9B1A-B8EF-AA18C2305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A4623-E6D3-C21B-C613-5E96AE971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B12E8-FD32-E242-C48F-7E2DF1A6A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partial correlation?</a:t>
            </a:r>
          </a:p>
        </p:txBody>
      </p:sp>
    </p:spTree>
    <p:extLst>
      <p:ext uri="{BB962C8B-B14F-4D97-AF65-F5344CB8AC3E}">
        <p14:creationId xmlns:p14="http://schemas.microsoft.com/office/powerpoint/2010/main" val="29328382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B5634-1B14-DBD2-42B4-709F60E25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B2F9C-1D5B-1663-B171-CDB42453A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 on a (g)</a:t>
            </a:r>
            <a:r>
              <a:rPr lang="en-US" dirty="0" err="1"/>
              <a:t>lm</a:t>
            </a:r>
            <a:r>
              <a:rPr lang="en-US" dirty="0"/>
              <a:t>() - $200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08520-8944-6973-C0BA-55E643396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This symbol separates your outcome variable from your predictor variable(s) in both the </a:t>
            </a:r>
            <a:r>
              <a:rPr lang="en-US" sz="4400" dirty="0" err="1"/>
              <a:t>lm</a:t>
            </a:r>
            <a:r>
              <a:rPr lang="en-US" sz="4400" dirty="0"/>
              <a:t>() and </a:t>
            </a:r>
            <a:r>
              <a:rPr lang="en-US" sz="4400" dirty="0" err="1"/>
              <a:t>glm</a:t>
            </a:r>
            <a:r>
              <a:rPr lang="en-US" sz="4400" dirty="0"/>
              <a:t>() functions.</a:t>
            </a:r>
          </a:p>
        </p:txBody>
      </p:sp>
    </p:spTree>
    <p:extLst>
      <p:ext uri="{BB962C8B-B14F-4D97-AF65-F5344CB8AC3E}">
        <p14:creationId xmlns:p14="http://schemas.microsoft.com/office/powerpoint/2010/main" val="32200317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53E84-0CD3-9E75-BF71-E1D4589E8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7045B-5173-6CB6-6AD8-C24E1BB0F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AE1EC-74AF-0E40-2B50-02AD1973D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~?</a:t>
            </a:r>
          </a:p>
        </p:txBody>
      </p:sp>
    </p:spTree>
    <p:extLst>
      <p:ext uri="{BB962C8B-B14F-4D97-AF65-F5344CB8AC3E}">
        <p14:creationId xmlns:p14="http://schemas.microsoft.com/office/powerpoint/2010/main" val="573124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66435-CAFB-91CF-30BB-9AF2E4C18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16DDF-FD68-7488-5827-DDFE4E68B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 on a (g)</a:t>
            </a:r>
            <a:r>
              <a:rPr lang="en-US" dirty="0" err="1"/>
              <a:t>lm</a:t>
            </a:r>
            <a:r>
              <a:rPr lang="en-US" dirty="0"/>
              <a:t>()-$400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C961C-6862-513E-428C-697F5CD4F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To include multiple predictors in our model, we use this symbol between their names.</a:t>
            </a:r>
          </a:p>
        </p:txBody>
      </p:sp>
    </p:spTree>
    <p:extLst>
      <p:ext uri="{BB962C8B-B14F-4D97-AF65-F5344CB8AC3E}">
        <p14:creationId xmlns:p14="http://schemas.microsoft.com/office/powerpoint/2010/main" val="13049402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EACD5-0B54-2AA5-4F1F-B30A180FF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CD509-D6CD-6201-E530-FFA93AFE7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0DFAA-B8CB-04C6-339E-06AB5283D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+?</a:t>
            </a:r>
          </a:p>
        </p:txBody>
      </p:sp>
    </p:spTree>
    <p:extLst>
      <p:ext uri="{BB962C8B-B14F-4D97-AF65-F5344CB8AC3E}">
        <p14:creationId xmlns:p14="http://schemas.microsoft.com/office/powerpoint/2010/main" val="13472470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2DFDD-7EE2-E885-2DE8-B0812533B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38E1D-9139-1216-1374-D7F59C0BD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 on a (g)</a:t>
            </a:r>
            <a:r>
              <a:rPr lang="en-US" dirty="0" err="1"/>
              <a:t>lm</a:t>
            </a:r>
            <a:r>
              <a:rPr lang="en-US" dirty="0"/>
              <a:t>()-$600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319B9-FD37-DEB9-D90B-00B8A087A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For a linear model saved as “</a:t>
            </a:r>
            <a:r>
              <a:rPr lang="en-US" sz="4400" dirty="0" err="1"/>
              <a:t>fit_lm</a:t>
            </a:r>
            <a:r>
              <a:rPr lang="en-US" sz="4400" dirty="0"/>
              <a:t>”, the results of this test are printed in the last line of the output of summary(</a:t>
            </a:r>
            <a:r>
              <a:rPr lang="en-US" sz="4400" dirty="0" err="1"/>
              <a:t>fit_lm</a:t>
            </a:r>
            <a:r>
              <a:rPr lang="en-US" sz="44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9726356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64325-762E-5680-057B-4EEC43D4F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38917-7106-4549-1CBF-F0BEC8689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3DC79-B92D-67C3-0968-613780804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an F-test?</a:t>
            </a:r>
          </a:p>
        </p:txBody>
      </p:sp>
    </p:spTree>
    <p:extLst>
      <p:ext uri="{BB962C8B-B14F-4D97-AF65-F5344CB8AC3E}">
        <p14:creationId xmlns:p14="http://schemas.microsoft.com/office/powerpoint/2010/main" val="41689357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736CE-8BE4-1D09-9A6F-9F169D45C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BAC77-DB81-9758-D0F9-1D55E012B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 on a (g)</a:t>
            </a:r>
            <a:r>
              <a:rPr lang="en-US" dirty="0" err="1"/>
              <a:t>lm</a:t>
            </a:r>
            <a:r>
              <a:rPr lang="en-US" dirty="0"/>
              <a:t>()-$800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52AB6-4CF5-84E5-5679-7CC8467BC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To include an interaction term between two predictors in our model, we use this symbol between their names.</a:t>
            </a:r>
          </a:p>
          <a:p>
            <a:pPr marL="0" indent="0" fontAlgn="ctr">
              <a:buNone/>
            </a:pP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7296478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217F4-FCEF-4471-3326-79757DB03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A97D1-F2C5-2D97-4CA3-0ACDCA75A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03830-7389-4FE3-4AAE-731D16D8F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*?</a:t>
            </a:r>
          </a:p>
        </p:txBody>
      </p:sp>
    </p:spTree>
    <p:extLst>
      <p:ext uri="{BB962C8B-B14F-4D97-AF65-F5344CB8AC3E}">
        <p14:creationId xmlns:p14="http://schemas.microsoft.com/office/powerpoint/2010/main" val="806786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63600-9F53-25AA-BCD1-424BF02C2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DA6E3-14BC-0732-3594-438F6392D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 on a (g)</a:t>
            </a:r>
            <a:r>
              <a:rPr lang="en-US" dirty="0" err="1"/>
              <a:t>lm</a:t>
            </a:r>
            <a:r>
              <a:rPr lang="en-US" dirty="0"/>
              <a:t>()-$1000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248C2-5CBC-5B59-8A88-A4EE2ECCF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This argument is included in the </a:t>
            </a:r>
            <a:r>
              <a:rPr lang="en-US" sz="4400" dirty="0" err="1"/>
              <a:t>glm</a:t>
            </a:r>
            <a:r>
              <a:rPr lang="en-US" sz="4400" dirty="0"/>
              <a:t>() function to indicate a binary outcome.</a:t>
            </a:r>
          </a:p>
        </p:txBody>
      </p:sp>
    </p:spTree>
    <p:extLst>
      <p:ext uri="{BB962C8B-B14F-4D97-AF65-F5344CB8AC3E}">
        <p14:creationId xmlns:p14="http://schemas.microsoft.com/office/powerpoint/2010/main" val="18330648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7D439-801D-8B46-8C15-1E6350BCB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317AC-2C71-34DC-9203-55FE5F5FD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EDB62-06FF-ED0B-4EFE-AF4A60977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family = “binomial”?</a:t>
            </a:r>
          </a:p>
        </p:txBody>
      </p:sp>
    </p:spTree>
    <p:extLst>
      <p:ext uri="{BB962C8B-B14F-4D97-AF65-F5344CB8AC3E}">
        <p14:creationId xmlns:p14="http://schemas.microsoft.com/office/powerpoint/2010/main" val="12792735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DBCD2-33FC-8940-56E0-CE218E251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0F00B-054A-2ACD-C724-A57883CB3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 - $200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65E6B7-A48D-69A5-B386-C90D596FF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311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This assumption means that each observation provides unique information.</a:t>
            </a:r>
          </a:p>
        </p:txBody>
      </p:sp>
    </p:spTree>
    <p:extLst>
      <p:ext uri="{BB962C8B-B14F-4D97-AF65-F5344CB8AC3E}">
        <p14:creationId xmlns:p14="http://schemas.microsoft.com/office/powerpoint/2010/main" val="36933266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4853E-C150-C41F-0EF2-69DE0766A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31F6C-ED52-1EE8-2C02-B4D4C5D77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DDF78-5DBF-742E-FB31-97F2C280A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independence?</a:t>
            </a:r>
          </a:p>
        </p:txBody>
      </p:sp>
    </p:spTree>
    <p:extLst>
      <p:ext uri="{BB962C8B-B14F-4D97-AF65-F5344CB8AC3E}">
        <p14:creationId xmlns:p14="http://schemas.microsoft.com/office/powerpoint/2010/main" val="41812159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41A8E-3BBB-822D-92D2-4F0F3DD52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73FBE-126D-C803-5175-6B170B281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 - $400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1A060B-C3E4-676C-3E81-CAC0AA704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A histogram of these values can be used to test the normality assumption for linear models.</a:t>
            </a:r>
          </a:p>
        </p:txBody>
      </p:sp>
    </p:spTree>
    <p:extLst>
      <p:ext uri="{BB962C8B-B14F-4D97-AF65-F5344CB8AC3E}">
        <p14:creationId xmlns:p14="http://schemas.microsoft.com/office/powerpoint/2010/main" val="9902647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6E934-6879-1167-85B2-34DEF107A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CC57F-E945-972F-F468-725AA155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D4910-6C56-B599-3126-A6FF3ED0B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are residuals?</a:t>
            </a:r>
          </a:p>
        </p:txBody>
      </p:sp>
    </p:spTree>
    <p:extLst>
      <p:ext uri="{BB962C8B-B14F-4D97-AF65-F5344CB8AC3E}">
        <p14:creationId xmlns:p14="http://schemas.microsoft.com/office/powerpoint/2010/main" val="13347499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9CB01-AA8F-46C4-CA33-08725A894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2EC14-7698-4ED0-43D7-C1C180592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Assumptions-$600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B0FEDC-10AA-68E3-BF61-68F3AA163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A scatterplot of these two quantities can be used to test the constant variance and linearity assumptions.</a:t>
            </a:r>
          </a:p>
        </p:txBody>
      </p:sp>
    </p:spTree>
    <p:extLst>
      <p:ext uri="{BB962C8B-B14F-4D97-AF65-F5344CB8AC3E}">
        <p14:creationId xmlns:p14="http://schemas.microsoft.com/office/powerpoint/2010/main" val="11236149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39260-AC1A-1229-6D34-184525600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52A2D-077E-C312-7DEE-02F5E6082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5BF05-C8C5-4A38-443B-33869769B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are residuals and fitted values?</a:t>
            </a:r>
          </a:p>
        </p:txBody>
      </p:sp>
    </p:spTree>
    <p:extLst>
      <p:ext uri="{BB962C8B-B14F-4D97-AF65-F5344CB8AC3E}">
        <p14:creationId xmlns:p14="http://schemas.microsoft.com/office/powerpoint/2010/main" val="28941348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E77D1-2F7C-3612-C301-643F78C8D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B34EB-584E-501E-E536-141ECD880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Assumptions-$800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B3855F-5C20-5D4D-BC6C-0C868E450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This phrase is a more formal version of the constant variance assumption.</a:t>
            </a:r>
          </a:p>
        </p:txBody>
      </p:sp>
    </p:spTree>
    <p:extLst>
      <p:ext uri="{BB962C8B-B14F-4D97-AF65-F5344CB8AC3E}">
        <p14:creationId xmlns:p14="http://schemas.microsoft.com/office/powerpoint/2010/main" val="28648479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150F7-D2E8-80C5-3B98-A5CD30DCA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691EA-647F-13F5-E83D-BC80A398D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7F70A-8C7C-5826-78F1-651150EC8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the homogeneity of variance assumption?</a:t>
            </a:r>
          </a:p>
        </p:txBody>
      </p:sp>
    </p:spTree>
    <p:extLst>
      <p:ext uri="{BB962C8B-B14F-4D97-AF65-F5344CB8AC3E}">
        <p14:creationId xmlns:p14="http://schemas.microsoft.com/office/powerpoint/2010/main" val="27578090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CC147-6162-9057-F963-37FB5D770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1AD58-BC10-91E5-A6E4-E7686B51A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 - $1000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AD1A6C-C1DF-6331-896F-C84A5F2C7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This phrase describes the process of checking assumptions within a regression model.</a:t>
            </a:r>
          </a:p>
        </p:txBody>
      </p:sp>
    </p:spTree>
    <p:extLst>
      <p:ext uri="{BB962C8B-B14F-4D97-AF65-F5344CB8AC3E}">
        <p14:creationId xmlns:p14="http://schemas.microsoft.com/office/powerpoint/2010/main" val="37278472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F2B30-D365-AE19-2E4F-58FD0242A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4C8AC-8B8B-3525-FA1A-4983F29CE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2C902-301A-1E8B-A6B5-08CB471AE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regression diagnostics?</a:t>
            </a:r>
          </a:p>
        </p:txBody>
      </p:sp>
    </p:spTree>
    <p:extLst>
      <p:ext uri="{BB962C8B-B14F-4D97-AF65-F5344CB8AC3E}">
        <p14:creationId xmlns:p14="http://schemas.microsoft.com/office/powerpoint/2010/main" val="35829238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01774-A817-04C4-2EE9-61EF46844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9A7BE-C539-6EF5-24E9-BB86AC912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Beating the Odds-$200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6EEB6-3BE2-BBB1-7FFB-BED8EF562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For an event with probability </a:t>
            </a:r>
            <a:r>
              <a:rPr lang="en-US" sz="4400" i="1" dirty="0"/>
              <a:t>p</a:t>
            </a:r>
            <a:r>
              <a:rPr lang="en-US" sz="4400" dirty="0"/>
              <a:t>, we can use this expression to calculate the odds of that event.</a:t>
            </a:r>
          </a:p>
        </p:txBody>
      </p:sp>
    </p:spTree>
    <p:extLst>
      <p:ext uri="{BB962C8B-B14F-4D97-AF65-F5344CB8AC3E}">
        <p14:creationId xmlns:p14="http://schemas.microsoft.com/office/powerpoint/2010/main" val="28914684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F14C6-DFFE-6843-ED20-C64426BB4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3C605-B8CB-0297-A6E7-31CA93DF0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B4555-CC47-9A7C-88F4-66A9562BE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p/(1-p)?</a:t>
            </a:r>
          </a:p>
        </p:txBody>
      </p:sp>
    </p:spTree>
    <p:extLst>
      <p:ext uri="{BB962C8B-B14F-4D97-AF65-F5344CB8AC3E}">
        <p14:creationId xmlns:p14="http://schemas.microsoft.com/office/powerpoint/2010/main" val="19205834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EFFC7-7882-6B2F-4650-EADD1ADCD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6232F-BD86-4140-5A5A-643891C1A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Beating the Odds-$400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4B86E-A741-D849-496B-1D22D9650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This type of model often uses odds in its interpretation of coefficients.</a:t>
            </a:r>
          </a:p>
        </p:txBody>
      </p:sp>
    </p:spTree>
    <p:extLst>
      <p:ext uri="{BB962C8B-B14F-4D97-AF65-F5344CB8AC3E}">
        <p14:creationId xmlns:p14="http://schemas.microsoft.com/office/powerpoint/2010/main" val="7968402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1F7CB-09E2-11D3-B16E-0A14F0346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EE06F-FF34-9B8B-D803-0C19F798C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0155B-6227-81E3-4290-48E770F5C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logistic regression?</a:t>
            </a:r>
          </a:p>
        </p:txBody>
      </p:sp>
    </p:spTree>
    <p:extLst>
      <p:ext uri="{BB962C8B-B14F-4D97-AF65-F5344CB8AC3E}">
        <p14:creationId xmlns:p14="http://schemas.microsoft.com/office/powerpoint/2010/main" val="27462290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44867-A304-46CD-F996-C8B7CAD9D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CA1E5-F2E4-25C6-AFA4-DA9971B31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Beating the Odds-$600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A1863-A831-E3EF-4388-249BD502E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This function is applied to coefficients of logistic regression models for the odds ratio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16454272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44886-CD1D-1F23-2AF5-509D84EF2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358BB-01E7-3224-3C82-A48749F77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1DDE5-0056-D492-83AE-2360AC220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exp()?</a:t>
            </a:r>
          </a:p>
        </p:txBody>
      </p:sp>
    </p:spTree>
    <p:extLst>
      <p:ext uri="{BB962C8B-B14F-4D97-AF65-F5344CB8AC3E}">
        <p14:creationId xmlns:p14="http://schemas.microsoft.com/office/powerpoint/2010/main" val="38945173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B4556-39C9-1681-6E72-441CBB550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2831B-9789-EA75-F28B-03BB3BECA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Beating the Odds-$800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A58C0-334E-F69B-B9A4-9FDFDD75C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This is the formal name for the log-odds.</a:t>
            </a:r>
          </a:p>
        </p:txBody>
      </p:sp>
    </p:spTree>
    <p:extLst>
      <p:ext uri="{BB962C8B-B14F-4D97-AF65-F5344CB8AC3E}">
        <p14:creationId xmlns:p14="http://schemas.microsoft.com/office/powerpoint/2010/main" val="40036941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3F47A-5538-6942-DBBA-BD3B63179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5777E-7398-C240-8397-07637BE4B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EB08B-1085-E979-9AF6-12DF5B927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logit?</a:t>
            </a:r>
          </a:p>
        </p:txBody>
      </p:sp>
    </p:spTree>
    <p:extLst>
      <p:ext uri="{BB962C8B-B14F-4D97-AF65-F5344CB8AC3E}">
        <p14:creationId xmlns:p14="http://schemas.microsoft.com/office/powerpoint/2010/main" val="3137144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9FD7D-E3FB-3CBC-403C-28A279360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BD6F4-D7A6-70EB-C76B-F12374170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Beating the Odds-$1000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05C3D-6D0E-FA18-99E5-7789FC4AC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In a logistic regression model, a coefficient with this value is equivalent to an odds ratio of 1.</a:t>
            </a:r>
          </a:p>
        </p:txBody>
      </p:sp>
    </p:spTree>
    <p:extLst>
      <p:ext uri="{BB962C8B-B14F-4D97-AF65-F5344CB8AC3E}">
        <p14:creationId xmlns:p14="http://schemas.microsoft.com/office/powerpoint/2010/main" val="2569025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6F46C-5070-795E-F5EC-241408971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5D9CD-5185-AFF7-B364-7EF022706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9AC10-5A2F-B2A3-2DC2-EAFDCFE10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zero?</a:t>
            </a:r>
          </a:p>
        </p:txBody>
      </p:sp>
    </p:spTree>
    <p:extLst>
      <p:ext uri="{BB962C8B-B14F-4D97-AF65-F5344CB8AC3E}">
        <p14:creationId xmlns:p14="http://schemas.microsoft.com/office/powerpoint/2010/main" val="27135695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3A3A8-BCD9-481B-E1E2-742630661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EA865-95AA-E906-3E54-ED662829B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Interpretation, Not Interpolation-$200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B8AF0-EBE4-5165-EF34-ED9DF5AAD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In a simple linear regression model, the slope of a continuous predictor corresponds to the change in outcome for this change in that predictor. </a:t>
            </a:r>
          </a:p>
        </p:txBody>
      </p:sp>
    </p:spTree>
    <p:extLst>
      <p:ext uri="{BB962C8B-B14F-4D97-AF65-F5344CB8AC3E}">
        <p14:creationId xmlns:p14="http://schemas.microsoft.com/office/powerpoint/2010/main" val="42192494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00F9E-75F1-8AA6-735E-AE10D59B4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379D4-D7B9-CB14-108B-7C2AF44E5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9E7EB-13B0-743E-FABE-6135F7621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a one-unit increase?</a:t>
            </a:r>
          </a:p>
        </p:txBody>
      </p:sp>
    </p:spTree>
    <p:extLst>
      <p:ext uri="{BB962C8B-B14F-4D97-AF65-F5344CB8AC3E}">
        <p14:creationId xmlns:p14="http://schemas.microsoft.com/office/powerpoint/2010/main" val="28597186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AC64F-3244-2895-4473-E64071EB4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3E609-02E3-B563-2B11-BC2657977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Interpretation, Not Interpolation-$400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212A-C9E6-007B-BDE1-7B4A69455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In a multivariable linear regression model, this interpretation is used for the coefficient of a dummy variable for a categorical variable with a reference category.</a:t>
            </a:r>
          </a:p>
        </p:txBody>
      </p:sp>
    </p:spTree>
    <p:extLst>
      <p:ext uri="{BB962C8B-B14F-4D97-AF65-F5344CB8AC3E}">
        <p14:creationId xmlns:p14="http://schemas.microsoft.com/office/powerpoint/2010/main" val="219840898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108A0-5BE9-C12F-580A-A887CF1E3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E427-B3E0-A637-07E0-E7CC1CCAF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D79DB-2B9E-3328-C04C-98968AB92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the difference in predicted outcome compared to the reference category (holding all other variables constant)?</a:t>
            </a:r>
          </a:p>
        </p:txBody>
      </p:sp>
    </p:spTree>
    <p:extLst>
      <p:ext uri="{BB962C8B-B14F-4D97-AF65-F5344CB8AC3E}">
        <p14:creationId xmlns:p14="http://schemas.microsoft.com/office/powerpoint/2010/main" val="37274346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1ACFF-D4E3-50CB-B617-9AC8D3021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DBE3F-B391-2521-D1A6-FD6D6358E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Interpretation, Not Interpolation-$600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1D78C-E707-C04A-CAAB-B49154CAD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In a linear model with only a four-level categorical predictor, this coefficient is interpreted as the expected outcome for a sample in the reference category. </a:t>
            </a:r>
          </a:p>
        </p:txBody>
      </p:sp>
    </p:spTree>
    <p:extLst>
      <p:ext uri="{BB962C8B-B14F-4D97-AF65-F5344CB8AC3E}">
        <p14:creationId xmlns:p14="http://schemas.microsoft.com/office/powerpoint/2010/main" val="351826738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A832C-AEFE-46B7-30CF-B92C9E6C8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6D5D0-3358-09DC-9C06-35CCA53D0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F6EE67-E5A4-AA7D-9F2C-C00D42DE3E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 fontAlgn="ctr">
                  <a:buNone/>
                </a:pPr>
                <a:r>
                  <a:rPr lang="en-US" sz="4400" b="1" dirty="0"/>
                  <a:t>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4400" b="1" i="1" smtClean="0"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l-GR" sz="4400" b="1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4400" b="1" dirty="0"/>
                  <a:t>?</a:t>
                </a:r>
                <a:endParaRPr lang="el-GR" sz="4400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F6EE67-E5A4-AA7D-9F2C-C00D42DE3E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37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863895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94CA5-B13B-828B-6C9C-D5439B113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55055-5687-7F50-D66A-F8A945176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Interpretation, Not Interpolation - $800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72B1B-90C7-E729-DFD9-CC4201F80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In a simple linear regression, this is required for the intercept to be interpretable.</a:t>
            </a:r>
          </a:p>
        </p:txBody>
      </p:sp>
    </p:spTree>
    <p:extLst>
      <p:ext uri="{BB962C8B-B14F-4D97-AF65-F5344CB8AC3E}">
        <p14:creationId xmlns:p14="http://schemas.microsoft.com/office/powerpoint/2010/main" val="11237779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D94C1-3246-EAEE-782A-6733210BD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EF76A-D8C7-D2A1-06C6-3919F15A5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02FC5-0290-D412-4494-63A0B06F4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a predictor that can take on values at or near 0?</a:t>
            </a:r>
          </a:p>
        </p:txBody>
      </p:sp>
    </p:spTree>
    <p:extLst>
      <p:ext uri="{BB962C8B-B14F-4D97-AF65-F5344CB8AC3E}">
        <p14:creationId xmlns:p14="http://schemas.microsoft.com/office/powerpoint/2010/main" val="358237144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FAA3E-FEF9-E130-21AE-13CDAD4DB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2EFDA-05D1-A194-8763-B66C1A0F7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Interpretation, Not Interpolation-$1000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82089-506E-BA24-F704-C6966F8F6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This is the general version (in words) of the interpretation of the alternative hypothesis for the null hypothesis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37177A-8637-9513-4A03-948C68D7C28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750756" y="3093156"/>
            <a:ext cx="1676400" cy="50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9639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4CE43-2615-4A67-3CFF-D511E1685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2E9B0-7522-A5E7-AAFF-C59C2D83D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30F860-183D-4072-AB53-655EC90128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 fontAlgn="ctr">
                  <a:buNone/>
                </a:pPr>
                <a:r>
                  <a:rPr lang="en-US" sz="4400" b="1" dirty="0"/>
                  <a:t>What is there is a linear association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4400" b="1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sz="4400" b="1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4400" b="1" dirty="0"/>
                  <a:t> and the outcome?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30F860-183D-4072-AB53-655EC90128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37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582433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8413F-4556-7C71-1E86-3BA240BBB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03F01-972C-817A-90F1-5C52C9B20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Miscellany-$200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B7959-9E90-C6D7-59CB-ABE2F77FC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The test statistic for testing a single coefficient in a linear model follows this kind of distribution.</a:t>
            </a:r>
          </a:p>
        </p:txBody>
      </p:sp>
    </p:spTree>
    <p:extLst>
      <p:ext uri="{BB962C8B-B14F-4D97-AF65-F5344CB8AC3E}">
        <p14:creationId xmlns:p14="http://schemas.microsoft.com/office/powerpoint/2010/main" val="185850013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9A2B3-A890-68E9-D14A-A13DD5A5C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8179B-20FD-FC8B-AE61-A9B203A74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B560C-2663-C1BB-2A04-861444879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a t-distribution?</a:t>
            </a:r>
          </a:p>
        </p:txBody>
      </p:sp>
    </p:spTree>
    <p:extLst>
      <p:ext uri="{BB962C8B-B14F-4D97-AF65-F5344CB8AC3E}">
        <p14:creationId xmlns:p14="http://schemas.microsoft.com/office/powerpoint/2010/main" val="421142141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EC53D-DF5B-DE77-8D44-A5CB1E083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09A57-ECA9-04EE-A395-441BFA435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Miscellany-$400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5B0A4-E833-8901-7DFF-E34836301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When you think that the association between the outcome and a predictor changes depending on the value of another predictor, you include this type of term in your model.</a:t>
            </a:r>
          </a:p>
        </p:txBody>
      </p:sp>
    </p:spTree>
    <p:extLst>
      <p:ext uri="{BB962C8B-B14F-4D97-AF65-F5344CB8AC3E}">
        <p14:creationId xmlns:p14="http://schemas.microsoft.com/office/powerpoint/2010/main" val="76595654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21C68-EA2E-4D88-5553-713B795CA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DE123-ABFF-E9EC-8310-20EBD5AF7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F5BF8-64A1-F0FF-9E8A-BDFB13E26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an interaction term?</a:t>
            </a:r>
          </a:p>
        </p:txBody>
      </p:sp>
    </p:spTree>
    <p:extLst>
      <p:ext uri="{BB962C8B-B14F-4D97-AF65-F5344CB8AC3E}">
        <p14:creationId xmlns:p14="http://schemas.microsoft.com/office/powerpoint/2010/main" val="88976100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05D0C-8C7F-5BC0-0663-29E88ECE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A07C5-F39B-C4BA-0AA8-FA0FF0E6C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Miscellany-$600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5437C-8659-E29E-5B7F-DFE7CDBAB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This is the range of the log-odds function.</a:t>
            </a:r>
          </a:p>
        </p:txBody>
      </p:sp>
    </p:spTree>
    <p:extLst>
      <p:ext uri="{BB962C8B-B14F-4D97-AF65-F5344CB8AC3E}">
        <p14:creationId xmlns:p14="http://schemas.microsoft.com/office/powerpoint/2010/main" val="98240884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BB5C3-6984-4D22-042F-26F25ECB6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2B296-A6DB-6C33-BD35-8DC599685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516C7-0ADB-05A5-C097-87CB45A08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                     ?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BD1567-369A-7178-9A2F-5F5858EBEA4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836355" y="1907822"/>
            <a:ext cx="211897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1876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55CFE-577F-2061-96AA-0B1CA2183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5EE0D-80EF-AAD8-EE2B-C48DC430E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Miscellany-$800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0FCB8-FF77-DB60-5E6F-9D0BF2820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This R function produces a grid containing scatterplots, correlation values, and density estimates.</a:t>
            </a:r>
          </a:p>
          <a:p>
            <a:pPr marL="0" indent="0" fontAlgn="ctr">
              <a:buNone/>
            </a:pP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42443709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62283-DF92-EF71-D430-98C697C35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48B06-1DC5-DF9B-39F8-74A5485F1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21E41-71B7-8CE3-D06A-75D55A1B9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</a:t>
            </a:r>
            <a:r>
              <a:rPr lang="en-US" sz="4400" b="1" dirty="0" err="1"/>
              <a:t>ggpairs</a:t>
            </a:r>
            <a:r>
              <a:rPr lang="en-US" sz="4400" b="1" dirty="0"/>
              <a:t>()?</a:t>
            </a:r>
          </a:p>
        </p:txBody>
      </p:sp>
    </p:spTree>
    <p:extLst>
      <p:ext uri="{BB962C8B-B14F-4D97-AF65-F5344CB8AC3E}">
        <p14:creationId xmlns:p14="http://schemas.microsoft.com/office/powerpoint/2010/main" val="47897097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0467E-2441-6779-77F8-559FA096D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44103-A36C-87D0-E31E-80142B559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Miscellany-$1000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09AFB-663C-8E3E-8B91-70A95A943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This function can be used to change the reference category manually in R.</a:t>
            </a:r>
          </a:p>
        </p:txBody>
      </p:sp>
    </p:spTree>
    <p:extLst>
      <p:ext uri="{BB962C8B-B14F-4D97-AF65-F5344CB8AC3E}">
        <p14:creationId xmlns:p14="http://schemas.microsoft.com/office/powerpoint/2010/main" val="198144976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882A8-FB3B-E902-A3B0-9152DD186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601E1-651A-6853-F759-8C7D7EF7F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183A7-90F7-4F12-257C-47DF4D2FA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</a:t>
            </a:r>
            <a:r>
              <a:rPr lang="en-US" sz="4400" b="1" dirty="0" err="1"/>
              <a:t>fct_relevel</a:t>
            </a:r>
            <a:r>
              <a:rPr lang="en-US" sz="4400" b="1" dirty="0"/>
              <a:t>()?</a:t>
            </a:r>
          </a:p>
        </p:txBody>
      </p:sp>
    </p:spTree>
    <p:extLst>
      <p:ext uri="{BB962C8B-B14F-4D97-AF65-F5344CB8AC3E}">
        <p14:creationId xmlns:p14="http://schemas.microsoft.com/office/powerpoint/2010/main" val="61216353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FADB7-AC94-EC32-1E8B-2365916D7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29217-20DB-695C-8645-157AB7806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76200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E667F-E4FE-B985-EE5E-6D0113D6D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Jeopardy – Hypothesis Testing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1B992-4739-CBBA-7A5D-9B240FB20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93596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FBF47-04B4-17D9-0C0E-BDA1939D2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Jeopardy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8BFCD-7593-DBBE-819B-B6466D026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You decide to run a multivariable linear regression model to evaluate the association between treatment and systolic blood pressure for a clinical trial with 750 participants. You have reason to believe that this association changes depending on disease stage (1, 2, or 3) and a patient’s age (continuous). This is your model: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This is the distribution of the test statistic for the overall F-test on your model.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8FBEB5-AD94-07E1-4793-0C9BA22C60C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98312" y="3668888"/>
            <a:ext cx="10448544" cy="66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72032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F6F1F2-981F-4D6E-0679-9A44C66605C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49421" y="1542572"/>
            <a:ext cx="1309511" cy="5290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EFFCE94-1A01-4970-AC08-91949AF06E60}"/>
              </a:ext>
            </a:extLst>
          </p:cNvPr>
          <p:cNvSpPr txBox="1"/>
          <p:nvPr/>
        </p:nvSpPr>
        <p:spPr>
          <a:xfrm>
            <a:off x="2348089" y="1422400"/>
            <a:ext cx="406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What is               ?</a:t>
            </a:r>
          </a:p>
        </p:txBody>
      </p:sp>
    </p:spTree>
    <p:extLst>
      <p:ext uri="{BB962C8B-B14F-4D97-AF65-F5344CB8AC3E}">
        <p14:creationId xmlns:p14="http://schemas.microsoft.com/office/powerpoint/2010/main" val="149804279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A0409-5167-078C-F696-E4DA68616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95FA9-2E52-CDDF-1D0A-D4FB66B9B5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45777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2"/>
  <p:tag name="ORIGINALWIDTH" val=" 375"/>
  <p:tag name="OUTPUTTYPE" val="PNG"/>
  <p:tag name="IGUANATEXVERSION" val="162"/>
  <p:tag name="LATEXADDIN" val="\documentclass{article}&#10;\usepackage{amsmath}&#10;\pagestyle{empty}&#10;\begin{document}&#10;&#10;&#10;$\beta_1 = 0.$&#10;&#10;\end{document}"/>
  <p:tag name="IGUANATEXSIZE" val="44"/>
  <p:tag name="IGUANATEXCURSOR" val="95"/>
  <p:tag name="TRANSPARENCY" val="True"/>
  <p:tag name="CHOOSECOLOR" val="False"/>
  <p:tag name="COLORHEX" val="000000"/>
  <p:tag name="LATEXENGINEID" val="0"/>
  <p:tag name="TEMPFOLDER" val="/Users/mollyhoch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"/>
  <p:tag name="ORIGINALWIDTH" val=" 474"/>
  <p:tag name="OUTPUTTYPE" val="PNG"/>
  <p:tag name="IGUANATEXVERSION" val="162"/>
  <p:tag name="LATEXADDIN" val="\documentclass{article}&#10;\usepackage{amsmath}&#10;\pagestyle{empty}&#10;\begin{document}&#10;&#10;&#10;$(-\infty, \infty)$&#10;&#10;\end{document}"/>
  <p:tag name="IGUANATEXSIZE" val="44"/>
  <p:tag name="IGUANATEXCURSOR" val="100"/>
  <p:tag name="TRANSPARENCY" val="True"/>
  <p:tag name="CHOOSECOLOR" val="False"/>
  <p:tag name="COLORHEX" val="000000"/>
  <p:tag name="LATEXENGINEID" val="0"/>
  <p:tag name="TEMPFOLDER" val="/Users/mollyhoch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74"/>
  <p:tag name="ORIGINALWIDTH" val=" 4285"/>
  <p:tag name="OUTPUTTYPE" val="PNG"/>
  <p:tag name="IGUANATEXVERSION" val="162"/>
  <p:tag name="LATEXADDIN" val="\documentclass{article}&#10;\usepackage{amsmath}&#10;\pagestyle{empty}&#10;\begin{document}&#10;&#10;&#10;$SBP_i = \beta_0 + \beta_1 trt_i + \beta_2 (stage == 2)_i + \beta_3 (stage == 3)_i + \beta_4 age_i + \beta_5 (trt_i)(stage == 2)_i + \beta_6 (trt_i)(stage == 3)_i + \beta_7 (trt_i)(age_i) + \epsilon_i$&#10;&#10;\end{document}"/>
  <p:tag name="IGUANATEXSIZE" val="24"/>
  <p:tag name="IGUANATEXCURSOR" val="283"/>
  <p:tag name="TRANSPARENCY" val="True"/>
  <p:tag name="CHOOSECOLOR" val="False"/>
  <p:tag name="COLORHEX" val="000000"/>
  <p:tag name="LATEXENGINEID" val="0"/>
  <p:tag name="TEMPFOLDER" val="/Users/mollyhoch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0"/>
  <p:tag name="ORIGINALWIDTH" val=" 297"/>
  <p:tag name="OUTPUTTYPE" val="PNG"/>
  <p:tag name="IGUANATEXVERSION" val="162"/>
  <p:tag name="LATEXADDIN" val="\documentclass{article}&#10;\usepackage{amsmath}&#10;\pagestyle{empty}&#10;\begin{document}&#10;&#10;&#10;$F_{7, 742}$&#10;&#10;\end{document}"/>
  <p:tag name="IGUANATEXSIZE" val="20"/>
  <p:tag name="IGUANATEXCURSOR" val="92"/>
  <p:tag name="TRANSPARENCY" val="True"/>
  <p:tag name="CHOOSECOLOR" val="False"/>
  <p:tag name="COLORHEX" val="000000"/>
  <p:tag name="LATEXENGINEID" val="0"/>
  <p:tag name="TEMPFOLDER" val="/Users/mollyhoch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1733</TotalTime>
  <Words>1446</Words>
  <Application>Microsoft Macintosh PowerPoint</Application>
  <PresentationFormat>Widescreen</PresentationFormat>
  <Paragraphs>159</Paragraphs>
  <Slides>73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8" baseType="lpstr">
      <vt:lpstr>Aptos</vt:lpstr>
      <vt:lpstr>Aptos Display</vt:lpstr>
      <vt:lpstr>Arial</vt:lpstr>
      <vt:lpstr>Cambria Math</vt:lpstr>
      <vt:lpstr>Office Theme</vt:lpstr>
      <vt:lpstr>Final Exam Review</vt:lpstr>
      <vt:lpstr>Announcements</vt:lpstr>
      <vt:lpstr>Exam Info</vt:lpstr>
      <vt:lpstr>Jeopardy game</vt:lpstr>
      <vt:lpstr>Set-up/Rules</vt:lpstr>
      <vt:lpstr>Set-up/Rules</vt:lpstr>
      <vt:lpstr>Two Final Rules</vt:lpstr>
      <vt:lpstr>PowerPoint Presentation</vt:lpstr>
      <vt:lpstr>Correlation Station-$200</vt:lpstr>
      <vt:lpstr>PowerPoint Presentation</vt:lpstr>
      <vt:lpstr>Correlation Station-$400</vt:lpstr>
      <vt:lpstr>PowerPoint Presentation</vt:lpstr>
      <vt:lpstr>Correlation Station-$600</vt:lpstr>
      <vt:lpstr>PowerPoint Presentation</vt:lpstr>
      <vt:lpstr>Correlation Station-$800</vt:lpstr>
      <vt:lpstr>PowerPoint Presentation</vt:lpstr>
      <vt:lpstr>Correlation Station-$1000</vt:lpstr>
      <vt:lpstr>PowerPoint Presentation</vt:lpstr>
      <vt:lpstr>Out on a (g)lm() - $200</vt:lpstr>
      <vt:lpstr>PowerPoint Presentation</vt:lpstr>
      <vt:lpstr>Out on a (g)lm()-$400</vt:lpstr>
      <vt:lpstr>PowerPoint Presentation</vt:lpstr>
      <vt:lpstr>Out on a (g)lm()-$600</vt:lpstr>
      <vt:lpstr>PowerPoint Presentation</vt:lpstr>
      <vt:lpstr>Out on a (g)lm()-$800</vt:lpstr>
      <vt:lpstr>PowerPoint Presentation</vt:lpstr>
      <vt:lpstr>Out on a (g)lm()-$1000</vt:lpstr>
      <vt:lpstr>PowerPoint Presentation</vt:lpstr>
      <vt:lpstr>Assumptions - $200</vt:lpstr>
      <vt:lpstr>PowerPoint Presentation</vt:lpstr>
      <vt:lpstr>Assumptions - $400</vt:lpstr>
      <vt:lpstr>PowerPoint Presentation</vt:lpstr>
      <vt:lpstr>Assumptions-$600</vt:lpstr>
      <vt:lpstr>PowerPoint Presentation</vt:lpstr>
      <vt:lpstr>Assumptions-$800</vt:lpstr>
      <vt:lpstr>PowerPoint Presentation</vt:lpstr>
      <vt:lpstr>Assumptions - $1000</vt:lpstr>
      <vt:lpstr>PowerPoint Presentation</vt:lpstr>
      <vt:lpstr>Beating the Odds-$200</vt:lpstr>
      <vt:lpstr>PowerPoint Presentation</vt:lpstr>
      <vt:lpstr>Beating the Odds-$400</vt:lpstr>
      <vt:lpstr>PowerPoint Presentation</vt:lpstr>
      <vt:lpstr>Beating the Odds-$600</vt:lpstr>
      <vt:lpstr>PowerPoint Presentation</vt:lpstr>
      <vt:lpstr>Beating the Odds-$800</vt:lpstr>
      <vt:lpstr>PowerPoint Presentation</vt:lpstr>
      <vt:lpstr>Beating the Odds-$1000</vt:lpstr>
      <vt:lpstr>PowerPoint Presentation</vt:lpstr>
      <vt:lpstr>Interpretation, Not Interpolation-$200</vt:lpstr>
      <vt:lpstr>PowerPoint Presentation</vt:lpstr>
      <vt:lpstr>Interpretation, Not Interpolation-$400</vt:lpstr>
      <vt:lpstr>PowerPoint Presentation</vt:lpstr>
      <vt:lpstr>Interpretation, Not Interpolation-$600</vt:lpstr>
      <vt:lpstr>PowerPoint Presentation</vt:lpstr>
      <vt:lpstr>Interpretation, Not Interpolation - $800</vt:lpstr>
      <vt:lpstr>PowerPoint Presentation</vt:lpstr>
      <vt:lpstr>Interpretation, Not Interpolation-$1000</vt:lpstr>
      <vt:lpstr>PowerPoint Presentation</vt:lpstr>
      <vt:lpstr>Miscellany-$200</vt:lpstr>
      <vt:lpstr>PowerPoint Presentation</vt:lpstr>
      <vt:lpstr>Miscellany-$400</vt:lpstr>
      <vt:lpstr>PowerPoint Presentation</vt:lpstr>
      <vt:lpstr>Miscellany-$600</vt:lpstr>
      <vt:lpstr>PowerPoint Presentation</vt:lpstr>
      <vt:lpstr>Miscellany-$800</vt:lpstr>
      <vt:lpstr>PowerPoint Presentation</vt:lpstr>
      <vt:lpstr>Miscellany-$1000</vt:lpstr>
      <vt:lpstr>PowerPoint Presentation</vt:lpstr>
      <vt:lpstr>PowerPoint Presentation</vt:lpstr>
      <vt:lpstr>Final Jeopardy – Hypothesis Testing</vt:lpstr>
      <vt:lpstr>Final Jeopardy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Hoch, Margaret</dc:creator>
  <cp:lastModifiedBy>Hoch, Margaret</cp:lastModifiedBy>
  <cp:revision>12</cp:revision>
  <dcterms:created xsi:type="dcterms:W3CDTF">2026-06-30T16:46:06Z</dcterms:created>
  <dcterms:modified xsi:type="dcterms:W3CDTF">2026-07-23T15:02:29Z</dcterms:modified>
</cp:coreProperties>
</file>