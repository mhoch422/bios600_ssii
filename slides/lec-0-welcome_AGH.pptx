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60" Type="http://schemas.openxmlformats.org/officeDocument/2006/relationships/viewProps" Target="viewProps.xml" /><Relationship Id="rId59" Type="http://schemas.openxmlformats.org/officeDocument/2006/relationships/presProps" Target="presProps.xml" /><Relationship Id="rId1" Type="http://schemas.openxmlformats.org/officeDocument/2006/relationships/slideMaster" Target="slideMasters/slideMaster1.xml" /><Relationship Id="rId62" Type="http://schemas.openxmlformats.org/officeDocument/2006/relationships/tableStyles" Target="tableStyles.xml" /><Relationship Id="rId6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dstem.org/us/join/TaE2wk"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dstem.org/us/join/TaE2wk"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openintro.org/book/os/" TargetMode="External" /><Relationship Id="rId3" Type="http://schemas.openxmlformats.org/officeDocument/2006/relationships/hyperlink" Target="https://r4ds.had.co.nz/"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catalogofbias.org/biases/" TargetMode="External" /><Relationship Id="rId3" Type="http://schemas.openxmlformats.org/officeDocument/2006/relationships/image" Target="../media/image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33615345/" TargetMode="Externa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edium.com/@balajis/peer-review-of-covid-19-antibody-seroprevalence-in-santa-clara-county-california-1f6382258c25" TargetMode="Externa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5.png" /><Relationship Id="rId2" Type="http://schemas.openxmlformats.org/officeDocument/2006/relationships/image" Target="../media/image4.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mc.ncbi.nlm.nih.gov/articles/PMC5558155/"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nejm.org/doi/full/10.1056/NEJMsa1803972" TargetMode="Externa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mc.ncbi.nlm.nih.gov/articles/PMC6935062/"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Lec 1: Course overview &amp; What is statistical inference?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BIOS 600 - Summer Session II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 Meet Molly</a:t>
            </a:r>
          </a:p>
        </p:txBody>
      </p:sp>
      <p:sp>
        <p:nvSpPr>
          <p:cNvPr id="3" name="Content Placeholder 2"/>
          <p:cNvSpPr>
            <a:spLocks noGrp="1"/>
          </p:cNvSpPr>
          <p:nvPr>
            <p:ph idx="1"/>
          </p:nvPr>
        </p:nvSpPr>
        <p:spPr/>
        <p:txBody>
          <a:bodyPr/>
          <a:lstStyle/>
          <a:p>
            <a:pPr lvl="0"/>
            <a:r>
              <a:rPr/>
              <a:t>5th year PhD student, Department of Biostatistics</a:t>
            </a:r>
          </a:p>
          <a:p>
            <a:pPr lvl="0"/>
            <a:r>
              <a:rPr/>
              <a:t>Originally from Connecticut, but lived in Boston for 8 years before moving here</a:t>
            </a:r>
          </a:p>
          <a:p>
            <a:pPr lvl="0"/>
            <a:r>
              <a:rPr/>
              <a:t>Interests: Spending time outdoors, reading, watching movies</a:t>
            </a:r>
          </a:p>
          <a:p>
            <a:pPr lvl="0"/>
            <a:r>
              <a:rPr/>
              <a:t>Office Hours: Mondays and Wednesdays 1-3pm.</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Check out Ed Discussion</a:t>
            </a:r>
          </a:p>
        </p:txBody>
      </p:sp>
      <p:sp>
        <p:nvSpPr>
          <p:cNvPr id="3" name="Content Placeholder 2"/>
          <p:cNvSpPr>
            <a:spLocks noGrp="1"/>
          </p:cNvSpPr>
          <p:nvPr>
            <p:ph idx="1"/>
          </p:nvPr>
        </p:nvSpPr>
        <p:spPr/>
        <p:txBody>
          <a:bodyPr/>
          <a:lstStyle/>
          <a:p>
            <a:pPr lvl="0"/>
            <a:r>
              <a:rPr/>
              <a:t>This semester, you can ask questions about the class in our discussion forum, </a:t>
            </a:r>
            <a:r>
              <a:rPr>
                <a:hlinkClick r:id="rId2"/>
              </a:rPr>
              <a:t>Ed Discussion</a:t>
            </a:r>
          </a:p>
          <a:p>
            <a:pPr lvl="0"/>
            <a:r>
              <a:rPr/>
              <a:t>The link to join is also posted on our home page in Canvas.</a:t>
            </a:r>
          </a:p>
          <a:p>
            <a:pPr lvl="0"/>
            <a:r>
              <a:rPr/>
              <a:t>Take a moment to introduce yourself in the forum! Name, Year + Program, and a fun fact about yourself.</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overview: Canvas</a:t>
            </a:r>
          </a:p>
        </p:txBody>
      </p:sp>
      <p:sp>
        <p:nvSpPr>
          <p:cNvPr id="3" name="Content Placeholder 2"/>
          <p:cNvSpPr>
            <a:spLocks noGrp="1"/>
          </p:cNvSpPr>
          <p:nvPr>
            <p:ph idx="1"/>
          </p:nvPr>
        </p:nvSpPr>
        <p:spPr/>
        <p:txBody>
          <a:bodyPr/>
          <a:lstStyle/>
          <a:p>
            <a:pPr lvl="0"/>
            <a:r>
              <a:rPr/>
              <a:t>All course materials by day: syllabus, discussion forum link, class slides, lab materials, assignments</a:t>
            </a:r>
          </a:p>
          <a:p>
            <a:pPr lvl="0"/>
            <a:r>
              <a:rPr/>
              <a:t>Let’s take a tour!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toolkit</a:t>
            </a:r>
          </a:p>
        </p:txBody>
      </p:sp>
      <p:sp>
        <p:nvSpPr>
          <p:cNvPr id="3" name="Content Placeholder 2"/>
          <p:cNvSpPr>
            <a:spLocks noGrp="1"/>
          </p:cNvSpPr>
          <p:nvPr>
            <p:ph idx="1"/>
          </p:nvPr>
        </p:nvSpPr>
        <p:spPr/>
        <p:txBody>
          <a:bodyPr/>
          <a:lstStyle/>
          <a:p>
            <a:pPr lvl="0"/>
            <a:r>
              <a:rPr/>
              <a:t>RStudio</a:t>
            </a:r>
          </a:p>
          <a:p>
            <a:pPr lvl="0"/>
            <a:r>
              <a:rPr/>
              <a:t>Assignment submission and feedback: Gradescope</a:t>
            </a:r>
          </a:p>
          <a:p>
            <a:pPr lvl="0"/>
            <a:r>
              <a:rPr/>
              <a:t>Discussion forum: </a:t>
            </a:r>
            <a:r>
              <a:rPr>
                <a:hlinkClick r:id="rId2"/>
              </a:rPr>
              <a:t>Ed Discussion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have I gotten myself into?</a:t>
            </a:r>
          </a:p>
        </p:txBody>
      </p:sp>
      <p:sp>
        <p:nvSpPr>
          <p:cNvPr id="3" name="Content Placeholder 2"/>
          <p:cNvSpPr>
            <a:spLocks noGrp="1"/>
          </p:cNvSpPr>
          <p:nvPr>
            <p:ph idx="1"/>
          </p:nvPr>
        </p:nvSpPr>
        <p:spPr/>
        <p:txBody>
          <a:bodyPr/>
          <a:lstStyle/>
          <a:p>
            <a:pPr lvl="0"/>
            <a:r>
              <a:rPr/>
              <a:t>BIOS 600 is an introduction to “principles of statistical inference” in biostatistics that:</a:t>
            </a:r>
          </a:p>
          <a:p>
            <a:pPr lvl="1"/>
            <a:r>
              <a:rPr/>
              <a:t>provides a tour of basic statistical methods commonly encountered in public health and biomedical research,</a:t>
            </a:r>
          </a:p>
          <a:p>
            <a:pPr lvl="1"/>
            <a:r>
              <a:rPr/>
              <a:t>emphasizes understanding of methods, using them to arrive at data-driven decisions, and effective communication of such results.</a:t>
            </a:r>
          </a:p>
          <a:p>
            <a:pPr lvl="1"/>
            <a:r>
              <a:rPr/>
              <a:t>Utilizes modern software such as RStudio to reproducibly examine and manipulate data to make sound scientific conclusions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My goals in the course</a:t>
            </a:r>
          </a:p>
        </p:txBody>
      </p:sp>
      <p:sp>
        <p:nvSpPr>
          <p:cNvPr id="3" name="Content Placeholder 2"/>
          <p:cNvSpPr>
            <a:spLocks noGrp="1"/>
          </p:cNvSpPr>
          <p:nvPr>
            <p:ph idx="1"/>
          </p:nvPr>
        </p:nvSpPr>
        <p:spPr/>
        <p:txBody>
          <a:bodyPr/>
          <a:lstStyle/>
          <a:p>
            <a:pPr lvl="0"/>
            <a:r>
              <a:rPr/>
              <a:t>Introduce you to basic biostatistics toolkit so that you can apply it to your own projects in the future, if you choose!</a:t>
            </a:r>
          </a:p>
          <a:p>
            <a:pPr lvl="0"/>
            <a:r>
              <a:rPr/>
              <a:t>Build community!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Activities: Participate, Practice, Perform</a:t>
            </a:r>
          </a:p>
        </p:txBody>
      </p:sp>
      <p:sp>
        <p:nvSpPr>
          <p:cNvPr id="3" name="Content Placeholder 2"/>
          <p:cNvSpPr>
            <a:spLocks noGrp="1"/>
          </p:cNvSpPr>
          <p:nvPr>
            <p:ph idx="1"/>
          </p:nvPr>
        </p:nvSpPr>
        <p:spPr/>
        <p:txBody>
          <a:bodyPr/>
          <a:lstStyle/>
          <a:p>
            <a:pPr lvl="0"/>
            <a:r>
              <a:rPr b="1"/>
              <a:t>Participate:</a:t>
            </a:r>
            <a:r>
              <a:rPr/>
              <a:t> Attend and actively participate in lectures and labs, office hours</a:t>
            </a:r>
          </a:p>
          <a:p>
            <a:pPr lvl="0"/>
            <a:r>
              <a:rPr b="1"/>
              <a:t>Practice:</a:t>
            </a:r>
            <a:r>
              <a:rPr/>
              <a:t> Practice applying statistical concepts and computing with lab exercises</a:t>
            </a:r>
          </a:p>
          <a:p>
            <a:pPr lvl="1"/>
            <a:r>
              <a:rPr/>
              <a:t>Review course topics with occasional participation exercises, typically a few questions administered via Canvas. Annotated notes will be uploaded after class.</a:t>
            </a:r>
          </a:p>
          <a:p>
            <a:pPr lvl="0"/>
            <a:r>
              <a:rPr b="1"/>
              <a:t>Perform:</a:t>
            </a:r>
            <a:r>
              <a:rPr/>
              <a:t> Put together what you’ve learned to analyze real-world data</a:t>
            </a:r>
          </a:p>
          <a:p>
            <a:pPr lvl="1"/>
            <a:r>
              <a:rPr/>
              <a:t>Homework assignments</a:t>
            </a:r>
          </a:p>
          <a:p>
            <a:pPr lvl="1"/>
            <a:r>
              <a:rPr/>
              <a:t>Three in-class exams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Cadence</a:t>
            </a:r>
          </a:p>
        </p:txBody>
      </p:sp>
      <p:sp>
        <p:nvSpPr>
          <p:cNvPr id="3" name="Content Placeholder 2"/>
          <p:cNvSpPr>
            <a:spLocks noGrp="1"/>
          </p:cNvSpPr>
          <p:nvPr>
            <p:ph idx="1"/>
          </p:nvPr>
        </p:nvSpPr>
        <p:spPr/>
        <p:txBody>
          <a:bodyPr/>
          <a:lstStyle/>
          <a:p>
            <a:pPr lvl="0"/>
            <a:r>
              <a:rPr b="1"/>
              <a:t>Lecture:</a:t>
            </a:r>
            <a:r>
              <a:rPr/>
              <a:t> Monday-Thursday 9:30-11:00am. Approx. 1 hour 10 min of lecture, 20 minutes of homework time/open office hours.</a:t>
            </a:r>
          </a:p>
          <a:p>
            <a:pPr lvl="0"/>
            <a:r>
              <a:rPr b="1"/>
              <a:t>Labs:</a:t>
            </a:r>
            <a:r>
              <a:rPr/>
              <a:t> Fridays 9:30-11:00am. Tutorial video and assignment will be posted Wednesday around 5:00 PM. Lab time will be used to answer clarification questions and work on assignment; assignments due following Monday by 11:59pm.</a:t>
            </a:r>
          </a:p>
          <a:p>
            <a:pPr lvl="0"/>
            <a:r>
              <a:rPr b="1"/>
              <a:t>HWs:</a:t>
            </a:r>
            <a:r>
              <a:rPr/>
              <a:t> Posted daily, typically due by 11:59pm the next day.</a:t>
            </a:r>
          </a:p>
          <a:p>
            <a:pPr lvl="0"/>
            <a:r>
              <a:rPr b="1"/>
              <a:t>Exams:</a:t>
            </a:r>
            <a:r>
              <a:rPr/>
              <a:t> 3 in-class exams, more info as semester progresses.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to expect in lab</a:t>
            </a:r>
          </a:p>
        </p:txBody>
      </p:sp>
      <p:sp>
        <p:nvSpPr>
          <p:cNvPr id="3" name="Content Placeholder 2"/>
          <p:cNvSpPr>
            <a:spLocks noGrp="1"/>
          </p:cNvSpPr>
          <p:nvPr>
            <p:ph idx="1"/>
          </p:nvPr>
        </p:nvSpPr>
        <p:spPr/>
        <p:txBody>
          <a:bodyPr/>
          <a:lstStyle/>
          <a:p>
            <a:pPr lvl="0"/>
            <a:r>
              <a:rPr/>
              <a:t>Lab session will be Fridays from 9:30-11:00, same room as lecture</a:t>
            </a:r>
          </a:p>
          <a:p>
            <a:pPr lvl="0"/>
            <a:r>
              <a:rPr/>
              <a:t>Instructions and tutorial video will be posted on Canvas on Wednesday by 5 PM.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Tips</a:t>
            </a:r>
          </a:p>
        </p:txBody>
      </p:sp>
      <p:sp>
        <p:nvSpPr>
          <p:cNvPr id="3" name="Content Placeholder 2"/>
          <p:cNvSpPr>
            <a:spLocks noGrp="1"/>
          </p:cNvSpPr>
          <p:nvPr>
            <p:ph idx="1"/>
          </p:nvPr>
        </p:nvSpPr>
        <p:spPr/>
        <p:txBody>
          <a:bodyPr/>
          <a:lstStyle/>
          <a:p>
            <a:pPr lvl="0"/>
            <a:r>
              <a:rPr/>
              <a:t>You do not have to finish the lab during the lab session, they will always be due the following </a:t>
            </a:r>
            <a:r>
              <a:rPr b="1"/>
              <a:t>Monday at 11:59 pm</a:t>
            </a:r>
            <a:r>
              <a:rPr/>
              <a:t>.</a:t>
            </a:r>
          </a:p>
          <a:p>
            <a:pPr lvl="0"/>
            <a:r>
              <a:rPr/>
              <a:t>One work strategy is to get through portions that you think will be most challenging (which initially might be the coding component) during lab when I can help you on the spot and leave the narrative writing until later.</a:t>
            </a:r>
          </a:p>
          <a:p>
            <a:pPr lvl="0"/>
            <a:r>
              <a:rPr/>
              <a:t>Use the time wisely to really learn the material and produce a quality report.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Grading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Category</a:t>
                      </a:r>
                    </a:p>
                  </a:txBody>
                  <a:tcPr/>
                </a:tc>
                <a:tc>
                  <a:txBody>
                    <a:bodyPr/>
                    <a:lstStyle/>
                    <a:p>
                      <a:pPr lvl="0" indent="0" marL="0">
                        <a:buNone/>
                      </a:pPr>
                      <a:r>
                        <a:rPr/>
                        <a:t>Percentage</a:t>
                      </a:r>
                    </a:p>
                  </a:txBody>
                  <a:tcPr/>
                </a:tc>
              </a:tr>
              <a:tr h="0">
                <a:tc>
                  <a:txBody>
                    <a:bodyPr/>
                    <a:lstStyle/>
                    <a:p>
                      <a:pPr lvl="0" indent="0" marL="0">
                        <a:buNone/>
                      </a:pPr>
                      <a:r>
                        <a:rPr/>
                        <a:t>Homework</a:t>
                      </a:r>
                    </a:p>
                  </a:txBody>
                </a:tc>
                <a:tc>
                  <a:txBody>
                    <a:bodyPr/>
                    <a:lstStyle/>
                    <a:p>
                      <a:pPr lvl="0" indent="0" marL="0">
                        <a:buNone/>
                      </a:pPr>
                      <a:r>
                        <a:rPr/>
                        <a:t>40%</a:t>
                      </a:r>
                    </a:p>
                  </a:txBody>
                </a:tc>
              </a:tr>
              <a:tr h="0">
                <a:tc>
                  <a:txBody>
                    <a:bodyPr/>
                    <a:lstStyle/>
                    <a:p>
                      <a:pPr lvl="0" indent="0" marL="0">
                        <a:buNone/>
                      </a:pPr>
                      <a:r>
                        <a:rPr/>
                        <a:t>Labs</a:t>
                      </a:r>
                    </a:p>
                  </a:txBody>
                </a:tc>
                <a:tc>
                  <a:txBody>
                    <a:bodyPr/>
                    <a:lstStyle/>
                    <a:p>
                      <a:pPr lvl="0" indent="0" marL="0">
                        <a:buNone/>
                      </a:pPr>
                      <a:r>
                        <a:rPr/>
                        <a:t>15%</a:t>
                      </a:r>
                    </a:p>
                  </a:txBody>
                </a:tc>
              </a:tr>
              <a:tr h="0">
                <a:tc>
                  <a:txBody>
                    <a:bodyPr/>
                    <a:lstStyle/>
                    <a:p>
                      <a:pPr lvl="0" indent="0" marL="0">
                        <a:buNone/>
                      </a:pPr>
                      <a:r>
                        <a:rPr/>
                        <a:t>Exams</a:t>
                      </a:r>
                    </a:p>
                  </a:txBody>
                </a:tc>
                <a:tc>
                  <a:txBody>
                    <a:bodyPr/>
                    <a:lstStyle/>
                    <a:p>
                      <a:pPr lvl="0" indent="0" marL="0">
                        <a:buNone/>
                      </a:pPr>
                      <a:r>
                        <a:rPr/>
                        <a:t>40%</a:t>
                      </a:r>
                    </a:p>
                  </a:txBody>
                </a:tc>
              </a:tr>
              <a:tr h="0">
                <a:tc>
                  <a:txBody>
                    <a:bodyPr/>
                    <a:lstStyle/>
                    <a:p>
                      <a:pPr lvl="0" indent="0" marL="0">
                        <a:buNone/>
                      </a:pPr>
                      <a:r>
                        <a:rPr/>
                        <a:t>Participation</a:t>
                      </a:r>
                    </a:p>
                  </a:txBody>
                </a:tc>
                <a:tc>
                  <a:txBody>
                    <a:bodyPr/>
                    <a:lstStyle/>
                    <a:p>
                      <a:pPr lvl="0" indent="0" marL="0">
                        <a:buNone/>
                      </a:pPr>
                      <a:r>
                        <a:rPr/>
                        <a:t>5%</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See the course syllabus (available on Canvas) for how the final letter grade will be determined.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Textbooks</a:t>
            </a:r>
          </a:p>
        </p:txBody>
      </p:sp>
      <p:sp>
        <p:nvSpPr>
          <p:cNvPr id="3" name="Content Placeholder 2"/>
          <p:cNvSpPr>
            <a:spLocks noGrp="1"/>
          </p:cNvSpPr>
          <p:nvPr>
            <p:ph idx="1"/>
          </p:nvPr>
        </p:nvSpPr>
        <p:spPr/>
        <p:txBody>
          <a:bodyPr/>
          <a:lstStyle/>
          <a:p>
            <a:pPr lvl="0" indent="0" marL="0">
              <a:buNone/>
            </a:pPr>
            <a:r>
              <a:rPr/>
              <a:t>Recommended: (free online)</a:t>
            </a:r>
          </a:p>
          <a:p>
            <a:pPr lvl="0"/>
            <a:r>
              <a:rPr>
                <a:hlinkClick r:id="rId2"/>
              </a:rPr>
              <a:t>OpenIntro Statistics</a:t>
            </a:r>
            <a:r>
              <a:rPr/>
              <a:t>, Diez, Barr, Çetinkaya-Rundel, CreateSpace, 4th Ed. (2019)</a:t>
            </a:r>
          </a:p>
          <a:p>
            <a:pPr lvl="0"/>
            <a:r>
              <a:rPr>
                <a:hlinkClick r:id="rId3"/>
              </a:rPr>
              <a:t>R for Data Science</a:t>
            </a:r>
            <a:r>
              <a:rPr/>
              <a:t>, Wickham and Grolemund, O’Reilly Media, 1st Ed. (2017)</a:t>
            </a:r>
          </a:p>
          <a:p>
            <a:pPr lvl="0" indent="0" marL="0">
              <a:buNone/>
            </a:pPr>
            <a:r>
              <a:rPr/>
              <a:t>Optional:</a:t>
            </a:r>
          </a:p>
          <a:p>
            <a:pPr lvl="0"/>
            <a:r>
              <a:rPr/>
              <a:t>Principles of Biostatistics, Pagano and Gavreau, CRC Press, 2nd Ed. (2018)</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Support</a:t>
            </a:r>
          </a:p>
        </p:txBody>
      </p:sp>
      <p:sp>
        <p:nvSpPr>
          <p:cNvPr id="3" name="Content Placeholder 2"/>
          <p:cNvSpPr>
            <a:spLocks noGrp="1"/>
          </p:cNvSpPr>
          <p:nvPr>
            <p:ph idx="1"/>
          </p:nvPr>
        </p:nvSpPr>
        <p:spPr/>
        <p:txBody>
          <a:bodyPr/>
          <a:lstStyle/>
          <a:p>
            <a:pPr lvl="0"/>
            <a:r>
              <a:rPr/>
              <a:t>Attend office hours</a:t>
            </a:r>
          </a:p>
          <a:p>
            <a:pPr lvl="0"/>
            <a:r>
              <a:rPr/>
              <a:t>Ask and answer questions on the discussion forum, Ed Discussion</a:t>
            </a:r>
          </a:p>
          <a:p>
            <a:pPr lvl="0"/>
            <a:r>
              <a:rPr/>
              <a:t>Reserve email for questions on personal matters and/or grades</a:t>
            </a:r>
          </a:p>
          <a:p>
            <a:pPr lvl="0"/>
            <a:r>
              <a:rPr/>
              <a:t>Additional support resources in the syllabus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Announcements</a:t>
            </a:r>
          </a:p>
        </p:txBody>
      </p:sp>
      <p:sp>
        <p:nvSpPr>
          <p:cNvPr id="3" name="Content Placeholder 2"/>
          <p:cNvSpPr>
            <a:spLocks noGrp="1"/>
          </p:cNvSpPr>
          <p:nvPr>
            <p:ph idx="1"/>
          </p:nvPr>
        </p:nvSpPr>
        <p:spPr/>
        <p:txBody>
          <a:bodyPr/>
          <a:lstStyle/>
          <a:p>
            <a:pPr lvl="0"/>
            <a:r>
              <a:rPr/>
              <a:t>Posted on Canvas (Announcements tool) and sent via email, be sure to check both regularly</a:t>
            </a:r>
          </a:p>
          <a:p>
            <a:pPr lvl="0"/>
            <a:r>
              <a:rPr/>
              <a:t>I’ll assume that you’ve read an announcement by the next “business” day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Diversity + inclusion</a:t>
            </a:r>
          </a:p>
        </p:txBody>
      </p:sp>
      <p:sp>
        <p:nvSpPr>
          <p:cNvPr id="3" name="Content Placeholder 2"/>
          <p:cNvSpPr>
            <a:spLocks noGrp="1"/>
          </p:cNvSpPr>
          <p:nvPr>
            <p:ph idx="1"/>
          </p:nvPr>
        </p:nvSpPr>
        <p:spPr/>
        <p:txBody>
          <a:bodyPr/>
          <a:lstStyle/>
          <a:p>
            <a:pPr lvl="0" indent="0" marL="0">
              <a:buNone/>
            </a:pPr>
            <a:r>
              <a:rPr/>
              <a:t>It is my intent that students from all diverse backgrounds and perspectives be well-served by this course, that students’ learning needs be addressed both in and out of class, and that the diversity that the students bring to this class be viewed as a resource, strength and benefit.</a:t>
            </a:r>
          </a:p>
          <a:p>
            <a:pPr lvl="0"/>
            <a:r>
              <a:rPr/>
              <a:t>If you have a name that differs from those that appear in your official UNC records, please let me know!</a:t>
            </a:r>
          </a:p>
          <a:p>
            <a:pPr lvl="0"/>
            <a:r>
              <a:rPr/>
              <a:t>Please let me know your preferred pronouns. You’ll also be able to note this in the Getting to know you survey.</a:t>
            </a:r>
          </a:p>
          <a:p>
            <a:pPr lvl="0"/>
            <a:r>
              <a:rPr/>
              <a:t>If you feel like your performance in the class is being impacted by your experiences outside of class, please don’t hesitate to come and talk with me. I want to be a resource for you.</a:t>
            </a:r>
          </a:p>
          <a:p>
            <a:pPr lvl="0"/>
            <a:r>
              <a:rPr/>
              <a:t>If you prefer to speak with someone outside of the course, your advisers and deans are excellent resources.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Diversity + Inclusion</a:t>
            </a:r>
          </a:p>
        </p:txBody>
      </p:sp>
      <p:sp>
        <p:nvSpPr>
          <p:cNvPr id="3" name="Content Placeholder 2"/>
          <p:cNvSpPr>
            <a:spLocks noGrp="1"/>
          </p:cNvSpPr>
          <p:nvPr>
            <p:ph idx="1"/>
          </p:nvPr>
        </p:nvSpPr>
        <p:spPr/>
        <p:txBody>
          <a:bodyPr/>
          <a:lstStyle/>
          <a:p>
            <a:pPr lvl="0" indent="0" marL="0">
              <a:buNone/>
            </a:pPr>
            <a:r>
              <a:rPr/>
              <a:t>I (like many people) am still in the process of learning about diverse perspectives and identities. If something was said in class (by anyone) that made you feel uncomfortable, please talk to me about it.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policies: Late work</a:t>
            </a:r>
          </a:p>
        </p:txBody>
      </p:sp>
      <p:sp>
        <p:nvSpPr>
          <p:cNvPr id="3" name="Content Placeholder 2"/>
          <p:cNvSpPr>
            <a:spLocks noGrp="1"/>
          </p:cNvSpPr>
          <p:nvPr>
            <p:ph idx="1"/>
          </p:nvPr>
        </p:nvSpPr>
        <p:spPr/>
        <p:txBody>
          <a:bodyPr/>
          <a:lstStyle/>
          <a:p>
            <a:pPr lvl="0"/>
            <a:r>
              <a:rPr/>
              <a:t>HW &amp; Labs: Deadlines are there to help you stay on track. However, I know that life happens! You have a 12-hour grace period to turn in homework and labs with a 5% penalty. </a:t>
            </a:r>
            <a:r>
              <a:rPr b="1"/>
              <a:t>No HW/Labs will be accepted after the 24-hour grace period</a:t>
            </a:r>
            <a:r>
              <a:rPr/>
              <a:t>, except in extenuating circumstances.</a:t>
            </a:r>
          </a:p>
          <a:p>
            <a:pPr lvl="0"/>
            <a:r>
              <a:rPr/>
              <a:t>Lowest HW will be dropped.</a:t>
            </a:r>
          </a:p>
          <a:p>
            <a:pPr lvl="0"/>
            <a:r>
              <a:rPr/>
              <a:t>No late work will be accepted for exams.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Collaboration policy</a:t>
            </a:r>
          </a:p>
        </p:txBody>
      </p:sp>
      <p:sp>
        <p:nvSpPr>
          <p:cNvPr id="3" name="Content Placeholder 2"/>
          <p:cNvSpPr>
            <a:spLocks noGrp="1"/>
          </p:cNvSpPr>
          <p:nvPr>
            <p:ph idx="1"/>
          </p:nvPr>
        </p:nvSpPr>
        <p:spPr/>
        <p:txBody>
          <a:bodyPr/>
          <a:lstStyle/>
          <a:p>
            <a:pPr lvl="0"/>
            <a:r>
              <a:rPr/>
              <a:t>Only work that is </a:t>
            </a:r>
            <a:r>
              <a:rPr b="1"/>
              <a:t>clearly assigned as team work</a:t>
            </a:r>
            <a:r>
              <a:rPr/>
              <a:t> should be completed collaboratively.</a:t>
            </a:r>
          </a:p>
          <a:p>
            <a:pPr lvl="0"/>
            <a:r>
              <a:rPr/>
              <a:t>Homeworks must be completed </a:t>
            </a:r>
            <a:r>
              <a:rPr b="1"/>
              <a:t>individually</a:t>
            </a:r>
            <a:r>
              <a:rPr/>
              <a:t>. You may </a:t>
            </a:r>
            <a:r>
              <a:rPr b="1"/>
              <a:t>not</a:t>
            </a:r>
            <a:r>
              <a:rPr/>
              <a:t> directly share answers / code with others, however you are welcome to discuss the problems in general and ask for advice.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policy</a:t>
            </a:r>
          </a:p>
        </p:txBody>
      </p:sp>
      <p:sp>
        <p:nvSpPr>
          <p:cNvPr id="3" name="Content Placeholder 2"/>
          <p:cNvSpPr>
            <a:spLocks noGrp="1"/>
          </p:cNvSpPr>
          <p:nvPr>
            <p:ph idx="1"/>
          </p:nvPr>
        </p:nvSpPr>
        <p:spPr/>
        <p:txBody>
          <a:bodyPr/>
          <a:lstStyle/>
          <a:p>
            <a:pPr lvl="0"/>
            <a:r>
              <a:rPr/>
              <a:t>Use of artificial intelligence (AI): You should treat AI tools, such as ChatGPT, the same as other online resources.</a:t>
            </a:r>
          </a:p>
          <a:p>
            <a:pPr lvl="0"/>
            <a:r>
              <a:rPr/>
              <a:t>There are two guiding principles that govern how you can use AI in this course:</a:t>
            </a:r>
          </a:p>
          <a:p>
            <a:pPr lvl="1" indent="-342900" marL="685800">
              <a:buAutoNum type="arabicParenBoth"/>
            </a:pPr>
            <a:r>
              <a:rPr/>
              <a:t>Cognitive dimension: Working with AI should not reduce your ability to think clearly. We will practice using AI to facilitate—rather than hinder—learning.</a:t>
            </a:r>
          </a:p>
          <a:p>
            <a:pPr lvl="1" indent="-342900" marL="685800">
              <a:buAutoNum type="arabicParenBoth"/>
            </a:pPr>
            <a:r>
              <a:rPr/>
              <a:t>Ethical dimension: Students using AI should be transparent about their use and make sure it aligns with academic integrity.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for code</a:t>
            </a:r>
          </a:p>
        </p:txBody>
      </p:sp>
      <p:sp>
        <p:nvSpPr>
          <p:cNvPr id="3" name="Content Placeholder 2"/>
          <p:cNvSpPr>
            <a:spLocks noGrp="1"/>
          </p:cNvSpPr>
          <p:nvPr>
            <p:ph idx="1"/>
          </p:nvPr>
        </p:nvSpPr>
        <p:spPr/>
        <p:txBody>
          <a:bodyPr/>
          <a:lstStyle/>
          <a:p>
            <a:pPr lvl="0"/>
            <a:r>
              <a:rPr/>
              <a:t>AI tools for code: You may make use of the technology for coding examples on assignments; if you do so, you must explicitly cite where you obtained the code, and share the AI prompt(s) you used.</a:t>
            </a:r>
          </a:p>
          <a:p>
            <a:pPr lvl="0"/>
            <a:r>
              <a:rPr/>
              <a:t>Any recycled code that is discovered and is not explicitly cited will be treated as plagiarism.</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AI for narrative</a:t>
            </a:r>
          </a:p>
        </p:txBody>
      </p:sp>
      <p:sp>
        <p:nvSpPr>
          <p:cNvPr id="3" name="Content Placeholder 2"/>
          <p:cNvSpPr>
            <a:spLocks noGrp="1"/>
          </p:cNvSpPr>
          <p:nvPr>
            <p:ph idx="1"/>
          </p:nvPr>
        </p:nvSpPr>
        <p:spPr/>
        <p:txBody>
          <a:bodyPr/>
          <a:lstStyle/>
          <a:p>
            <a:pPr lvl="0"/>
            <a:r>
              <a:rPr b="1"/>
              <a:t>No AI tools for narrative</a:t>
            </a:r>
            <a:r>
              <a:rPr/>
              <a:t>: Unless instructed otherwise, AI is not permitted for writing narrative on assignments. In general, you may use AI as a resource as you complete assignments but not to answer the exercises for you. You are ultimately responsible for the work you turn in; it should reflect your understanding of the course content.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Sharing / reusing code policy</a:t>
            </a:r>
          </a:p>
        </p:txBody>
      </p:sp>
      <p:sp>
        <p:nvSpPr>
          <p:cNvPr id="3" name="Content Placeholder 2"/>
          <p:cNvSpPr>
            <a:spLocks noGrp="1"/>
          </p:cNvSpPr>
          <p:nvPr>
            <p:ph idx="1"/>
          </p:nvPr>
        </p:nvSpPr>
        <p:spPr/>
        <p:txBody>
          <a:bodyPr/>
          <a:lstStyle/>
          <a:p>
            <a:pPr lvl="0"/>
            <a:r>
              <a:rPr/>
              <a:t>Unless explicitly stated otherwise, this course’s policy is that you may make use of any online resources (e.g. RStudio Community, StackOverflow, ChatGPT, etc.) but you must </a:t>
            </a:r>
            <a:r>
              <a:rPr b="1"/>
              <a:t>explicitly cite</a:t>
            </a:r>
            <a:r>
              <a:rPr/>
              <a:t> where you obtained any code you directly use or use as inspiration in your solution(s).</a:t>
            </a:r>
          </a:p>
          <a:p>
            <a:pPr lvl="0"/>
            <a:r>
              <a:rPr b="1"/>
              <a:t>I know that you will have access to the internet and AI in the real world</a:t>
            </a:r>
            <a:r>
              <a:rPr/>
              <a:t>. However, you are required to understand (&amp; be able to explain) every line of code you’re turning in.</a:t>
            </a:r>
          </a:p>
          <a:p>
            <a:pPr lvl="0"/>
            <a:r>
              <a:rPr/>
              <a:t>Exams will be held in person and completed without laptops or AI tools. It is therefore to your benefit that you are able to understand and solve problems independently.</a:t>
            </a:r>
          </a:p>
          <a:p>
            <a:pPr lvl="0"/>
            <a:r>
              <a:rPr/>
              <a:t>Any recycled code that is discovered and is not explicitly cited will be treated as plagiarism, regardless of source.</a:t>
            </a:r>
          </a:p>
          <a:p>
            <a:pPr lvl="0" indent="0" marL="1270000">
              <a:buNone/>
            </a:pPr>
            <a:r>
              <a:rPr sz="2000" b="1"/>
              <a:t>Most importantly…</a:t>
            </a:r>
          </a:p>
          <a:p>
            <a:pPr lvl="0" indent="0" marL="1270000">
              <a:buNone/>
            </a:pPr>
            <a:r>
              <a:rPr sz="2000"/>
              <a:t>Ask if you’re not sure if something violates a policy!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tips for success</a:t>
            </a:r>
          </a:p>
        </p:txBody>
      </p:sp>
      <p:sp>
        <p:nvSpPr>
          <p:cNvPr id="3" name="Content Placeholder 2"/>
          <p:cNvSpPr>
            <a:spLocks noGrp="1"/>
          </p:cNvSpPr>
          <p:nvPr>
            <p:ph idx="1"/>
          </p:nvPr>
        </p:nvSpPr>
        <p:spPr/>
        <p:txBody>
          <a:bodyPr/>
          <a:lstStyle/>
          <a:p>
            <a:pPr lvl="0" indent="0" marL="0">
              <a:buNone/>
            </a:pPr>
            <a:r>
              <a:rPr/>
              <a:t>I am here to help you succeed! :-)</a:t>
            </a:r>
          </a:p>
          <a:p>
            <a:pPr lvl="0" indent="-342900" marL="342900">
              <a:buAutoNum type="arabicPeriod"/>
            </a:pPr>
            <a:r>
              <a:rPr/>
              <a:t>Ask questions.</a:t>
            </a:r>
          </a:p>
          <a:p>
            <a:pPr lvl="0" indent="-342900" marL="342900">
              <a:buAutoNum type="arabicPeriod"/>
            </a:pPr>
            <a:r>
              <a:rPr/>
              <a:t>Do the homework and labs.</a:t>
            </a:r>
          </a:p>
          <a:p>
            <a:pPr lvl="0" indent="-342900" marL="342900">
              <a:buAutoNum type="arabicPeriod"/>
            </a:pPr>
            <a:r>
              <a:rPr/>
              <a:t>Be proactive, even with the small questions!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Cultivating a supportive learning environment</a:t>
            </a:r>
          </a:p>
        </p:txBody>
      </p:sp>
      <p:sp>
        <p:nvSpPr>
          <p:cNvPr id="3" name="Content Placeholder 2"/>
          <p:cNvSpPr>
            <a:spLocks noGrp="1"/>
          </p:cNvSpPr>
          <p:nvPr>
            <p:ph idx="1"/>
          </p:nvPr>
        </p:nvSpPr>
        <p:spPr/>
        <p:txBody>
          <a:bodyPr/>
          <a:lstStyle/>
          <a:p>
            <a:pPr lvl="0" indent="0" marL="0">
              <a:buNone/>
            </a:pPr>
            <a:r>
              <a:rPr/>
              <a:t>I want to make sure that you learn everything you were hoping to learn from this class. If this requires flexibility, please don’t hesitate to ask.</a:t>
            </a:r>
          </a:p>
          <a:p>
            <a:pPr lvl="0"/>
            <a:r>
              <a:rPr/>
              <a:t>You never owe me personal information about your health (mental or physical) but you’re always welcome to talk to me. If I can’t help, I likely know someone who can.</a:t>
            </a:r>
          </a:p>
          <a:p>
            <a:pPr lvl="0"/>
            <a:r>
              <a:rPr/>
              <a:t>I want you to learn lots of things from this class, but I primarily want you to stay healthy, balanced, and grounded.</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a:t>
            </a:r>
          </a:p>
        </p:txBody>
      </p:sp>
      <p:sp>
        <p:nvSpPr>
          <p:cNvPr id="3" name="Content Placeholder 2"/>
          <p:cNvSpPr>
            <a:spLocks noGrp="1"/>
          </p:cNvSpPr>
          <p:nvPr>
            <p:ph idx="1"/>
          </p:nvPr>
        </p:nvSpPr>
        <p:spPr/>
        <p:txBody>
          <a:bodyPr/>
          <a:lstStyle/>
          <a:p>
            <a:pPr lvl="0" indent="0" marL="0">
              <a:buNone/>
            </a:pPr>
            <a:r>
              <a:rPr/>
              <a:t>What questions do you have?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statistical inference (in a biostatistics context)?</a:t>
            </a:r>
          </a:p>
        </p:txBody>
      </p:sp>
      <p:sp>
        <p:nvSpPr>
          <p:cNvPr id="3" name="Content Placeholder 2"/>
          <p:cNvSpPr>
            <a:spLocks noGrp="1"/>
          </p:cNvSpPr>
          <p:nvPr>
            <p:ph idx="1"/>
          </p:nvPr>
        </p:nvSpPr>
        <p:spPr/>
        <p:txBody>
          <a:bodyPr/>
          <a:lstStyle/>
          <a:p>
            <a:pPr lvl="0" indent="0" marL="0">
              <a:buNone/>
            </a:pPr>
            <a:r>
              <a:rPr/>
              <a:t>A process that converts data into useful information, whereby practitioners</a:t>
            </a:r>
          </a:p>
          <a:p>
            <a:pPr lvl="0" indent="-342900" marL="342900">
              <a:buAutoNum type="arabicPeriod"/>
            </a:pPr>
            <a:r>
              <a:rPr/>
              <a:t>form a question of interest</a:t>
            </a:r>
          </a:p>
          <a:p>
            <a:pPr lvl="0" indent="-342900" marL="342900">
              <a:buAutoNum type="arabicPeriod"/>
            </a:pPr>
            <a:r>
              <a:rPr/>
              <a:t>collect and summarize data</a:t>
            </a:r>
          </a:p>
          <a:p>
            <a:pPr lvl="0" indent="-342900" marL="342900">
              <a:buAutoNum type="arabicPeriod"/>
            </a:pPr>
            <a:r>
              <a:rPr/>
              <a:t>interpret the results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Identifying the population and question of interest</a:t>
            </a:r>
          </a:p>
        </p:txBody>
      </p:sp>
      <p:sp>
        <p:nvSpPr>
          <p:cNvPr id="3" name="Content Placeholder 2"/>
          <p:cNvSpPr>
            <a:spLocks noGrp="1"/>
          </p:cNvSpPr>
          <p:nvPr>
            <p:ph idx="1"/>
          </p:nvPr>
        </p:nvSpPr>
        <p:spPr/>
        <p:txBody>
          <a:bodyPr/>
          <a:lstStyle/>
          <a:p>
            <a:pPr lvl="0" indent="0" marL="0">
              <a:buNone/>
            </a:pPr>
            <a:r>
              <a:rPr/>
              <a:t>The </a:t>
            </a:r>
            <a:r>
              <a:rPr b="1"/>
              <a:t>population</a:t>
            </a:r>
            <a:r>
              <a:rPr/>
              <a:t> is the group we’d like to learn something about:</a:t>
            </a:r>
          </a:p>
          <a:p>
            <a:pPr lvl="0"/>
            <a:r>
              <a:rPr/>
              <a:t>What is the prevalence of diabetes among </a:t>
            </a:r>
            <a:r>
              <a:rPr b="1"/>
              <a:t>U.S. adults</a:t>
            </a:r>
            <a:r>
              <a:rPr/>
              <a:t>, and has it changed over time?</a:t>
            </a:r>
          </a:p>
          <a:p>
            <a:pPr lvl="0"/>
            <a:r>
              <a:rPr/>
              <a:t>Is there a relationship between tumor type and five-year mortality in </a:t>
            </a:r>
            <a:r>
              <a:rPr b="1"/>
              <a:t>breast cancer patients</a:t>
            </a:r>
            <a:r>
              <a:rPr/>
              <a:t>?</a:t>
            </a:r>
          </a:p>
          <a:p>
            <a:pPr lvl="0"/>
            <a:r>
              <a:rPr/>
              <a:t>Does the average amount of caffeine vary by vendor in </a:t>
            </a:r>
            <a:r>
              <a:rPr b="1"/>
              <a:t>12 oz cups of coffee at UNC coffee shops</a:t>
            </a:r>
            <a:r>
              <a:rPr/>
              <a:t>?</a:t>
            </a:r>
          </a:p>
          <a:p>
            <a:pPr lvl="0" indent="0" marL="0">
              <a:buNone/>
            </a:pPr>
            <a:r>
              <a:rPr/>
              <a:t>If we had data from every unit in the population, we could just calculate what we wanted and be done!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Sampling from the population</a:t>
            </a:r>
          </a:p>
        </p:txBody>
      </p:sp>
      <p:sp>
        <p:nvSpPr>
          <p:cNvPr id="3" name="Content Placeholder 2"/>
          <p:cNvSpPr>
            <a:spLocks noGrp="1"/>
          </p:cNvSpPr>
          <p:nvPr>
            <p:ph idx="1"/>
          </p:nvPr>
        </p:nvSpPr>
        <p:spPr/>
        <p:txBody>
          <a:bodyPr/>
          <a:lstStyle/>
          <a:p>
            <a:pPr lvl="0" indent="0" marL="0">
              <a:buNone/>
            </a:pPr>
            <a:r>
              <a:rPr/>
              <a:t>Unfortunately, we (usually) have to settle with a </a:t>
            </a:r>
            <a:r>
              <a:rPr b="1"/>
              <a:t>sample</a:t>
            </a:r>
            <a:r>
              <a:rPr/>
              <a:t> from the population.</a:t>
            </a:r>
          </a:p>
          <a:p>
            <a:pPr lvl="0"/>
            <a:r>
              <a:rPr/>
              <a:t>Ideally, the sample is </a:t>
            </a:r>
            <a:r>
              <a:rPr b="1"/>
              <a:t>representative</a:t>
            </a:r>
            <a:r>
              <a:rPr/>
              <a:t>, allowing us to use </a:t>
            </a:r>
            <a:r>
              <a:rPr b="1"/>
              <a:t>probability and statistical inference</a:t>
            </a:r>
            <a:r>
              <a:rPr/>
              <a:t> to make conclusions that are </a:t>
            </a:r>
            <a:r>
              <a:rPr b="1"/>
              <a:t>generalizable</a:t>
            </a:r>
            <a:r>
              <a:rPr/>
              <a:t> to the broader population of interest.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Sampling methods</a:t>
            </a:r>
          </a:p>
        </p:txBody>
      </p:sp>
      <p:sp>
        <p:nvSpPr>
          <p:cNvPr id="3" name="Content Placeholder 2"/>
          <p:cNvSpPr>
            <a:spLocks noGrp="1"/>
          </p:cNvSpPr>
          <p:nvPr>
            <p:ph idx="1"/>
          </p:nvPr>
        </p:nvSpPr>
        <p:spPr/>
        <p:txBody>
          <a:bodyPr/>
          <a:lstStyle/>
          <a:p>
            <a:pPr lvl="0" indent="0" marL="0">
              <a:buNone/>
            </a:pPr>
            <a:r>
              <a:rPr b="1"/>
              <a:t>Probability sampling</a:t>
            </a:r>
            <a:r>
              <a:rPr/>
              <a:t> (e.g., simple random sampling, stratified, cluster, or multi-stage sampling)</a:t>
            </a:r>
          </a:p>
          <a:p>
            <a:pPr lvl="0"/>
            <a:r>
              <a:rPr/>
              <a:t>All units have a known chance of being selected</a:t>
            </a:r>
          </a:p>
          <a:p>
            <a:pPr lvl="0"/>
            <a:r>
              <a:rPr/>
              <a:t>More likely to be generalizable</a:t>
            </a:r>
          </a:p>
          <a:p>
            <a:pPr lvl="0"/>
            <a:r>
              <a:rPr/>
              <a:t>Can be more expensive and time-consuming</a:t>
            </a:r>
          </a:p>
          <a:p>
            <a:pPr lvl="0" indent="0" marL="0">
              <a:buNone/>
            </a:pPr>
            <a:r>
              <a:rPr b="1"/>
              <a:t>Non-probability sampling</a:t>
            </a:r>
            <a:r>
              <a:rPr/>
              <a:t> (e.g. quota, convenience, or snowball sampling)</a:t>
            </a:r>
          </a:p>
          <a:p>
            <a:pPr lvl="0"/>
            <a:r>
              <a:rPr/>
              <a:t>Some units unable to be selected, with no way of knowing size or effect of sampling errors</a:t>
            </a:r>
          </a:p>
          <a:p>
            <a:pPr lvl="0"/>
            <a:r>
              <a:rPr/>
              <a:t>Less generalizable to population of interest</a:t>
            </a:r>
          </a:p>
          <a:p>
            <a:pPr lvl="0"/>
            <a:r>
              <a:rPr/>
              <a:t>More convenient and less costly</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Study design</a:t>
            </a:r>
          </a:p>
        </p:txBody>
      </p:sp>
      <p:sp>
        <p:nvSpPr>
          <p:cNvPr id="3" name="Content Placeholder 2"/>
          <p:cNvSpPr>
            <a:spLocks noGrp="1"/>
          </p:cNvSpPr>
          <p:nvPr>
            <p:ph idx="1"/>
          </p:nvPr>
        </p:nvSpPr>
        <p:spPr/>
        <p:txBody>
          <a:bodyPr/>
          <a:lstStyle/>
          <a:p>
            <a:pPr lvl="0" indent="0" marL="0">
              <a:buNone/>
            </a:pPr>
            <a:r>
              <a:rPr b="1"/>
              <a:t>Experimental</a:t>
            </a:r>
            <a:r>
              <a:rPr/>
              <a:t> studies (e.g. randomized control trials (RCTs))</a:t>
            </a:r>
          </a:p>
          <a:p>
            <a:pPr lvl="0"/>
            <a:r>
              <a:rPr/>
              <a:t>Researchers directly control exposures or treatment groups.</a:t>
            </a:r>
          </a:p>
          <a:p>
            <a:pPr lvl="0"/>
            <a:r>
              <a:rPr/>
              <a:t>Ability to make causal statements</a:t>
            </a:r>
          </a:p>
          <a:p>
            <a:pPr lvl="0"/>
            <a:r>
              <a:rPr/>
              <a:t>Less real-world applicability and generalizability</a:t>
            </a:r>
          </a:p>
          <a:p>
            <a:pPr lvl="0" indent="0" marL="0">
              <a:buNone/>
            </a:pPr>
            <a:r>
              <a:rPr b="1"/>
              <a:t>Observational</a:t>
            </a:r>
            <a:r>
              <a:rPr/>
              <a:t> studies (e.g. surveys)</a:t>
            </a:r>
          </a:p>
          <a:p>
            <a:pPr lvl="0"/>
            <a:r>
              <a:rPr/>
              <a:t>Researchers do not assign exposures or treatments</a:t>
            </a:r>
          </a:p>
          <a:p>
            <a:pPr lvl="0"/>
            <a:r>
              <a:rPr/>
              <a:t>Real-world setting with lower burden on participants</a:t>
            </a:r>
          </a:p>
          <a:p>
            <a:pPr lvl="0"/>
            <a:r>
              <a:rPr/>
              <a:t>Inability to prove causality</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a:t>
            </a:r>
          </a:p>
        </p:txBody>
      </p:sp>
      <p:sp>
        <p:nvSpPr>
          <p:cNvPr id="3" name="Content Placeholder 2"/>
          <p:cNvSpPr>
            <a:spLocks noGrp="1"/>
          </p:cNvSpPr>
          <p:nvPr>
            <p:ph idx="1"/>
          </p:nvPr>
        </p:nvSpPr>
        <p:spPr/>
        <p:txBody>
          <a:bodyPr/>
          <a:lstStyle/>
          <a:p>
            <a:pPr lvl="0"/>
            <a:r>
              <a:rPr/>
              <a:t>Study: The effect of a new diet on weight loss in adults</a:t>
            </a:r>
          </a:p>
          <a:p>
            <a:pPr lvl="0"/>
            <a:r>
              <a:rPr/>
              <a:t>Objective: To determine whether a new low-carbohydrate diet leads to significant weight loss compared to a standard diet in adults.</a:t>
            </a:r>
          </a:p>
          <a:p>
            <a:pPr lvl="0"/>
            <a:r>
              <a:rPr/>
              <a:t>Study Design:</a:t>
            </a:r>
          </a:p>
          <a:p>
            <a:pPr lvl="1"/>
            <a:r>
              <a:rPr/>
              <a:t>Participants: 100 adults aged 25-45 with a BMI between 25 and 30</a:t>
            </a:r>
          </a:p>
          <a:p>
            <a:pPr lvl="1"/>
            <a:r>
              <a:rPr/>
              <a:t>Randomization: Participants are randomly assigned to one of two groups:</a:t>
            </a:r>
          </a:p>
          <a:p>
            <a:pPr lvl="2"/>
            <a:r>
              <a:rPr/>
              <a:t>Group A: 50 participants following the new low-carb diet</a:t>
            </a:r>
          </a:p>
          <a:p>
            <a:pPr lvl="2"/>
            <a:r>
              <a:rPr/>
              <a:t>Group B: 50 participants following a standard diet.</a:t>
            </a:r>
          </a:p>
          <a:p>
            <a:pPr lvl="1"/>
            <a:r>
              <a:rPr/>
              <a:t>Intervention: Group A follows the new diet for 12 weeks, while Group B follows their usual diet (standard diet)</a:t>
            </a:r>
          </a:p>
          <a:p>
            <a:pPr lvl="1"/>
            <a:r>
              <a:rPr/>
              <a:t>Outcome measurement: Weight of participants is measured before the study begins and after 12 weeks.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a:t>
            </a:r>
          </a:p>
        </p:txBody>
      </p:sp>
      <p:sp>
        <p:nvSpPr>
          <p:cNvPr id="3" name="Content Placeholder 2"/>
          <p:cNvSpPr>
            <a:spLocks noGrp="1"/>
          </p:cNvSpPr>
          <p:nvPr>
            <p:ph idx="1"/>
          </p:nvPr>
        </p:nvSpPr>
        <p:spPr/>
        <p:txBody>
          <a:bodyPr/>
          <a:lstStyle/>
          <a:p>
            <a:pPr lvl="0" indent="0" marL="1270000">
              <a:buNone/>
            </a:pPr>
            <a:r>
              <a:rPr sz="2000" b="1"/>
              <a:t>In small groups, discuss the following:</a:t>
            </a:r>
          </a:p>
          <a:p>
            <a:pPr lvl="0"/>
            <a:r>
              <a:rPr sz="2000"/>
              <a:t>Is this study an observational or experimental study? Why?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can go wrong?</a:t>
            </a:r>
          </a:p>
        </p:txBody>
      </p:sp>
      <p:sp>
        <p:nvSpPr>
          <p:cNvPr id="4" name="Text Placeholder 3"/>
          <p:cNvSpPr>
            <a:spLocks noGrp="1"/>
          </p:cNvSpPr>
          <p:nvPr>
            <p:ph idx="2" sz="half" type="body"/>
          </p:nvPr>
        </p:nvSpPr>
        <p:spPr/>
        <p:txBody>
          <a:bodyPr/>
          <a:lstStyle/>
          <a:p>
            <a:pPr lvl="0"/>
            <a:r>
              <a:rPr/>
              <a:t>Depending on the study design and sampling methods, different types of bias occur (again, we don’t have the full population, only a sample).</a:t>
            </a:r>
          </a:p>
          <a:p>
            <a:pPr lvl="0"/>
            <a:r>
              <a:rPr/>
              <a:t>Examples include:</a:t>
            </a:r>
          </a:p>
          <a:p>
            <a:pPr lvl="1"/>
            <a:r>
              <a:rPr/>
              <a:t>Selection bias: sample does not accurately reflect target population</a:t>
            </a:r>
          </a:p>
          <a:p>
            <a:pPr lvl="1"/>
            <a:r>
              <a:rPr/>
              <a:t>Reporting bias: tendency to under-report all information available</a:t>
            </a:r>
          </a:p>
          <a:p>
            <a:pPr lvl="1"/>
            <a:r>
              <a:rPr/>
              <a:t>Many more: non-response bias, attrition bias, confounding, detection bias, lack of blinding, straight-up falsified data (this happens)…</a:t>
            </a:r>
            <a:r>
              <a:rPr>
                <a:hlinkClick r:id="rId2"/>
              </a:rPr>
              <a:t>and more!</a:t>
            </a:r>
          </a:p>
        </p:txBody>
      </p:sp>
      <p:pic>
        <p:nvPicPr>
          <p:cNvPr descr="images/lec-1/bias.PNG" id="0" name="Picture 1"/>
          <p:cNvPicPr>
            <a:picLocks noGrp="1" noChangeAspect="1"/>
          </p:cNvPicPr>
          <p:nvPr/>
        </p:nvPicPr>
        <p:blipFill>
          <a:blip r:embed="rId3"/>
          <a:stretch>
            <a:fillRect/>
          </a:stretch>
        </p:blipFill>
        <p:spPr bwMode="auto">
          <a:xfrm>
            <a:off x="3568700" y="1866900"/>
            <a:ext cx="5105400" cy="10668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few years ago…</a:t>
            </a:r>
          </a:p>
        </p:txBody>
      </p:sp>
      <p:pic>
        <p:nvPicPr>
          <p:cNvPr descr="images/lec-1/covid.PNG" id="0" name="Picture 1"/>
          <p:cNvPicPr>
            <a:picLocks noGrp="1" noChangeAspect="1"/>
          </p:cNvPicPr>
          <p:nvPr/>
        </p:nvPicPr>
        <p:blipFill>
          <a:blip r:embed="rId2"/>
          <a:stretch>
            <a:fillRect/>
          </a:stretch>
        </p:blipFill>
        <p:spPr bwMode="auto">
          <a:xfrm>
            <a:off x="901700" y="1193800"/>
            <a:ext cx="73406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link to article</a:t>
            </a:r>
          </a:p>
          <a:p>
            <a:pPr lvl="0"/>
            <a:r>
              <a:rPr/>
              <a:t>seroprevalence = level of pathogen in a population</a:t>
            </a:r>
          </a:p>
          <a:p>
            <a:pPr lvl="0"/>
            <a:r>
              <a:rPr/>
              <a:t>From Conclusion: “The estimated prevalence of SARS-CoV-2 antibodies in Santa Clara County implies that COVID-19 was likely more widespread than indicated by the number of cases in late March, 2020”.</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However…</a:t>
            </a:r>
          </a:p>
        </p:txBody>
      </p:sp>
      <p:pic>
        <p:nvPicPr>
          <p:cNvPr descr="images/lec-1/covid2.PNG" id="0" name="Picture 1"/>
          <p:cNvPicPr>
            <a:picLocks noGrp="1" noChangeAspect="1"/>
          </p:cNvPicPr>
          <p:nvPr/>
        </p:nvPicPr>
        <p:blipFill>
          <a:blip r:embed="rId2"/>
          <a:stretch>
            <a:fillRect/>
          </a:stretch>
        </p:blipFill>
        <p:spPr bwMode="auto">
          <a:xfrm>
            <a:off x="1181100" y="1193800"/>
            <a:ext cx="67945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What do some other people have to say about this study…?</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main issues brought up in blog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rabicPeriod"/>
                </a:pPr>
                <a:r>
                  <a:rPr/>
                  <a:t>Sampling bias</a:t>
                </a:r>
              </a:p>
              <a:p>
                <a:pPr lvl="0"/>
                <a:r>
                  <a:rPr/>
                  <a:t>Study recruited participants through Facebook ads, may have attracted people more concerned about COVID-19 or those who thought they were already exposed </a:t>
                </a:r>
                <a14:m>
                  <m:oMath xmlns:m="http://schemas.openxmlformats.org/officeDocument/2006/math">
                    <m:r>
                      <m:rPr>
                        <m:sty m:val="p"/>
                      </m:rPr>
                      <m:t>→</m:t>
                    </m:r>
                  </m:oMath>
                </a14:m>
                <a:r>
                  <a:rPr/>
                  <a:t> overestimation of seroprevalence (level of pathogen in a population)</a:t>
                </a:r>
              </a:p>
              <a:p>
                <a:pPr lvl="1"/>
                <a:r>
                  <a:rPr/>
                  <a:t>Symptomatic/exposed individuals may have signed up to get tested, especially when testing was limited.</a:t>
                </a:r>
              </a:p>
              <a:p>
                <a:pPr lvl="1"/>
                <a:r>
                  <a:rPr/>
                  <a:t>Participants may have recruited others in their network</a:t>
                </a:r>
              </a:p>
              <a:p>
                <a:pPr lvl="0"/>
                <a:r>
                  <a:rPr/>
                  <a:t>Without a truly random sample, findings are less generalizable and reproducible</a:t>
                </a:r>
              </a:p>
            </p:txBody>
          </p:sp>
        </mc:Choice>
      </mc:AlternateContent>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issues, continued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startAt="2" type="arabicPeriod"/>
                </a:pPr>
                <a:r>
                  <a:rPr/>
                  <a:t>Statistical adjustments: High false positive rate could drive results</a:t>
                </a:r>
              </a:p>
              <a:p>
                <a:pPr lvl="0"/>
                <a:r>
                  <a:rPr/>
                  <a:t>Study had high false positive rate (2 FP out of 401 known negative samples, about 0.5%), but with a wide confidence interval! (FP Rate could be above 1.2%)</a:t>
                </a:r>
              </a:p>
              <a:p>
                <a:pPr lvl="0"/>
                <a:r>
                  <a:rPr/>
                  <a:t>Study reported only 50 positives out of ~3300 participants, so such a high FP rate could account for a significant portion - if not all - of the positive results. (</a:t>
                </a:r>
                <a14:m>
                  <m:oMath xmlns:m="http://schemas.openxmlformats.org/officeDocument/2006/math">
                    <m:f>
                      <m:fPr>
                        <m:type m:val="bar"/>
                      </m:fPr>
                      <m:num>
                        <m:r>
                          <m:t>2</m:t>
                        </m:r>
                      </m:num>
                      <m:den>
                        <m:r>
                          <m:t>401</m:t>
                        </m:r>
                      </m:den>
                    </m:f>
                    <m:r>
                      <m:rPr>
                        <m:sty m:val="p"/>
                      </m:rPr>
                      <m:t>⋅</m:t>
                    </m:r>
                    <m:r>
                      <m:t>3300</m:t>
                    </m:r>
                    <m:r>
                      <m:rPr>
                        <m:sty m:val="p"/>
                      </m:rPr>
                      <m:t>=</m:t>
                    </m:r>
                    <m:r>
                      <m:t>17</m:t>
                    </m:r>
                  </m:oMath>
                </a14:m>
                <a:r>
                  <a:rPr/>
                  <a:t>) Yikes!</a:t>
                </a:r>
              </a:p>
              <a:p>
                <a:pPr lvl="0"/>
                <a:r>
                  <a:rPr/>
                  <a:t>It could even be more! (re-calibrate the assay on a different set of 401 known negative samples, you may get 0/401 FP or even 6/401).</a:t>
                </a:r>
              </a:p>
            </p:txBody>
          </p:sp>
        </mc:Choice>
      </mc:AlternateContent>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issues, continued</a:t>
            </a:r>
          </a:p>
        </p:txBody>
      </p:sp>
      <p:sp>
        <p:nvSpPr>
          <p:cNvPr id="3" name="Content Placeholder 2"/>
          <p:cNvSpPr>
            <a:spLocks noGrp="1"/>
          </p:cNvSpPr>
          <p:nvPr>
            <p:ph idx="1"/>
          </p:nvPr>
        </p:nvSpPr>
        <p:spPr/>
        <p:txBody>
          <a:bodyPr/>
          <a:lstStyle/>
          <a:p>
            <a:pPr lvl="0" indent="-342900" marL="342900">
              <a:buAutoNum startAt="3" type="arabicPeriod"/>
            </a:pPr>
            <a:r>
              <a:rPr/>
              <a:t>Transparency</a:t>
            </a:r>
          </a:p>
          <a:p>
            <a:pPr lvl="0"/>
            <a:r>
              <a:rPr/>
              <a:t>Study does not make its raw data, code, and full methodology publicly available</a:t>
            </a:r>
          </a:p>
          <a:p>
            <a:pPr lvl="0"/>
            <a:r>
              <a:rPr/>
              <a:t>Without access to these, other researchers cannot replicate the study or verify its findings, undermining the reproducibility of the research</a:t>
            </a:r>
          </a:p>
          <a:p>
            <a:pPr lvl="0"/>
            <a:r>
              <a:rPr/>
              <a:t>Transparency essential for the scientific process (particularly in high-stakes studies!)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Reproducibility and replicability</a:t>
            </a:r>
          </a:p>
        </p:txBody>
      </p:sp>
      <p:sp>
        <p:nvSpPr>
          <p:cNvPr id="3" name="Content Placeholder 2"/>
          <p:cNvSpPr>
            <a:spLocks noGrp="1"/>
          </p:cNvSpPr>
          <p:nvPr>
            <p:ph idx="1"/>
          </p:nvPr>
        </p:nvSpPr>
        <p:spPr/>
        <p:txBody>
          <a:bodyPr/>
          <a:lstStyle/>
          <a:p>
            <a:pPr lvl="0"/>
            <a:r>
              <a:rPr b="1"/>
              <a:t>Reproducibility</a:t>
            </a:r>
            <a:r>
              <a:rPr/>
              <a:t>: being able to take original data and code to reproduce all numerical findings.</a:t>
            </a:r>
          </a:p>
          <a:p>
            <a:pPr lvl="0"/>
            <a:r>
              <a:rPr b="1"/>
              <a:t>Replicability</a:t>
            </a:r>
            <a:r>
              <a:rPr/>
              <a:t>: being able to independently repeat an entire study without use of the original data (generally with the same methods)</a:t>
            </a:r>
          </a:p>
          <a:p>
            <a:pPr lvl="0" indent="0" marL="0">
              <a:buNone/>
            </a:pPr>
            <a:r>
              <a:rPr/>
              <a:t>Best practices from the American Statistical Association:</a:t>
            </a:r>
          </a:p>
          <a:p>
            <a:pPr lvl="0"/>
            <a:r>
              <a:rPr/>
              <a:t>End-to-end scripting of research</a:t>
            </a:r>
          </a:p>
          <a:p>
            <a:pPr lvl="0"/>
            <a:r>
              <a:rPr/>
              <a:t>From the moment you “read in” your raw data, document the code you used for data cleaning, visualization, and analysis</a:t>
            </a:r>
          </a:p>
          <a:p>
            <a:pPr lvl="0"/>
            <a:r>
              <a:rPr/>
              <a:t>Use of version control and documentation (we will not use this in our class)</a:t>
            </a:r>
          </a:p>
          <a:p>
            <a:pPr lvl="0"/>
            <a:r>
              <a:rPr/>
              <a:t>Publication of code along with data</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current replication crisis</a:t>
            </a:r>
          </a:p>
        </p:txBody>
      </p:sp>
      <p:pic>
        <p:nvPicPr>
          <p:cNvPr descr="images/lec-1/drip.PNG" id="0" name="Picture 1"/>
          <p:cNvPicPr>
            <a:picLocks noGrp="1" noChangeAspect="1"/>
          </p:cNvPicPr>
          <p:nvPr/>
        </p:nvPicPr>
        <p:blipFill>
          <a:blip r:embed="rId2"/>
          <a:stretch>
            <a:fillRect/>
          </a:stretch>
        </p:blipFill>
        <p:spPr bwMode="auto">
          <a:xfrm>
            <a:off x="457200" y="1257300"/>
            <a:ext cx="4038600" cy="3263900"/>
          </a:xfrm>
          <a:prstGeom prst="rect">
            <a:avLst/>
          </a:prstGeom>
          <a:noFill/>
          <a:ln w="9525">
            <a:noFill/>
            <a:headEnd/>
            <a:tailEnd/>
          </a:ln>
        </p:spPr>
      </p:pic>
      <p:pic>
        <p:nvPicPr>
          <p:cNvPr descr="images/lec-1/duke.png" id="0" name="Picture 1"/>
          <p:cNvPicPr>
            <a:picLocks noGrp="1" noChangeAspect="1"/>
          </p:cNvPicPr>
          <p:nvPr/>
        </p:nvPicPr>
        <p:blipFill>
          <a:blip r:embed="rId3"/>
          <a:stretch>
            <a:fillRect/>
          </a:stretch>
        </p:blipFill>
        <p:spPr bwMode="auto">
          <a:xfrm>
            <a:off x="4648200" y="1917700"/>
            <a:ext cx="4038600" cy="19431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Fraudulent data can lead to unreliable research findings, waste resources, and erode trust in scientific integrity!</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Replication and Transparency as a Path to Self-Correction</a:t>
            </a:r>
          </a:p>
        </p:txBody>
      </p:sp>
      <p:sp>
        <p:nvSpPr>
          <p:cNvPr id="3" name="Content Placeholder 2"/>
          <p:cNvSpPr>
            <a:spLocks noGrp="1"/>
          </p:cNvSpPr>
          <p:nvPr>
            <p:ph idx="1" sz="half"/>
          </p:nvPr>
        </p:nvSpPr>
        <p:spPr/>
        <p:txBody>
          <a:bodyPr/>
          <a:lstStyle/>
          <a:p>
            <a:pPr lvl="0" indent="0" marL="0">
              <a:buNone/>
            </a:pPr>
            <a:r>
              <a:rPr/>
              <a:t>Sharing code and data can help identify even accidental mistakes</a:t>
            </a:r>
          </a:p>
        </p:txBody>
      </p:sp>
      <p:pic>
        <p:nvPicPr>
          <p:cNvPr descr="images/lec-1/accidental.png" id="0" name="Picture 1"/>
          <p:cNvPicPr>
            <a:picLocks noGrp="1" noChangeAspect="1"/>
          </p:cNvPicPr>
          <p:nvPr/>
        </p:nvPicPr>
        <p:blipFill>
          <a:blip r:embed="rId2"/>
          <a:stretch>
            <a:fillRect/>
          </a:stretch>
        </p:blipFill>
        <p:spPr bwMode="auto">
          <a:xfrm>
            <a:off x="4991100" y="1193800"/>
            <a:ext cx="3352800" cy="33909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biostatistics good for?</a:t>
            </a:r>
          </a:p>
        </p:txBody>
      </p:sp>
      <p:sp>
        <p:nvSpPr>
          <p:cNvPr id="3" name="Content Placeholder 2"/>
          <p:cNvSpPr>
            <a:spLocks noGrp="1"/>
          </p:cNvSpPr>
          <p:nvPr>
            <p:ph idx="1"/>
          </p:nvPr>
        </p:nvSpPr>
        <p:spPr/>
        <p:txBody>
          <a:bodyPr/>
          <a:lstStyle/>
          <a:p>
            <a:pPr lvl="0"/>
            <a:r>
              <a:rPr/>
              <a:t>📊 </a:t>
            </a:r>
            <a:r>
              <a:rPr b="1"/>
              <a:t>Turning Data Into Insight</a:t>
            </a:r>
            <a:br/>
            <a:r>
              <a:rPr/>
              <a:t>Biostatistics helps us move beyond raw numbers to identify meaningful patterns in health and disease.</a:t>
            </a:r>
          </a:p>
          <a:p>
            <a:pPr lvl="0"/>
            <a:r>
              <a:rPr/>
              <a:t>🧪 </a:t>
            </a:r>
            <a:r>
              <a:rPr b="1"/>
              <a:t>Evaluating Interventions</a:t>
            </a:r>
            <a:br/>
            <a:r>
              <a:rPr/>
              <a:t>From vaccines to health policies, biostatistics allows us to rigorously test what </a:t>
            </a:r>
            <a:r>
              <a:rPr i="1"/>
              <a:t>really works</a:t>
            </a:r>
            <a:r>
              <a:rPr/>
              <a:t>.</a:t>
            </a:r>
          </a:p>
          <a:p>
            <a:pPr lvl="0"/>
            <a:r>
              <a:rPr/>
              <a:t>🌍 </a:t>
            </a:r>
            <a:r>
              <a:rPr b="1"/>
              <a:t>Promoting Health Equity</a:t>
            </a:r>
            <a:br/>
            <a:r>
              <a:rPr/>
              <a:t>Careful analysis helps uncover disparities in health outcomes and guide solutions for underserved communities.</a:t>
            </a:r>
          </a:p>
          <a:p>
            <a:pPr lvl="0"/>
            <a:r>
              <a:rPr/>
              <a:t>🔮 </a:t>
            </a:r>
            <a:r>
              <a:rPr b="1"/>
              <a:t>Forecasting &amp; Prevention</a:t>
            </a:r>
            <a:br/>
            <a:r>
              <a:rPr/>
              <a:t>Models help us anticipate outbreaks, chronic disease trends, and the impact of prevention strategies.</a:t>
            </a:r>
          </a:p>
          <a:p>
            <a:pPr lvl="0"/>
            <a:r>
              <a:rPr/>
              <a:t>🏥 </a:t>
            </a:r>
            <a:r>
              <a:rPr b="1"/>
              <a:t>Improving Patient Care</a:t>
            </a:r>
            <a:br/>
            <a:r>
              <a:rPr/>
              <a:t>Biostatistics drives evidence-based medicine by connecting research to better clinical decisions.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is biostatistics good for?</a:t>
            </a:r>
          </a:p>
        </p:txBody>
      </p:sp>
      <p:sp>
        <p:nvSpPr>
          <p:cNvPr id="4" name="Text Placeholder 3"/>
          <p:cNvSpPr>
            <a:spLocks noGrp="1"/>
          </p:cNvSpPr>
          <p:nvPr>
            <p:ph idx="2" sz="half" type="body"/>
          </p:nvPr>
        </p:nvSpPr>
        <p:spPr/>
        <p:txBody>
          <a:bodyPr/>
          <a:lstStyle/>
          <a:p>
            <a:pPr lvl="0"/>
            <a:r>
              <a:rPr/>
              <a:t>When we appropriately apply statistical inference methods, they can do a lot of good!</a:t>
            </a:r>
          </a:p>
        </p:txBody>
      </p:sp>
      <p:pic>
        <p:nvPicPr>
          <p:cNvPr descr="images/lec-1/hospital.PNG" id="0" name="Picture 1"/>
          <p:cNvPicPr>
            <a:picLocks noGrp="1" noChangeAspect="1"/>
          </p:cNvPicPr>
          <p:nvPr/>
        </p:nvPicPr>
        <p:blipFill>
          <a:blip r:embed="rId2"/>
          <a:stretch>
            <a:fillRect/>
          </a:stretch>
        </p:blipFill>
        <p:spPr bwMode="auto">
          <a:xfrm>
            <a:off x="3568700" y="1562100"/>
            <a:ext cx="5105400" cy="16510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Link to Study</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biostatistics good for?</a:t>
            </a:r>
          </a:p>
        </p:txBody>
      </p:sp>
      <p:pic>
        <p:nvPicPr>
          <p:cNvPr descr="images/lec-1/hurricane.PNG" id="0" name="Picture 1"/>
          <p:cNvPicPr>
            <a:picLocks noGrp="1" noChangeAspect="1"/>
          </p:cNvPicPr>
          <p:nvPr/>
        </p:nvPicPr>
        <p:blipFill>
          <a:blip r:embed="rId2"/>
          <a:stretch>
            <a:fillRect/>
          </a:stretch>
        </p:blipFill>
        <p:spPr bwMode="auto">
          <a:xfrm>
            <a:off x="1498600" y="1193800"/>
            <a:ext cx="6146800" cy="33909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Link to Study</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biostatistics good for?</a:t>
            </a:r>
          </a:p>
        </p:txBody>
      </p:sp>
      <p:pic>
        <p:nvPicPr>
          <p:cNvPr descr="images/lec-1/incarceration.PNG" id="0" name="Picture 1"/>
          <p:cNvPicPr>
            <a:picLocks noGrp="1" noChangeAspect="1"/>
          </p:cNvPicPr>
          <p:nvPr/>
        </p:nvPicPr>
        <p:blipFill>
          <a:blip r:embed="rId2"/>
          <a:stretch>
            <a:fillRect/>
          </a:stretch>
        </p:blipFill>
        <p:spPr bwMode="auto">
          <a:xfrm>
            <a:off x="457200" y="1498600"/>
            <a:ext cx="8229600" cy="2781300"/>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hlinkClick r:id="rId2"/>
              </a:rPr>
              <a:t>Link to Study</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 this course, we will…</a:t>
            </a:r>
          </a:p>
        </p:txBody>
      </p:sp>
      <p:sp>
        <p:nvSpPr>
          <p:cNvPr id="3" name="Content Placeholder 2"/>
          <p:cNvSpPr>
            <a:spLocks noGrp="1"/>
          </p:cNvSpPr>
          <p:nvPr>
            <p:ph idx="1"/>
          </p:nvPr>
        </p:nvSpPr>
        <p:spPr/>
        <p:txBody>
          <a:bodyPr/>
          <a:lstStyle/>
          <a:p>
            <a:pPr lvl="0"/>
            <a:r>
              <a:rPr/>
              <a:t>Apply descriptive techniques commonly used to summarize public health data.</a:t>
            </a:r>
          </a:p>
          <a:p>
            <a:pPr lvl="0"/>
            <a:r>
              <a:rPr/>
              <a:t>Learn methods to analyze real-world data to answer research questions in a biomedical setting.</a:t>
            </a:r>
          </a:p>
          <a:p>
            <a:pPr lvl="0"/>
            <a:r>
              <a:rPr/>
              <a:t>Use </a:t>
            </a:r>
            <a:r>
              <a:rPr>
                <a:hlinkClick r:id="rId2"/>
              </a:rPr>
              <a:t>Quarto</a:t>
            </a:r>
            <a:r>
              <a:rPr/>
              <a:t> within RStudio (now Posit) to write reproducible reports.</a:t>
            </a:r>
          </a:p>
          <a:p>
            <a:pPr lvl="1"/>
            <a:r>
              <a:rPr/>
              <a:t>Reading in data, cleaning data, visualization, analysis, interpretation</a:t>
            </a:r>
          </a:p>
          <a:p>
            <a:pPr lvl="0"/>
            <a:r>
              <a:rPr/>
              <a:t>Communicate results from statistical analyses to a general audience.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Getting to know R and RStudio</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Recap</a:t>
            </a:r>
          </a:p>
        </p:txBody>
      </p:sp>
      <p:sp>
        <p:nvSpPr>
          <p:cNvPr id="3" name="Content Placeholder 2"/>
          <p:cNvSpPr>
            <a:spLocks noGrp="1"/>
          </p:cNvSpPr>
          <p:nvPr>
            <p:ph idx="1"/>
          </p:nvPr>
        </p:nvSpPr>
        <p:spPr/>
        <p:txBody>
          <a:bodyPr/>
          <a:lstStyle/>
          <a:p>
            <a:pPr lvl="0"/>
            <a:r>
              <a:rPr/>
              <a:t>What is (bio)statistical inference?</a:t>
            </a:r>
          </a:p>
          <a:p>
            <a:pPr lvl="0"/>
            <a:r>
              <a:rPr/>
              <a:t>Identifying the population of interest</a:t>
            </a:r>
          </a:p>
          <a:p>
            <a:pPr lvl="0"/>
            <a:r>
              <a:rPr/>
              <a:t>Sampling types and biases</a:t>
            </a:r>
          </a:p>
          <a:p>
            <a:pPr lvl="0"/>
            <a:r>
              <a:rPr/>
              <a:t>Reproducibility crisis: falsifying data</a:t>
            </a:r>
          </a:p>
          <a:p>
            <a:pPr lvl="0"/>
            <a:r>
              <a:rPr/>
              <a:t>Biostatistics for public good!</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class</a:t>
            </a:r>
          </a:p>
        </p:txBody>
      </p:sp>
      <p:sp>
        <p:nvSpPr>
          <p:cNvPr id="3" name="Content Placeholder 2"/>
          <p:cNvSpPr>
            <a:spLocks noGrp="1"/>
          </p:cNvSpPr>
          <p:nvPr>
            <p:ph idx="1"/>
          </p:nvPr>
        </p:nvSpPr>
        <p:spPr/>
        <p:txBody>
          <a:bodyPr/>
          <a:lstStyle/>
          <a:p>
            <a:pPr lvl="0"/>
            <a:r>
              <a:rPr/>
              <a:t>Probability Basics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 1: Course overview &amp; What is statistical inference?</dc:title>
  <dc:creator/>
  <cp:keywords/>
  <dcterms:created xsi:type="dcterms:W3CDTF">2026-05-20T18:36:50Z</dcterms:created>
  <dcterms:modified xsi:type="dcterms:W3CDTF">2026-05-20T18:36:50Z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biblio-config">
    <vt:lpwstr>True</vt:lpwstr>
  </property>
  <property fmtid="{D5CDD505-2E9C-101B-9397-08002B2CF9AE}" pid="4" name="by-affiliation">
    <vt:lpwstr/>
  </property>
  <property fmtid="{D5CDD505-2E9C-101B-9397-08002B2CF9AE}" pid="5" name="engines">
    <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institute">
    <vt:lpwstr>UNC - Chapel Hill</vt:lpwstr>
  </property>
  <property fmtid="{D5CDD505-2E9C-101B-9397-08002B2CF9AE}" pid="11" name="institutes">
    <vt:lpwstr/>
  </property>
  <property fmtid="{D5CDD505-2E9C-101B-9397-08002B2CF9AE}" pid="12" name="labels">
    <vt:lpwstr/>
  </property>
  <property fmtid="{D5CDD505-2E9C-101B-9397-08002B2CF9AE}" pid="13" name="logo">
    <vt:lpwstr>images/logo_600.png</vt:lpwstr>
  </property>
  <property fmtid="{D5CDD505-2E9C-101B-9397-08002B2CF9AE}" pid="14" name="subtitle">
    <vt:lpwstr>BIOS 600 - Summer Session II 2026</vt:lpwstr>
  </property>
  <property fmtid="{D5CDD505-2E9C-101B-9397-08002B2CF9AE}" pid="15" name="toc-title">
    <vt:lpwstr>Table of contents</vt:lpwstr>
  </property>
</Properties>
</file>