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3" r:id="rId2"/>
    <p:sldId id="258" r:id="rId3"/>
    <p:sldId id="274" r:id="rId4"/>
    <p:sldId id="259" r:id="rId5"/>
    <p:sldId id="261" r:id="rId6"/>
    <p:sldId id="262" r:id="rId7"/>
    <p:sldId id="263" r:id="rId8"/>
    <p:sldId id="264" r:id="rId9"/>
    <p:sldId id="266" r:id="rId10"/>
    <p:sldId id="275" r:id="rId11"/>
    <p:sldId id="267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707D70-E1AE-4460-A655-CFD5DDE433C3}" v="9" dt="2026-04-15T02:03:28.5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0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ward, Annie Green" userId="cca2d8b1-65da-4752-8b83-4f1c0df3704b" providerId="ADAL" clId="{EAA4A942-942A-464E-BB0E-47C9CDF5DE67}"/>
    <pc:docChg chg="undo custSel addSld delSld modSld">
      <pc:chgData name="Howard, Annie Green" userId="cca2d8b1-65da-4752-8b83-4f1c0df3704b" providerId="ADAL" clId="{EAA4A942-942A-464E-BB0E-47C9CDF5DE67}" dt="2026-04-15T12:55:22.967" v="642" actId="1076"/>
      <pc:docMkLst>
        <pc:docMk/>
      </pc:docMkLst>
      <pc:sldChg chg="modSp mod">
        <pc:chgData name="Howard, Annie Green" userId="cca2d8b1-65da-4752-8b83-4f1c0df3704b" providerId="ADAL" clId="{EAA4A942-942A-464E-BB0E-47C9CDF5DE67}" dt="2026-04-15T02:39:31.443" v="637" actId="20577"/>
        <pc:sldMkLst>
          <pc:docMk/>
          <pc:sldMk cId="4069860595" sldId="258"/>
        </pc:sldMkLst>
        <pc:spChg chg="mod">
          <ac:chgData name="Howard, Annie Green" userId="cca2d8b1-65da-4752-8b83-4f1c0df3704b" providerId="ADAL" clId="{EAA4A942-942A-464E-BB0E-47C9CDF5DE67}" dt="2026-04-15T02:39:31.443" v="637" actId="20577"/>
          <ac:spMkLst>
            <pc:docMk/>
            <pc:sldMk cId="4069860595" sldId="258"/>
            <ac:spMk id="3" creationId="{BC21EE9A-5178-AE0C-52C0-03B2B47469DA}"/>
          </ac:spMkLst>
        </pc:spChg>
      </pc:sldChg>
      <pc:sldChg chg="new">
        <pc:chgData name="Howard, Annie Green" userId="cca2d8b1-65da-4752-8b83-4f1c0df3704b" providerId="ADAL" clId="{EAA4A942-942A-464E-BB0E-47C9CDF5DE67}" dt="2026-04-15T01:38:18.360" v="2" actId="680"/>
        <pc:sldMkLst>
          <pc:docMk/>
          <pc:sldMk cId="2700656901" sldId="273"/>
        </pc:sldMkLst>
      </pc:sldChg>
      <pc:sldChg chg="new del">
        <pc:chgData name="Howard, Annie Green" userId="cca2d8b1-65da-4752-8b83-4f1c0df3704b" providerId="ADAL" clId="{EAA4A942-942A-464E-BB0E-47C9CDF5DE67}" dt="2026-04-15T01:38:16.786" v="1" actId="2696"/>
        <pc:sldMkLst>
          <pc:docMk/>
          <pc:sldMk cId="3246215122" sldId="273"/>
        </pc:sldMkLst>
      </pc:sldChg>
      <pc:sldChg chg="new">
        <pc:chgData name="Howard, Annie Green" userId="cca2d8b1-65da-4752-8b83-4f1c0df3704b" providerId="ADAL" clId="{EAA4A942-942A-464E-BB0E-47C9CDF5DE67}" dt="2026-04-15T01:38:21.119" v="3" actId="680"/>
        <pc:sldMkLst>
          <pc:docMk/>
          <pc:sldMk cId="407383584" sldId="274"/>
        </pc:sldMkLst>
      </pc:sldChg>
      <pc:sldChg chg="add del">
        <pc:chgData name="Howard, Annie Green" userId="cca2d8b1-65da-4752-8b83-4f1c0df3704b" providerId="ADAL" clId="{EAA4A942-942A-464E-BB0E-47C9CDF5DE67}" dt="2026-04-15T02:39:28.082" v="636" actId="2696"/>
        <pc:sldMkLst>
          <pc:docMk/>
          <pc:sldMk cId="2639782979" sldId="275"/>
        </pc:sldMkLst>
      </pc:sldChg>
      <pc:sldChg chg="addSp modSp new mod">
        <pc:chgData name="Howard, Annie Green" userId="cca2d8b1-65da-4752-8b83-4f1c0df3704b" providerId="ADAL" clId="{EAA4A942-942A-464E-BB0E-47C9CDF5DE67}" dt="2026-04-15T12:55:22.967" v="642" actId="1076"/>
        <pc:sldMkLst>
          <pc:docMk/>
          <pc:sldMk cId="3957987230" sldId="275"/>
        </pc:sldMkLst>
        <pc:picChg chg="add mod">
          <ac:chgData name="Howard, Annie Green" userId="cca2d8b1-65da-4752-8b83-4f1c0df3704b" providerId="ADAL" clId="{EAA4A942-942A-464E-BB0E-47C9CDF5DE67}" dt="2026-04-15T12:55:09.720" v="640" actId="1076"/>
          <ac:picMkLst>
            <pc:docMk/>
            <pc:sldMk cId="3957987230" sldId="275"/>
            <ac:picMk id="5" creationId="{D1BB7BA1-9198-7095-7239-27DC3BD2C6BE}"/>
          </ac:picMkLst>
        </pc:picChg>
        <pc:picChg chg="add mod">
          <ac:chgData name="Howard, Annie Green" userId="cca2d8b1-65da-4752-8b83-4f1c0df3704b" providerId="ADAL" clId="{EAA4A942-942A-464E-BB0E-47C9CDF5DE67}" dt="2026-04-15T12:55:22.967" v="642" actId="1076"/>
          <ac:picMkLst>
            <pc:docMk/>
            <pc:sldMk cId="3957987230" sldId="275"/>
            <ac:picMk id="7" creationId="{647BAA8A-9E76-6C4C-5E47-C38869F1088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0.49</c:v>
                </c:pt>
                <c:pt idx="1">
                  <c:v>0.31</c:v>
                </c:pt>
                <c:pt idx="2">
                  <c:v>0.01</c:v>
                </c:pt>
                <c:pt idx="3">
                  <c:v>0.17</c:v>
                </c:pt>
                <c:pt idx="4">
                  <c:v>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D-4439-8798-80528C9C17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0.41</c:v>
                </c:pt>
                <c:pt idx="1">
                  <c:v>0.4</c:v>
                </c:pt>
                <c:pt idx="2" formatCode="0.00%">
                  <c:v>2E-3</c:v>
                </c:pt>
                <c:pt idx="3">
                  <c:v>0.16</c:v>
                </c:pt>
                <c:pt idx="4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DD-4439-8798-80528C9C17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0.42</c:v>
                </c:pt>
                <c:pt idx="1">
                  <c:v>0.28000000000000003</c:v>
                </c:pt>
                <c:pt idx="2">
                  <c:v>0</c:v>
                </c:pt>
                <c:pt idx="3">
                  <c:v>0.3</c:v>
                </c:pt>
                <c:pt idx="4">
                  <c:v>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DD-4439-8798-80528C9C17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1E-3</c:v>
                </c:pt>
                <c:pt idx="1">
                  <c:v>0</c:v>
                </c:pt>
                <c:pt idx="2">
                  <c:v>0.998</c:v>
                </c:pt>
                <c:pt idx="3">
                  <c:v>0</c:v>
                </c:pt>
                <c:pt idx="4" formatCode="0.0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DD-4439-8798-80528C9C1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Sheet1!$B$7:$B$12</c:f>
              <c:numCache>
                <c:formatCode>0%</c:formatCode>
                <c:ptCount val="6"/>
                <c:pt idx="0">
                  <c:v>0.61</c:v>
                </c:pt>
                <c:pt idx="1">
                  <c:v>0.12</c:v>
                </c:pt>
                <c:pt idx="2">
                  <c:v>1E-3</c:v>
                </c:pt>
                <c:pt idx="3">
                  <c:v>5.0000000000000001E-3</c:v>
                </c:pt>
                <c:pt idx="4" formatCode="0.00%">
                  <c:v>0.19</c:v>
                </c:pt>
                <c:pt idx="5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D-4BD8-88C2-F21066830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Sheet1!$C$7:$C$12</c:f>
              <c:numCache>
                <c:formatCode>0%</c:formatCode>
                <c:ptCount val="6"/>
                <c:pt idx="0">
                  <c:v>0</c:v>
                </c:pt>
                <c:pt idx="1">
                  <c:v>0.33</c:v>
                </c:pt>
                <c:pt idx="2">
                  <c:v>0.13</c:v>
                </c:pt>
                <c:pt idx="3">
                  <c:v>0.03</c:v>
                </c:pt>
                <c:pt idx="4">
                  <c:v>0.34</c:v>
                </c:pt>
                <c:pt idx="5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D-4BD8-88C2-F21066830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Sheet1!$D$7:$D$12</c:f>
              <c:numCache>
                <c:formatCode>0%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0%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8D-4BD8-88C2-F21066830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Sheet1!$E$7:$E$12</c:f>
              <c:numCache>
                <c:formatCode>0%</c:formatCode>
                <c:ptCount val="6"/>
                <c:pt idx="0">
                  <c:v>0.76</c:v>
                </c:pt>
                <c:pt idx="1">
                  <c:v>0.05</c:v>
                </c:pt>
                <c:pt idx="2">
                  <c:v>0.04</c:v>
                </c:pt>
                <c:pt idx="3">
                  <c:v>0</c:v>
                </c:pt>
                <c:pt idx="4">
                  <c:v>0.11</c:v>
                </c:pt>
                <c:pt idx="5" formatCode="0.00%">
                  <c:v>3.0000000000000001E-3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8D-4BD8-88C2-F21066830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(17%)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Sheet1!$B$13:$B$17</c:f>
              <c:numCache>
                <c:formatCode>0%</c:formatCode>
                <c:ptCount val="5"/>
                <c:pt idx="0">
                  <c:v>0.02</c:v>
                </c:pt>
                <c:pt idx="1">
                  <c:v>0.05</c:v>
                </c:pt>
                <c:pt idx="2">
                  <c:v>0</c:v>
                </c:pt>
                <c:pt idx="3">
                  <c:v>0.71</c:v>
                </c:pt>
                <c:pt idx="4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3A-4694-9C09-B50A785C34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 (24%)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Sheet1!$C$13:$C$17</c:f>
              <c:numCache>
                <c:formatCode>0.00%</c:formatCode>
                <c:ptCount val="5"/>
                <c:pt idx="0" formatCode="0%">
                  <c:v>0.02</c:v>
                </c:pt>
                <c:pt idx="1">
                  <c:v>0.08</c:v>
                </c:pt>
                <c:pt idx="2" formatCode="0%">
                  <c:v>1</c:v>
                </c:pt>
                <c:pt idx="3" formatCode="0%">
                  <c:v>0</c:v>
                </c:pt>
                <c:pt idx="4" formatCode="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3A-4694-9C09-B50A785C34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 (44%)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Sheet1!$D$13:$D$17</c:f>
              <c:numCache>
                <c:formatCode>0%</c:formatCode>
                <c:ptCount val="5"/>
                <c:pt idx="0">
                  <c:v>0.02</c:v>
                </c:pt>
                <c:pt idx="1">
                  <c:v>0.04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3A-4694-9C09-B50A785C34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(14%)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Sheet1!$E$13:$E$17</c:f>
              <c:numCache>
                <c:formatCode>0.00%</c:formatCode>
                <c:ptCount val="5"/>
                <c:pt idx="0" formatCode="0%">
                  <c:v>0.8</c:v>
                </c:pt>
                <c:pt idx="1">
                  <c:v>0.82</c:v>
                </c:pt>
                <c:pt idx="2" formatCode="0%">
                  <c:v>0.87</c:v>
                </c:pt>
                <c:pt idx="3" formatCode="0%">
                  <c:v>0.13</c:v>
                </c:pt>
                <c:pt idx="4" formatCode="0%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3A-4694-9C09-B50A785C3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0.41</c:v>
                </c:pt>
                <c:pt idx="1">
                  <c:v>0.27</c:v>
                </c:pt>
                <c:pt idx="2">
                  <c:v>0</c:v>
                </c:pt>
                <c:pt idx="3">
                  <c:v>0.3</c:v>
                </c:pt>
                <c:pt idx="4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DD-4439-8798-80528C9C17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0.47</c:v>
                </c:pt>
                <c:pt idx="1">
                  <c:v>0.28000000000000003</c:v>
                </c:pt>
                <c:pt idx="2" formatCode="0.00%">
                  <c:v>0.01</c:v>
                </c:pt>
                <c:pt idx="3">
                  <c:v>0.2</c:v>
                </c:pt>
                <c:pt idx="4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DD-4439-8798-80528C9C175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Sheet1!$D$2:$D$6</c:f>
              <c:numCache>
                <c:formatCode>0%</c:formatCode>
                <c:ptCount val="5"/>
                <c:pt idx="0">
                  <c:v>0.41</c:v>
                </c:pt>
                <c:pt idx="1">
                  <c:v>0.34</c:v>
                </c:pt>
                <c:pt idx="2">
                  <c:v>0</c:v>
                </c:pt>
                <c:pt idx="3">
                  <c:v>0.17</c:v>
                </c:pt>
                <c:pt idx="4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DD-4439-8798-80528C9C175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% Family Medicine</c:v>
                </c:pt>
                <c:pt idx="1">
                  <c:v>% Internal Medicine</c:v>
                </c:pt>
                <c:pt idx="2">
                  <c:v>% ObGyn</c:v>
                </c:pt>
                <c:pt idx="3">
                  <c:v>% Pediatrics</c:v>
                </c:pt>
                <c:pt idx="4">
                  <c:v>% Geriatrics</c:v>
                </c:pt>
              </c:strCache>
            </c:strRef>
          </c:cat>
          <c:val>
            <c:numRef>
              <c:f>Sheet1!$E$2:$E$6</c:f>
              <c:numCache>
                <c:formatCode>0%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 formatCode="0.00%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CDD-4439-8798-80528C9C17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Sheet1!$B$7:$B$12</c:f>
              <c:numCache>
                <c:formatCode>0%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0.00%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8D-4BD8-88C2-F210668302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Sheet1!$C$7:$C$12</c:f>
              <c:numCache>
                <c:formatCode>0%</c:formatCode>
                <c:ptCount val="6"/>
                <c:pt idx="0">
                  <c:v>0.57999999999999996</c:v>
                </c:pt>
                <c:pt idx="1">
                  <c:v>0.1</c:v>
                </c:pt>
                <c:pt idx="2">
                  <c:v>0</c:v>
                </c:pt>
                <c:pt idx="3">
                  <c:v>0.02</c:v>
                </c:pt>
                <c:pt idx="4">
                  <c:v>0.15</c:v>
                </c:pt>
                <c:pt idx="5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D8D-4BD8-88C2-F2106683025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Sheet1!$D$7:$D$12</c:f>
              <c:numCache>
                <c:formatCode>0%</c:formatCode>
                <c:ptCount val="6"/>
                <c:pt idx="0">
                  <c:v>0</c:v>
                </c:pt>
                <c:pt idx="1">
                  <c:v>0.28999999999999998</c:v>
                </c:pt>
                <c:pt idx="2">
                  <c:v>0.1</c:v>
                </c:pt>
                <c:pt idx="3">
                  <c:v>0.05</c:v>
                </c:pt>
                <c:pt idx="4" formatCode="0.00%">
                  <c:v>0.26</c:v>
                </c:pt>
                <c:pt idx="5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D8D-4BD8-88C2-F2106683025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 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Sheet1!$A$7:$A$12</c:f>
              <c:strCache>
                <c:ptCount val="6"/>
                <c:pt idx="0">
                  <c:v>Ambulatory Care</c:v>
                </c:pt>
                <c:pt idx="1">
                  <c:v>Hospital </c:v>
                </c:pt>
                <c:pt idx="2">
                  <c:v>Medical School</c:v>
                </c:pt>
                <c:pt idx="3">
                  <c:v>Nursing home</c:v>
                </c:pt>
                <c:pt idx="4">
                  <c:v>Solo </c:v>
                </c:pt>
                <c:pt idx="5">
                  <c:v>Other</c:v>
                </c:pt>
              </c:strCache>
            </c:strRef>
          </c:cat>
          <c:val>
            <c:numRef>
              <c:f>Sheet1!$E$7:$E$12</c:f>
              <c:numCache>
                <c:formatCode>0%</c:formatCode>
                <c:ptCount val="6"/>
                <c:pt idx="0">
                  <c:v>0.68</c:v>
                </c:pt>
                <c:pt idx="1">
                  <c:v>0.12</c:v>
                </c:pt>
                <c:pt idx="2">
                  <c:v>0.04</c:v>
                </c:pt>
                <c:pt idx="3">
                  <c:v>0</c:v>
                </c:pt>
                <c:pt idx="4">
                  <c:v>7.0000000000000007E-2</c:v>
                </c:pt>
                <c:pt idx="5" formatCode="0.00%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D8D-4BD8-88C2-F210668302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Sheet1!$B$13:$B$17</c:f>
              <c:numCache>
                <c:formatCode>0%</c:formatCode>
                <c:ptCount val="5"/>
                <c:pt idx="0">
                  <c:v>6.0000000000000001E-3</c:v>
                </c:pt>
                <c:pt idx="1">
                  <c:v>0.02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3A-4694-9C09-B50A785C34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Class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Sheet1!$C$13:$C$17</c:f>
              <c:numCache>
                <c:formatCode>0.00%</c:formatCode>
                <c:ptCount val="5"/>
                <c:pt idx="0" formatCode="0%">
                  <c:v>6.0000000000000001E-3</c:v>
                </c:pt>
                <c:pt idx="1">
                  <c:v>0.02</c:v>
                </c:pt>
                <c:pt idx="2" formatCode="0%">
                  <c:v>0</c:v>
                </c:pt>
                <c:pt idx="3" formatCode="0%">
                  <c:v>0.7</c:v>
                </c:pt>
                <c:pt idx="4" formatCode="0%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3A-4694-9C09-B50A785C34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Class 3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Sheet1!$D$13:$D$17</c:f>
              <c:numCache>
                <c:formatCode>0%</c:formatCode>
                <c:ptCount val="5"/>
                <c:pt idx="0">
                  <c:v>0.01</c:v>
                </c:pt>
                <c:pt idx="1">
                  <c:v>0.06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3A-4694-9C09-B50A785C349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Sheet1!$A$13:$A$17</c:f>
              <c:strCache>
                <c:ptCount val="5"/>
                <c:pt idx="0">
                  <c:v>% Obstetric deliveries</c:v>
                </c:pt>
                <c:pt idx="1">
                  <c:v>% Prenatal</c:v>
                </c:pt>
                <c:pt idx="2">
                  <c:v>Urban</c:v>
                </c:pt>
                <c:pt idx="3">
                  <c:v>Large Rural </c:v>
                </c:pt>
                <c:pt idx="4">
                  <c:v>Small Rural</c:v>
                </c:pt>
              </c:strCache>
            </c:strRef>
          </c:cat>
          <c:val>
            <c:numRef>
              <c:f>Sheet1!$E$13:$E$17</c:f>
              <c:numCache>
                <c:formatCode>0.00%</c:formatCode>
                <c:ptCount val="5"/>
                <c:pt idx="0" formatCode="0%">
                  <c:v>0.68</c:v>
                </c:pt>
                <c:pt idx="1">
                  <c:v>0.71</c:v>
                </c:pt>
                <c:pt idx="2" formatCode="0%">
                  <c:v>0.84</c:v>
                </c:pt>
                <c:pt idx="3" formatCode="0%">
                  <c:v>0.13</c:v>
                </c:pt>
                <c:pt idx="4" formatCode="0%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3A-4694-9C09-B50A785C34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2190992"/>
        <c:axId val="1072202992"/>
      </c:barChart>
      <c:catAx>
        <c:axId val="107219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202992"/>
        <c:crosses val="autoZero"/>
        <c:auto val="1"/>
        <c:lblAlgn val="ctr"/>
        <c:lblOffset val="100"/>
        <c:noMultiLvlLbl val="0"/>
      </c:catAx>
      <c:valAx>
        <c:axId val="1072202992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190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A69A9-5F71-48C9-91CB-6C41B19A0868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57ECF-3480-4FF6-9F81-7C35F706E9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9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7ECF-3480-4FF6-9F81-7C35F706E9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75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257ECF-3480-4FF6-9F81-7C35F706E9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4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5085A-03C5-A1F9-0E39-8E8D7A0E8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00824-2D47-3686-7025-A187DE2906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AB9B5-A46B-2DFC-187F-F01FF5A40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AB4A6-22B3-C77B-6F00-7E7D208F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A15C0-E76F-0BA4-1A98-2A9C1F121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6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D2A1C-7082-BD06-2072-DF515A5FE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77AF2-58C2-03D8-164D-E49DB998C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3DB8-253A-D224-BFF7-34815F88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03F44-63F3-521D-6BE8-299210176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C8244-C635-F9B9-A913-18D960FE3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703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FEDE-6142-55BE-1CE1-476C84E6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22EB1-058F-D0BD-7C8D-6FA94E078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28E7A-422F-C2D5-E4BD-E7F5425D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E742F-4F74-D9D9-4EBC-E64D3624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69B68-466C-F691-5907-4C6758295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2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226B-DD87-DE8A-7D73-68E7D12DE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CFCC2-8EB3-C558-CF8B-CAFB44541C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4C3FB-7076-CBE5-24C0-0CAF2387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58605-7AF6-23DC-5CDE-FE6CFB669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3361A-413D-7F6B-6832-0B42E0C8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5A831-7EE6-5CAA-372D-95EA1B7F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65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6756-08E5-3794-0C06-228428AC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91A51-2C10-39D6-1A23-4C58CD09A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6249C-95F6-1B32-D91B-9C5DF331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E3A6E4-2546-8299-735F-87FD297EC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3B99D-8EF4-8F79-FBE8-A38BC7BF83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DAA62-D9F9-F73C-531B-B5570A5C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4EB1C5-F240-0103-67D4-08187DB4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1C4F9B-4468-94D4-8F10-BE25F477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08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A0E7-EF19-9B17-12AF-12E216BCE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BAF18-AEE9-D8A1-95D3-5C88E30B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311644-FC6A-9129-8A9A-89F13C5A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D2BAC-544D-23D2-46CD-87B6BAF7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944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D74D9F-AEF9-F6FF-AA26-C631A81D7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E013C-EC07-57CA-4489-5EDC41DB7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5183A-CFCE-0100-65EE-0C034FF9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89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71FA-7AB7-D068-3865-98679B47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A4A9D-A8C7-3140-BA37-606994B3A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ABD50D-3428-DB8B-3D98-FFEE37C29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E4DFC-E588-C7BF-A9A5-CFD47942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16B36-1B9E-2294-8146-CBF0C136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ED23A-1D76-DC22-BB89-E9A94646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54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3EB8-D2D2-1D0B-CB1D-9FF3EC3A5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C136C2-3572-5B46-C915-8B325C625C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EBAA2D-4620-CF72-9D0C-EEAD4AAD6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D9A76-5E63-E63E-194F-70012AC3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DB7E-10E6-9145-39D6-65A9AF79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EA5468-7D5E-358E-A95B-6758D7782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12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5B2BB-AE69-4487-D09D-0572BD89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34200B-4B13-F47F-6881-A75F595F7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1C694-CDF6-7092-8456-FEADACBD5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6605B-6044-6013-9977-BDD177AF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8EC58-0D30-C55C-6B00-A26A3B11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934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515F79-28A4-BE1F-2537-E83E286CC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213A4-9660-0190-A0E6-85C946590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47351F-31D7-C998-1122-F88D9E26D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4BE94-75B8-33C3-BB1D-2BAD8E47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C19F4-3642-D571-B751-DC2D03BEC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94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A239F-DA38-804B-49EF-C89BE086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C45BB-1C67-91DD-8A8E-CD0F49546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C0FEF-C20F-95F9-062F-63F053218F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9DC06-1E5E-40DC-B975-D5303F97F6DD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50AAF-9B30-69FA-BB55-B4692D2C5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8DF71-55C9-A758-1CA1-A2345C83E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BBAB83-774B-4603-82EE-521A5451F3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172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F4F5C-C562-2CFA-02BE-5620F23F1E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95D8B-98B7-7D60-85A6-8DBF82F7D4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56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471F-F07E-85CC-5101-C50F7C54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on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1EE9A-5178-AE0C-52C0-03B2B4746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Update on Sample Sizes:  </a:t>
            </a:r>
          </a:p>
          <a:p>
            <a:pPr lvl="1"/>
            <a:r>
              <a:rPr lang="en-US" dirty="0"/>
              <a:t>Have confirmed with Todd’s dump</a:t>
            </a:r>
          </a:p>
          <a:p>
            <a:pPr lvl="1"/>
            <a:r>
              <a:rPr lang="en-US" dirty="0"/>
              <a:t>Total of 8,702 individuals in 2009 </a:t>
            </a:r>
          </a:p>
          <a:p>
            <a:pPr lvl="1"/>
            <a:r>
              <a:rPr lang="en-US" dirty="0"/>
              <a:t>Total of 7,929 individuals in 2019</a:t>
            </a:r>
          </a:p>
        </p:txBody>
      </p:sp>
    </p:spTree>
    <p:extLst>
      <p:ext uri="{BB962C8B-B14F-4D97-AF65-F5344CB8AC3E}">
        <p14:creationId xmlns:p14="http://schemas.microsoft.com/office/powerpoint/2010/main" val="4069860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C7EEA-993F-6698-DDBB-7487F1F87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DE57E-FE09-3FF1-0123-8CE75B276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3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44A3D-D5B8-B42A-A544-65627384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43D46-A50B-BF47-D029-FA04F2F8A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the original MPLUS files avaliable? These just look to be dataset so would be curious if we could locate original datasets?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to handle missing data? </a:t>
            </a:r>
          </a:p>
          <a:p>
            <a:pPr lvl="1"/>
            <a:r>
              <a:rPr lang="en-US" dirty="0"/>
              <a:t>Sensitivity analysis dropping values</a:t>
            </a:r>
          </a:p>
          <a:p>
            <a:pPr lvl="1"/>
            <a:r>
              <a:rPr lang="en-US" dirty="0"/>
              <a:t>Include missing category</a:t>
            </a:r>
          </a:p>
          <a:p>
            <a:pPr lvl="1"/>
            <a:r>
              <a:rPr lang="en-US" dirty="0"/>
              <a:t>Assume missingness patterns are related to other variables observed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95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B64CB-5EFA-E334-50AB-8303B6BF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122241" y="311911"/>
            <a:ext cx="2937935" cy="1439333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Comparing Descriptive Statistics in 2009 of those in 2009 Sample Who Were Also in 2019 vs Those Not in 2019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**AGH add sample size**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13FCF37-CA38-9610-0198-1F5AA63194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880883"/>
              </p:ext>
            </p:extLst>
          </p:nvPr>
        </p:nvGraphicFramePr>
        <p:xfrm>
          <a:off x="203201" y="231771"/>
          <a:ext cx="7281003" cy="62988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96615">
                  <a:extLst>
                    <a:ext uri="{9D8B030D-6E8A-4147-A177-3AD203B41FA5}">
                      <a16:colId xmlns:a16="http://schemas.microsoft.com/office/drawing/2014/main" val="841219058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2248741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4255201548"/>
                    </a:ext>
                  </a:extLst>
                </a:gridCol>
                <a:gridCol w="937100">
                  <a:extLst>
                    <a:ext uri="{9D8B030D-6E8A-4147-A177-3AD203B41FA5}">
                      <a16:colId xmlns:a16="http://schemas.microsoft.com/office/drawing/2014/main" val="2393706157"/>
                    </a:ext>
                  </a:extLst>
                </a:gridCol>
              </a:tblGrid>
              <a:tr h="3727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 2009 But Not in 2019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N= </a:t>
                      </a: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 2009 And in 2019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N = </a:t>
                      </a: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191855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Race/Ethnicity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White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114569181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Black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740877142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American Indian/Alaskan Native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51911583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Asian/Pacific Islander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69189865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Hispanic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3%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684837129"/>
                  </a:ext>
                </a:extLst>
              </a:tr>
              <a:tr h="21770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948038779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 in 2009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47.9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45.2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500368559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Female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US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43%</a:t>
                      </a: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384388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Providing routine obstetric deliveries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31575527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Providing routine prenatal care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prenatal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924288642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Specialty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Family Medicine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37%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3444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Internal Medicine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03169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Obstetrics and gynecology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330650235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General Pediatrics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17%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20%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372582924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Geriatrics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543199076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Urban/rural status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Urban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80%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81%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141738802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Large Rural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094073051"/>
                  </a:ext>
                </a:extLst>
              </a:tr>
              <a:tr h="1711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Small rural 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550915223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Setting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Ambulatory Care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38%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66%</a:t>
                      </a:r>
                      <a:endParaRPr lang="en-US" sz="14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256570"/>
                  </a:ext>
                </a:extLst>
              </a:tr>
              <a:tr h="8746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Hospital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31%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53880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Medical School/Parent university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12%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4%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358310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Nursing home/extended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3929129190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2%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2467269500"/>
                  </a:ext>
                </a:extLst>
              </a:tr>
              <a:tr h="11764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Solo practitioner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9%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13%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606939722"/>
                  </a:ext>
                </a:extLst>
              </a:tr>
              <a:tr h="2182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Missing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>
                          <a:effectLst/>
                          <a:latin typeface="+mn-lt"/>
                        </a:rPr>
                        <a:t>8%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  <a:latin typeface="+mn-lt"/>
                        </a:rPr>
                        <a:t>5%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/>
                </a:tc>
                <a:extLst>
                  <a:ext uri="{0D108BD9-81ED-4DB2-BD59-A6C34878D82A}">
                    <a16:rowId xmlns:a16="http://schemas.microsoft.com/office/drawing/2014/main" val="1876569354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5F162690-ECC2-8ECD-6B3E-FA9B4E5D05B5}"/>
              </a:ext>
            </a:extLst>
          </p:cNvPr>
          <p:cNvSpPr txBox="1">
            <a:spLocks/>
          </p:cNvSpPr>
          <p:nvPr/>
        </p:nvSpPr>
        <p:spPr>
          <a:xfrm rot="10800000" flipV="1">
            <a:off x="7897029" y="4115499"/>
            <a:ext cx="3772405" cy="13296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We so see some differences in analytic population</a:t>
            </a:r>
          </a:p>
          <a:p>
            <a:pPr algn="ctr"/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% Female is higher in LTA 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% of people in family medicine in LTA analytic sample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Lower % of internal medicine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rates of individuals working in ambulatory settings, lower rates in hospital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Similar race/ethnicity and urban/rural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61C84-65B3-32FB-D700-6D3409BDF5B6}"/>
              </a:ext>
            </a:extLst>
          </p:cNvPr>
          <p:cNvSpPr txBox="1"/>
          <p:nvPr/>
        </p:nvSpPr>
        <p:spPr>
          <a:xfrm>
            <a:off x="0" y="5979898"/>
            <a:ext cx="2744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Flag ** those in ambulatory care </a:t>
            </a:r>
          </a:p>
        </p:txBody>
      </p:sp>
    </p:spTree>
    <p:extLst>
      <p:ext uri="{BB962C8B-B14F-4D97-AF65-F5344CB8AC3E}">
        <p14:creationId xmlns:p14="http://schemas.microsoft.com/office/powerpoint/2010/main" val="355760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333D-94F0-7746-6720-9E50FB08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D8AF-A18D-1F3A-A588-1E6F03A6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8314265" y="787399"/>
            <a:ext cx="2937935" cy="1439333"/>
          </a:xfrm>
        </p:spPr>
        <p:txBody>
          <a:bodyPr>
            <a:noAutofit/>
          </a:bodyPr>
          <a:lstStyle/>
          <a:p>
            <a:pPr algn="ctr"/>
            <a:r>
              <a:rPr lang="en-US" sz="2000" dirty="0"/>
              <a:t>Comparing Descriptive Statistics in 2019 of those in 2019 Sample Who Were Also in 2009 vs Those Not in 2009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F64F05-CD98-522B-83CF-D362C2755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493469"/>
              </p:ext>
            </p:extLst>
          </p:nvPr>
        </p:nvGraphicFramePr>
        <p:xfrm>
          <a:off x="168085" y="196404"/>
          <a:ext cx="7703895" cy="63829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28340">
                  <a:extLst>
                    <a:ext uri="{9D8B030D-6E8A-4147-A177-3AD203B41FA5}">
                      <a16:colId xmlns:a16="http://schemas.microsoft.com/office/drawing/2014/main" val="2198556633"/>
                    </a:ext>
                  </a:extLst>
                </a:gridCol>
                <a:gridCol w="2726930">
                  <a:extLst>
                    <a:ext uri="{9D8B030D-6E8A-4147-A177-3AD203B41FA5}">
                      <a16:colId xmlns:a16="http://schemas.microsoft.com/office/drawing/2014/main" val="1809979392"/>
                    </a:ext>
                  </a:extLst>
                </a:gridCol>
                <a:gridCol w="1055067">
                  <a:extLst>
                    <a:ext uri="{9D8B030D-6E8A-4147-A177-3AD203B41FA5}">
                      <a16:colId xmlns:a16="http://schemas.microsoft.com/office/drawing/2014/main" val="148509910"/>
                    </a:ext>
                  </a:extLst>
                </a:gridCol>
                <a:gridCol w="1093558">
                  <a:extLst>
                    <a:ext uri="{9D8B030D-6E8A-4147-A177-3AD203B41FA5}">
                      <a16:colId xmlns:a16="http://schemas.microsoft.com/office/drawing/2014/main" val="723408737"/>
                    </a:ext>
                  </a:extLst>
                </a:gridCol>
              </a:tblGrid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 2019 But Not in 2009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 2009 And in 2019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4057" marR="4057" marT="4057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965927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Race/Ethnicity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White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60%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73%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10101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Black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193642283"/>
                  </a:ext>
                </a:extLst>
              </a:tr>
              <a:tr h="2559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American Indian/Alaskan Native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0%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4001995897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Asian/Pacific Islander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12%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9%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03113914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Hispanic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92342486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Other ***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+mn-lt"/>
                        </a:rPr>
                        <a:t>ADD MISSING* ADD SAMPLE SIZES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32002899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Age in 2019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41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55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00066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% Female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60%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43%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321816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+mn-lt"/>
                        </a:rPr>
                        <a:t>Providing routine obstetric deliveries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16%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10%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113006505"/>
                  </a:ext>
                </a:extLst>
              </a:tr>
              <a:tr h="3156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Providing routine prenatal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19%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473661923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Specialty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Family Medicine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36%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199998605"/>
                  </a:ext>
                </a:extLst>
              </a:tr>
              <a:tr h="210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General Internal Medicine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27%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25%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66335407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General Obstetrics and gynecology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15%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291806581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General Pediatrics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20%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21%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58718805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Geriatrics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81444479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Urban/rural status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Urban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86%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82%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434996727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Large Rural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614270191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Small rural 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5%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24958866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Setting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Ambulatory Care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44%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62%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14956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Hospital</a:t>
                      </a:r>
                    </a:p>
                  </a:txBody>
                  <a:tcPr marL="4057" marR="4057" marT="4057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28%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997240"/>
                  </a:ext>
                </a:extLst>
              </a:tr>
              <a:tr h="3154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Medical School/Parent university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724506221"/>
                  </a:ext>
                </a:extLst>
              </a:tr>
              <a:tr h="2382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Nursing home/extended care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1%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2%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3861640840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Other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9%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8%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1654810742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Solo practitioner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>
                          <a:latin typeface="+mn-lt"/>
                        </a:rPr>
                        <a:t>3%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11%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582540456"/>
                  </a:ext>
                </a:extLst>
              </a:tr>
              <a:tr h="1204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dirty="0">
                        <a:latin typeface="+mn-lt"/>
                      </a:endParaRP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Missing</a:t>
                      </a:r>
                    </a:p>
                  </a:txBody>
                  <a:tcPr marL="4057" marR="4057" marT="4057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12%</a:t>
                      </a:r>
                    </a:p>
                  </a:txBody>
                  <a:tcPr marL="4396" marR="4396" marT="4396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dirty="0">
                          <a:latin typeface="+mn-lt"/>
                        </a:rPr>
                        <a:t>4%</a:t>
                      </a:r>
                    </a:p>
                  </a:txBody>
                  <a:tcPr marL="4396" marR="4396" marT="4396" marB="0" anchor="b"/>
                </a:tc>
                <a:extLst>
                  <a:ext uri="{0D108BD9-81ED-4DB2-BD59-A6C34878D82A}">
                    <a16:rowId xmlns:a16="http://schemas.microsoft.com/office/drawing/2014/main" val="2810851990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2FF59BB-1B7C-B22C-3798-C3E2F921E291}"/>
              </a:ext>
            </a:extLst>
          </p:cNvPr>
          <p:cNvSpPr txBox="1">
            <a:spLocks/>
          </p:cNvSpPr>
          <p:nvPr/>
        </p:nvSpPr>
        <p:spPr>
          <a:xfrm rot="10800000" flipV="1">
            <a:off x="8314264" y="4115499"/>
            <a:ext cx="3709649" cy="13296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/>
              <a:t>We so see some differences in analytic population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% Female is smaller in LTA</a:t>
            </a:r>
          </a:p>
          <a:p>
            <a:pPr algn="ctr"/>
            <a:r>
              <a:rPr lang="en-US" sz="2000" dirty="0"/>
              <a:t> </a:t>
            </a:r>
          </a:p>
          <a:p>
            <a:pPr algn="ctr"/>
            <a:r>
              <a:rPr lang="en-US" sz="2000" dirty="0"/>
              <a:t>Similar rates of each specialty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Higher rates of individuals working in ambulatory settings, lower rates in hospital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Similar urban/rural but higher proportion of population is white in LTA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0382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EF42-4A80-D31A-C34A-D04821F0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" y="74104"/>
            <a:ext cx="10515600" cy="1325563"/>
          </a:xfrm>
        </p:spPr>
        <p:txBody>
          <a:bodyPr/>
          <a:lstStyle/>
          <a:p>
            <a:r>
              <a:rPr lang="en-US" dirty="0"/>
              <a:t>Comparisons of Specialty in 2009 vs. 2019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D4A4A4-424D-0703-88A2-082B973715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9949267"/>
              </p:ext>
            </p:extLst>
          </p:nvPr>
        </p:nvGraphicFramePr>
        <p:xfrm>
          <a:off x="563881" y="1463675"/>
          <a:ext cx="10789919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417">
                  <a:extLst>
                    <a:ext uri="{9D8B030D-6E8A-4147-A177-3AD203B41FA5}">
                      <a16:colId xmlns:a16="http://schemas.microsoft.com/office/drawing/2014/main" val="190231996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869750141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576560715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2552000782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471010927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3736481396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348125452"/>
                    </a:ext>
                  </a:extLst>
                </a:gridCol>
              </a:tblGrid>
              <a:tr h="27975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592129"/>
                  </a:ext>
                </a:extLst>
              </a:tr>
              <a:tr h="1119013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Family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Internal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Obstetrics and Gynecology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Pediatrics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Geriatrics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328970"/>
                  </a:ext>
                </a:extLst>
              </a:tr>
              <a:tr h="489568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Family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1,619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01235"/>
                  </a:ext>
                </a:extLst>
              </a:tr>
              <a:tr h="48956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Internal Medicine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1,156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71470"/>
                  </a:ext>
                </a:extLst>
              </a:tr>
              <a:tr h="1119013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Obstetrics and Gynecology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85721"/>
                  </a:ext>
                </a:extLst>
              </a:tr>
              <a:tr h="489568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General Pediatrics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919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19014"/>
                  </a:ext>
                </a:extLst>
              </a:tr>
              <a:tr h="283639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Geriatrics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43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16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C0234-9D93-80F7-4134-224ACD570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3F44A-C61B-7670-7CE7-83383A6D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39" y="227965"/>
            <a:ext cx="12304779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Comparisons of Employment Settings in 2009 vs. 2019</a:t>
            </a:r>
            <a:br>
              <a:rPr lang="en-US" sz="4000" dirty="0"/>
            </a:br>
            <a:r>
              <a:rPr lang="en-US" sz="4000" dirty="0">
                <a:solidFill>
                  <a:srgbClr val="FF0000"/>
                </a:solidFill>
              </a:rPr>
              <a:t>**add total n** of 4,XXX (Sankey diagram)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1D99C03-C657-D5BD-3160-1F655CEBEF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026960"/>
              </p:ext>
            </p:extLst>
          </p:nvPr>
        </p:nvGraphicFramePr>
        <p:xfrm>
          <a:off x="356616" y="1716897"/>
          <a:ext cx="11615931" cy="4476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392">
                  <a:extLst>
                    <a:ext uri="{9D8B030D-6E8A-4147-A177-3AD203B41FA5}">
                      <a16:colId xmlns:a16="http://schemas.microsoft.com/office/drawing/2014/main" val="1643998181"/>
                    </a:ext>
                  </a:extLst>
                </a:gridCol>
                <a:gridCol w="1730926">
                  <a:extLst>
                    <a:ext uri="{9D8B030D-6E8A-4147-A177-3AD203B41FA5}">
                      <a16:colId xmlns:a16="http://schemas.microsoft.com/office/drawing/2014/main" val="1869750141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2576560715"/>
                    </a:ext>
                  </a:extLst>
                </a:gridCol>
                <a:gridCol w="1120647">
                  <a:extLst>
                    <a:ext uri="{9D8B030D-6E8A-4147-A177-3AD203B41FA5}">
                      <a16:colId xmlns:a16="http://schemas.microsoft.com/office/drawing/2014/main" val="2552000782"/>
                    </a:ext>
                  </a:extLst>
                </a:gridCol>
                <a:gridCol w="1460671">
                  <a:extLst>
                    <a:ext uri="{9D8B030D-6E8A-4147-A177-3AD203B41FA5}">
                      <a16:colId xmlns:a16="http://schemas.microsoft.com/office/drawing/2014/main" val="471010927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736481396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48125452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3763046371"/>
                    </a:ext>
                  </a:extLst>
                </a:gridCol>
                <a:gridCol w="1290659">
                  <a:extLst>
                    <a:ext uri="{9D8B030D-6E8A-4147-A177-3AD203B41FA5}">
                      <a16:colId xmlns:a16="http://schemas.microsoft.com/office/drawing/2014/main" val="1980273182"/>
                    </a:ext>
                  </a:extLst>
                </a:gridCol>
              </a:tblGrid>
              <a:tr h="630698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277687"/>
                  </a:ext>
                </a:extLst>
              </a:tr>
              <a:tr h="630698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Hospital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Medical school/Parent University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Missing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Nursing home/extended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Other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Solo Practitioner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328970"/>
                  </a:ext>
                </a:extLst>
              </a:tr>
              <a:tr h="368399"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Ambulatory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2,320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01235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Hospital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204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771470"/>
                  </a:ext>
                </a:extLst>
              </a:tr>
              <a:tr h="630698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Medical School/Parent University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985721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Missing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23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019014"/>
                  </a:ext>
                </a:extLst>
              </a:tr>
              <a:tr h="520093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Nursing home/extended care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43510"/>
                  </a:ext>
                </a:extLst>
              </a:tr>
              <a:tr h="216706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Other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283446"/>
                  </a:ext>
                </a:extLst>
              </a:tr>
              <a:tr h="368399"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Solo Practitioner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52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987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99041-3B96-681A-C078-A5CC2880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Urban/Rural Status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0ABE36-88FA-4D57-B5F1-0A9F177424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7342480"/>
              </p:ext>
            </p:extLst>
          </p:nvPr>
        </p:nvGraphicFramePr>
        <p:xfrm>
          <a:off x="1463843" y="1690688"/>
          <a:ext cx="87630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4036480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393072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26759519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7608309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375529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2019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3779284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2009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Large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Small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Urban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46218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Large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512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96025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Small rural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185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96894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Urban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3,626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7634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9171C1E-36E5-4F04-6F77-140EBDA9AC27}"/>
              </a:ext>
            </a:extLst>
          </p:cNvPr>
          <p:cNvSpPr txBox="1"/>
          <p:nvPr/>
        </p:nvSpPr>
        <p:spPr>
          <a:xfrm>
            <a:off x="2072640" y="4450080"/>
            <a:ext cx="739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Check on race/ethnicity changes </a:t>
            </a:r>
          </a:p>
        </p:txBody>
      </p:sp>
    </p:spTree>
    <p:extLst>
      <p:ext uri="{BB962C8B-B14F-4D97-AF65-F5344CB8AC3E}">
        <p14:creationId xmlns:p14="http://schemas.microsoft.com/office/powerpoint/2010/main" val="1439685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607A2-8C0A-4933-8131-BB6D9F392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65CF2-DADC-5E17-D024-BBB9C625A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BB7BA1-9198-7095-7239-27DC3BD2C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57" y="0"/>
            <a:ext cx="5094885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7BAA8A-9E76-6C4C-5E47-C38869F10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585" y="196426"/>
            <a:ext cx="7428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87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F922FEA-7D40-8551-6AD5-260E7FB844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2669118"/>
              </p:ext>
            </p:extLst>
          </p:nvPr>
        </p:nvGraphicFramePr>
        <p:xfrm>
          <a:off x="551849" y="202130"/>
          <a:ext cx="4992303" cy="3128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7C9B761-F8D0-A9B8-4FC1-F96A9237B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1747896"/>
              </p:ext>
            </p:extLst>
          </p:nvPr>
        </p:nvGraphicFramePr>
        <p:xfrm>
          <a:off x="6237170" y="125128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6371010-6B2E-08F5-D882-ECD75311C2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8453807"/>
              </p:ext>
            </p:extLst>
          </p:nvPr>
        </p:nvGraphicFramePr>
        <p:xfrm>
          <a:off x="6153751" y="3517375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EEB751F4-BA57-1E7E-A3EA-D4F999E0374E}"/>
              </a:ext>
            </a:extLst>
          </p:cNvPr>
          <p:cNvSpPr txBox="1"/>
          <p:nvPr/>
        </p:nvSpPr>
        <p:spPr>
          <a:xfrm>
            <a:off x="667353" y="3214294"/>
            <a:ext cx="48767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Latent Classes 2009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F71781-B96C-A2E0-A602-683CC6FD841F}"/>
              </a:ext>
            </a:extLst>
          </p:cNvPr>
          <p:cNvSpPr txBox="1"/>
          <p:nvPr/>
        </p:nvSpPr>
        <p:spPr>
          <a:xfrm>
            <a:off x="240632" y="4280403"/>
            <a:ext cx="599653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Class 1 (Navy) - Rural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2"/>
                </a:solidFill>
              </a:rPr>
              <a:t>Class 2 (Orange) – Urban, non-ambulatory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Class 3 (Green) – Urban 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4"/>
                </a:solidFill>
              </a:rPr>
              <a:t>Class 4 (Blue) - Ob-gyns (but no family medicine)</a:t>
            </a:r>
            <a:br>
              <a:rPr lang="en-US" sz="1600" dirty="0"/>
            </a:b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731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D209-DD72-CAE8-02FF-C3FC5EE9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D1CD0B4-82EC-C144-365A-A726840F9C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3169354"/>
              </p:ext>
            </p:extLst>
          </p:nvPr>
        </p:nvGraphicFramePr>
        <p:xfrm>
          <a:off x="551849" y="202130"/>
          <a:ext cx="4992303" cy="3128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CCF8116-8FF5-5C5C-7817-1696263E44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1020572"/>
              </p:ext>
            </p:extLst>
          </p:nvPr>
        </p:nvGraphicFramePr>
        <p:xfrm>
          <a:off x="6237170" y="125128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2663ADE-FC25-47D1-F8D5-DC04E4B2B2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4145120"/>
              </p:ext>
            </p:extLst>
          </p:nvPr>
        </p:nvGraphicFramePr>
        <p:xfrm>
          <a:off x="6153751" y="3517375"/>
          <a:ext cx="5881036" cy="3443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115C8C3-4818-F3D6-EE32-28816318760D}"/>
              </a:ext>
            </a:extLst>
          </p:cNvPr>
          <p:cNvSpPr txBox="1"/>
          <p:nvPr/>
        </p:nvSpPr>
        <p:spPr>
          <a:xfrm>
            <a:off x="667353" y="3163432"/>
            <a:ext cx="4876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Latent Classes 2019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E29C4-2E33-6FBD-65BF-0C5917D7E161}"/>
              </a:ext>
            </a:extLst>
          </p:cNvPr>
          <p:cNvSpPr txBox="1"/>
          <p:nvPr/>
        </p:nvSpPr>
        <p:spPr>
          <a:xfrm>
            <a:off x="409444" y="4110198"/>
            <a:ext cx="5996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</a:rPr>
              <a:t>Class 1 (Navy) – Urban ambulatory care PCPs</a:t>
            </a:r>
          </a:p>
          <a:p>
            <a:endParaRPr lang="en-US" sz="1600" b="1" dirty="0">
              <a:solidFill>
                <a:schemeClr val="accent2"/>
              </a:solidFill>
            </a:endParaRPr>
          </a:p>
          <a:p>
            <a:r>
              <a:rPr lang="en-US" sz="1600" b="1" dirty="0">
                <a:solidFill>
                  <a:schemeClr val="accent2"/>
                </a:solidFill>
              </a:rPr>
              <a:t>Class 2 (Orange) - Rural PCPs</a:t>
            </a:r>
          </a:p>
          <a:p>
            <a:endParaRPr lang="en-US" sz="1600" b="1" dirty="0">
              <a:solidFill>
                <a:schemeClr val="accent2"/>
              </a:solidFill>
            </a:endParaRPr>
          </a:p>
          <a:p>
            <a:r>
              <a:rPr lang="en-US" sz="1600" b="1" dirty="0">
                <a:solidFill>
                  <a:schemeClr val="accent3"/>
                </a:solidFill>
              </a:rPr>
              <a:t>Class 3 (Green) – Urban, non-ambulatory care PCPs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chemeClr val="accent4"/>
                </a:solidFill>
              </a:rPr>
              <a:t>Class 4 (Blue) - Ob-gyns (but no family medicine)</a:t>
            </a:r>
          </a:p>
          <a:p>
            <a:br>
              <a:rPr lang="en-US" sz="1600" dirty="0">
                <a:solidFill>
                  <a:schemeClr val="accent1"/>
                </a:solidFill>
              </a:rPr>
            </a:br>
            <a:endParaRPr lang="en-US" sz="16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461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E35C1-35DE-0BC8-2655-F12320604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057"/>
            <a:ext cx="10515600" cy="1325563"/>
          </a:xfrm>
        </p:spPr>
        <p:txBody>
          <a:bodyPr/>
          <a:lstStyle/>
          <a:p>
            <a:r>
              <a:rPr lang="en-US" dirty="0"/>
              <a:t>Transition Probabilities (</a:t>
            </a:r>
            <a:r>
              <a:rPr lang="en-US" dirty="0">
                <a:solidFill>
                  <a:srgbClr val="FF0000"/>
                </a:solidFill>
              </a:rPr>
              <a:t>FLIP THIS AROUND; </a:t>
            </a:r>
            <a:r>
              <a:rPr lang="en-US" dirty="0" err="1">
                <a:solidFill>
                  <a:srgbClr val="FF0000"/>
                </a:solidFill>
              </a:rPr>
              <a:t>sankeys</a:t>
            </a:r>
            <a:r>
              <a:rPr lang="en-US" dirty="0">
                <a:solidFill>
                  <a:srgbClr val="FF0000"/>
                </a:solidFill>
              </a:rPr>
              <a:t>; add ns)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37E5F5-2C62-4372-32DB-52BC4E205D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16033"/>
              </p:ext>
            </p:extLst>
          </p:nvPr>
        </p:nvGraphicFramePr>
        <p:xfrm>
          <a:off x="838200" y="1881895"/>
          <a:ext cx="10515600" cy="409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18708796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696761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807933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5162291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6518627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02767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Class Membership in 2009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91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Rural PCPs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Non-ambulatory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Ob-gyns (but no family practice) providing obstetric and prenatal care</a:t>
                      </a:r>
                    </a:p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  <a:p>
                      <a:pPr algn="ctr"/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4957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Class Membership in 2019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Rural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0.837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0.029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0.021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78426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Non-ambulatory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0.075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0.673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0.216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0.004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579101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– Ambulatory Care PCPs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0.088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0.297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0.763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3299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Urban Ob-gyns (but no family practice)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0.996</a:t>
                      </a:r>
                    </a:p>
                  </a:txBody>
                  <a:tcPr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642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853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47660-8486-9DCE-DF5D-FF3EF79BC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CE4DD-0364-6D7D-7300-7F3DA6299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Of family </a:t>
            </a:r>
            <a:r>
              <a:rPr lang="en-US" dirty="0" err="1"/>
              <a:t>medince</a:t>
            </a:r>
            <a:r>
              <a:rPr lang="en-US" dirty="0"/>
              <a:t> % with obstetric care</a:t>
            </a:r>
          </a:p>
          <a:p>
            <a:endParaRPr lang="en-US" dirty="0"/>
          </a:p>
          <a:p>
            <a:r>
              <a:rPr lang="en-US" dirty="0"/>
              <a:t>Output file to </a:t>
            </a:r>
            <a:r>
              <a:rPr lang="en-US" dirty="0" err="1"/>
              <a:t>stata</a:t>
            </a:r>
            <a:r>
              <a:rPr lang="en-US" dirty="0"/>
              <a:t> ** for sample for analysis*** </a:t>
            </a:r>
          </a:p>
          <a:p>
            <a:r>
              <a:rPr lang="en-US" dirty="0"/>
              <a:t>Flag for 2019 vs. 2009***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Add in descriptives for classes within 2009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in descriptive for classes within 2019</a:t>
            </a:r>
          </a:p>
        </p:txBody>
      </p:sp>
    </p:spTree>
    <p:extLst>
      <p:ext uri="{BB962C8B-B14F-4D97-AF65-F5344CB8AC3E}">
        <p14:creationId xmlns:p14="http://schemas.microsoft.com/office/powerpoint/2010/main" val="1755109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1004</Words>
  <Application>Microsoft Office PowerPoint</Application>
  <PresentationFormat>Widescreen</PresentationFormat>
  <Paragraphs>385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Update on datasets</vt:lpstr>
      <vt:lpstr>PowerPoint Presentation</vt:lpstr>
      <vt:lpstr>Questions on analysis</vt:lpstr>
      <vt:lpstr>Comparing Descriptive Statistics in 2009 of those in 2009 Sample Who Were Also in 2019 vs Those Not in 2019  **AGH add sample size**</vt:lpstr>
      <vt:lpstr>Comparing Descriptive Statistics in 2019 of those in 2019 Sample Who Were Also in 2009 vs Those Not in 2009</vt:lpstr>
      <vt:lpstr>Comparisons of Specialty in 2009 vs. 2019</vt:lpstr>
      <vt:lpstr>Comparisons of Employment Settings in 2009 vs. 2019 **add total n** of 4,XXX (Sankey diagram)</vt:lpstr>
      <vt:lpstr>Changes in Urban/Rural Status</vt:lpstr>
      <vt:lpstr>PowerPoint Presentation</vt:lpstr>
      <vt:lpstr>PowerPoint Presentation</vt:lpstr>
      <vt:lpstr>PowerPoint Presentation</vt:lpstr>
      <vt:lpstr>Transition Probabilities (FLIP THIS AROUND; sankeys; add ns)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Howard, Annie Green</dc:creator>
  <cp:lastModifiedBy>Howard, Annie Green</cp:lastModifiedBy>
  <cp:revision>3</cp:revision>
  <dcterms:created xsi:type="dcterms:W3CDTF">2026-04-01T23:29:25Z</dcterms:created>
  <dcterms:modified xsi:type="dcterms:W3CDTF">2026-04-15T12:55:24Z</dcterms:modified>
</cp:coreProperties>
</file>