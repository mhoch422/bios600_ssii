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2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8" r:id="rId2"/>
    <p:sldId id="259" r:id="rId3"/>
    <p:sldId id="261" r:id="rId4"/>
    <p:sldId id="262" r:id="rId5"/>
    <p:sldId id="263" r:id="rId6"/>
    <p:sldId id="264" r:id="rId7"/>
    <p:sldId id="266" r:id="rId8"/>
    <p:sldId id="267" r:id="rId9"/>
    <p:sldId id="270" r:id="rId10"/>
    <p:sldId id="271" r:id="rId11"/>
    <p:sldId id="27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F7F91B-8DA7-4DA7-A1FD-2D1BC899BC3E}" v="205" dt="2026-04-02T13:27:46.6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110" d="100"/>
          <a:sy n="110" d="100"/>
        </p:scale>
        <p:origin x="78" y="-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ward, Annie Green" userId="cca2d8b1-65da-4752-8b83-4f1c0df3704b" providerId="ADAL" clId="{EAA4A942-942A-464E-BB0E-47C9CDF5DE67}"/>
    <pc:docChg chg="undo redo custSel addSld delSld modSld sldOrd">
      <pc:chgData name="Howard, Annie Green" userId="cca2d8b1-65da-4752-8b83-4f1c0df3704b" providerId="ADAL" clId="{EAA4A942-942A-464E-BB0E-47C9CDF5DE67}" dt="2026-04-02T13:27:46.633" v="6908"/>
      <pc:docMkLst>
        <pc:docMk/>
      </pc:docMkLst>
      <pc:sldChg chg="del">
        <pc:chgData name="Howard, Annie Green" userId="cca2d8b1-65da-4752-8b83-4f1c0df3704b" providerId="ADAL" clId="{EAA4A942-942A-464E-BB0E-47C9CDF5DE67}" dt="2026-04-02T01:30:30.298" v="3171" actId="2696"/>
        <pc:sldMkLst>
          <pc:docMk/>
          <pc:sldMk cId="4068336118" sldId="256"/>
        </pc:sldMkLst>
      </pc:sldChg>
      <pc:sldChg chg="del">
        <pc:chgData name="Howard, Annie Green" userId="cca2d8b1-65da-4752-8b83-4f1c0df3704b" providerId="ADAL" clId="{EAA4A942-942A-464E-BB0E-47C9CDF5DE67}" dt="2026-04-02T13:01:14.491" v="5624" actId="2696"/>
        <pc:sldMkLst>
          <pc:docMk/>
          <pc:sldMk cId="1327531413" sldId="257"/>
        </pc:sldMkLst>
      </pc:sldChg>
      <pc:sldChg chg="modSp mod">
        <pc:chgData name="Howard, Annie Green" userId="cca2d8b1-65da-4752-8b83-4f1c0df3704b" providerId="ADAL" clId="{EAA4A942-942A-464E-BB0E-47C9CDF5DE67}" dt="2026-04-02T13:06:49.636" v="5689" actId="20577"/>
        <pc:sldMkLst>
          <pc:docMk/>
          <pc:sldMk cId="4069860595" sldId="258"/>
        </pc:sldMkLst>
        <pc:spChg chg="mod">
          <ac:chgData name="Howard, Annie Green" userId="cca2d8b1-65da-4752-8b83-4f1c0df3704b" providerId="ADAL" clId="{EAA4A942-942A-464E-BB0E-47C9CDF5DE67}" dt="2026-04-02T13:06:49.636" v="5689" actId="20577"/>
          <ac:spMkLst>
            <pc:docMk/>
            <pc:sldMk cId="4069860595" sldId="258"/>
            <ac:spMk id="3" creationId="{BC21EE9A-5178-AE0C-52C0-03B2B47469DA}"/>
          </ac:spMkLst>
        </pc:spChg>
      </pc:sldChg>
      <pc:sldChg chg="del">
        <pc:chgData name="Howard, Annie Green" userId="cca2d8b1-65da-4752-8b83-4f1c0df3704b" providerId="ADAL" clId="{EAA4A942-942A-464E-BB0E-47C9CDF5DE67}" dt="2026-04-02T00:09:22.016" v="377" actId="2696"/>
        <pc:sldMkLst>
          <pc:docMk/>
          <pc:sldMk cId="746156035" sldId="260"/>
        </pc:sldMkLst>
      </pc:sldChg>
      <pc:sldChg chg="addSp delSp modSp mod">
        <pc:chgData name="Howard, Annie Green" userId="cca2d8b1-65da-4752-8b83-4f1c0df3704b" providerId="ADAL" clId="{EAA4A942-942A-464E-BB0E-47C9CDF5DE67}" dt="2026-04-02T13:08:17.303" v="5823" actId="20577"/>
        <pc:sldMkLst>
          <pc:docMk/>
          <pc:sldMk cId="3557603569" sldId="261"/>
        </pc:sldMkLst>
        <pc:spChg chg="mod">
          <ac:chgData name="Howard, Annie Green" userId="cca2d8b1-65da-4752-8b83-4f1c0df3704b" providerId="ADAL" clId="{EAA4A942-942A-464E-BB0E-47C9CDF5DE67}" dt="2026-04-02T01:35:21.042" v="3855" actId="1076"/>
          <ac:spMkLst>
            <pc:docMk/>
            <pc:sldMk cId="3557603569" sldId="261"/>
            <ac:spMk id="2" creationId="{16BB64CB-5EFA-E334-50AB-8303B6BF857B}"/>
          </ac:spMkLst>
        </pc:spChg>
        <pc:spChg chg="add del mod">
          <ac:chgData name="Howard, Annie Green" userId="cca2d8b1-65da-4752-8b83-4f1c0df3704b" providerId="ADAL" clId="{EAA4A942-942A-464E-BB0E-47C9CDF5DE67}" dt="2026-04-02T00:15:37.087" v="1226" actId="478"/>
          <ac:spMkLst>
            <pc:docMk/>
            <pc:sldMk cId="3557603569" sldId="261"/>
            <ac:spMk id="8" creationId="{7428F7DB-3734-50D8-2BF7-9D4474501B5E}"/>
          </ac:spMkLst>
        </pc:spChg>
        <pc:spChg chg="add mod">
          <ac:chgData name="Howard, Annie Green" userId="cca2d8b1-65da-4752-8b83-4f1c0df3704b" providerId="ADAL" clId="{EAA4A942-942A-464E-BB0E-47C9CDF5DE67}" dt="2026-04-02T13:08:17.303" v="5823" actId="20577"/>
          <ac:spMkLst>
            <pc:docMk/>
            <pc:sldMk cId="3557603569" sldId="261"/>
            <ac:spMk id="9" creationId="{5F162690-ECC2-8ECD-6B3E-FA9B4E5D05B5}"/>
          </ac:spMkLst>
        </pc:spChg>
        <pc:graphicFrameChg chg="mod modGraphic">
          <ac:chgData name="Howard, Annie Green" userId="cca2d8b1-65da-4752-8b83-4f1c0df3704b" providerId="ADAL" clId="{EAA4A942-942A-464E-BB0E-47C9CDF5DE67}" dt="2026-04-02T13:05:08.341" v="5676" actId="20577"/>
          <ac:graphicFrameMkLst>
            <pc:docMk/>
            <pc:sldMk cId="3557603569" sldId="261"/>
            <ac:graphicFrameMk id="7" creationId="{313FCF37-CA38-9610-0198-1F5AA63194B4}"/>
          </ac:graphicFrameMkLst>
        </pc:graphicFrameChg>
      </pc:sldChg>
      <pc:sldChg chg="addSp delSp modSp add mod">
        <pc:chgData name="Howard, Annie Green" userId="cca2d8b1-65da-4752-8b83-4f1c0df3704b" providerId="ADAL" clId="{EAA4A942-942A-464E-BB0E-47C9CDF5DE67}" dt="2026-04-02T13:08:12.088" v="5822" actId="14100"/>
        <pc:sldMkLst>
          <pc:docMk/>
          <pc:sldMk cId="1003823633" sldId="262"/>
        </pc:sldMkLst>
        <pc:spChg chg="mod">
          <ac:chgData name="Howard, Annie Green" userId="cca2d8b1-65da-4752-8b83-4f1c0df3704b" providerId="ADAL" clId="{EAA4A942-942A-464E-BB0E-47C9CDF5DE67}" dt="2026-04-02T00:23:17.041" v="1302" actId="20577"/>
          <ac:spMkLst>
            <pc:docMk/>
            <pc:sldMk cId="1003823633" sldId="262"/>
            <ac:spMk id="2" creationId="{AF7ED8AF-A18D-1F3A-A588-1E6F03A6A08D}"/>
          </ac:spMkLst>
        </pc:spChg>
        <pc:spChg chg="add del mod">
          <ac:chgData name="Howard, Annie Green" userId="cca2d8b1-65da-4752-8b83-4f1c0df3704b" providerId="ADAL" clId="{EAA4A942-942A-464E-BB0E-47C9CDF5DE67}" dt="2026-04-02T00:20:16.937" v="1258" actId="478"/>
          <ac:spMkLst>
            <pc:docMk/>
            <pc:sldMk cId="1003823633" sldId="262"/>
            <ac:spMk id="5" creationId="{9FA6D608-9A39-02B5-8AEF-A7A32EF6DE49}"/>
          </ac:spMkLst>
        </pc:spChg>
        <pc:spChg chg="add mod">
          <ac:chgData name="Howard, Annie Green" userId="cca2d8b1-65da-4752-8b83-4f1c0df3704b" providerId="ADAL" clId="{EAA4A942-942A-464E-BB0E-47C9CDF5DE67}" dt="2026-04-02T13:08:12.088" v="5822" actId="14100"/>
          <ac:spMkLst>
            <pc:docMk/>
            <pc:sldMk cId="1003823633" sldId="262"/>
            <ac:spMk id="6" creationId="{C2FF59BB-1B7C-B22C-3798-C3E2F921E291}"/>
          </ac:spMkLst>
        </pc:spChg>
        <pc:graphicFrameChg chg="add mod modGraphic">
          <ac:chgData name="Howard, Annie Green" userId="cca2d8b1-65da-4752-8b83-4f1c0df3704b" providerId="ADAL" clId="{EAA4A942-942A-464E-BB0E-47C9CDF5DE67}" dt="2026-04-02T13:05:14.165" v="5684" actId="20577"/>
          <ac:graphicFrameMkLst>
            <pc:docMk/>
            <pc:sldMk cId="1003823633" sldId="262"/>
            <ac:graphicFrameMk id="3" creationId="{B4F64F05-CD98-522B-83CF-D362C2755402}"/>
          </ac:graphicFrameMkLst>
        </pc:graphicFrameChg>
        <pc:graphicFrameChg chg="del modGraphic">
          <ac:chgData name="Howard, Annie Green" userId="cca2d8b1-65da-4752-8b83-4f1c0df3704b" providerId="ADAL" clId="{EAA4A942-942A-464E-BB0E-47C9CDF5DE67}" dt="2026-04-02T00:20:12.973" v="1257" actId="478"/>
          <ac:graphicFrameMkLst>
            <pc:docMk/>
            <pc:sldMk cId="1003823633" sldId="262"/>
            <ac:graphicFrameMk id="7" creationId="{9EA620D8-E255-449A-8C34-D49D602FB668}"/>
          </ac:graphicFrameMkLst>
        </pc:graphicFrameChg>
        <pc:graphicFrameChg chg="add del modGraphic">
          <ac:chgData name="Howard, Annie Green" userId="cca2d8b1-65da-4752-8b83-4f1c0df3704b" providerId="ADAL" clId="{EAA4A942-942A-464E-BB0E-47C9CDF5DE67}" dt="2026-04-02T13:07:37.926" v="5691" actId="27309"/>
          <ac:graphicFrameMkLst>
            <pc:docMk/>
            <pc:sldMk cId="1003823633" sldId="262"/>
            <ac:graphicFrameMk id="9" creationId="{0E140113-56B6-FF7B-4778-7B2059E64556}"/>
          </ac:graphicFrameMkLst>
        </pc:graphicFrameChg>
      </pc:sldChg>
      <pc:sldChg chg="addSp delSp modSp new mod">
        <pc:chgData name="Howard, Annie Green" userId="cca2d8b1-65da-4752-8b83-4f1c0df3704b" providerId="ADAL" clId="{EAA4A942-942A-464E-BB0E-47C9CDF5DE67}" dt="2026-04-02T13:09:50.358" v="5831" actId="207"/>
        <pc:sldMkLst>
          <pc:docMk/>
          <pc:sldMk cId="3144161671" sldId="263"/>
        </pc:sldMkLst>
        <pc:spChg chg="mod">
          <ac:chgData name="Howard, Annie Green" userId="cca2d8b1-65da-4752-8b83-4f1c0df3704b" providerId="ADAL" clId="{EAA4A942-942A-464E-BB0E-47C9CDF5DE67}" dt="2026-04-02T01:29:55.785" v="3168" actId="1076"/>
          <ac:spMkLst>
            <pc:docMk/>
            <pc:sldMk cId="3144161671" sldId="263"/>
            <ac:spMk id="2" creationId="{580DEF42-4A80-D31A-C34A-D04821F0D85D}"/>
          </ac:spMkLst>
        </pc:spChg>
        <pc:spChg chg="del">
          <ac:chgData name="Howard, Annie Green" userId="cca2d8b1-65da-4752-8b83-4f1c0df3704b" providerId="ADAL" clId="{EAA4A942-942A-464E-BB0E-47C9CDF5DE67}" dt="2026-04-02T00:34:21.149" v="1500" actId="3680"/>
          <ac:spMkLst>
            <pc:docMk/>
            <pc:sldMk cId="3144161671" sldId="263"/>
            <ac:spMk id="3" creationId="{4BF53360-0909-CB10-1AAF-C538CC95BA24}"/>
          </ac:spMkLst>
        </pc:spChg>
        <pc:graphicFrameChg chg="add mod ord modGraphic">
          <ac:chgData name="Howard, Annie Green" userId="cca2d8b1-65da-4752-8b83-4f1c0df3704b" providerId="ADAL" clId="{EAA4A942-942A-464E-BB0E-47C9CDF5DE67}" dt="2026-04-02T13:09:50.358" v="5831" actId="207"/>
          <ac:graphicFrameMkLst>
            <pc:docMk/>
            <pc:sldMk cId="3144161671" sldId="263"/>
            <ac:graphicFrameMk id="4" creationId="{21D4A4A4-424D-0703-88A2-082B973715FA}"/>
          </ac:graphicFrameMkLst>
        </pc:graphicFrameChg>
      </pc:sldChg>
      <pc:sldChg chg="addSp delSp modSp new del mod">
        <pc:chgData name="Howard, Annie Green" userId="cca2d8b1-65da-4752-8b83-4f1c0df3704b" providerId="ADAL" clId="{EAA4A942-942A-464E-BB0E-47C9CDF5DE67}" dt="2026-04-02T00:33:59.491" v="1440" actId="680"/>
        <pc:sldMkLst>
          <pc:docMk/>
          <pc:sldMk cId="3210667070" sldId="263"/>
        </pc:sldMkLst>
        <pc:spChg chg="add del">
          <ac:chgData name="Howard, Annie Green" userId="cca2d8b1-65da-4752-8b83-4f1c0df3704b" providerId="ADAL" clId="{EAA4A942-942A-464E-BB0E-47C9CDF5DE67}" dt="2026-04-02T00:33:59.211" v="1432" actId="478"/>
          <ac:spMkLst>
            <pc:docMk/>
            <pc:sldMk cId="3210667070" sldId="263"/>
            <ac:spMk id="2" creationId="{55A01973-62DF-FBEC-2348-D72D75AA386F}"/>
          </ac:spMkLst>
        </pc:spChg>
        <pc:spChg chg="mod">
          <ac:chgData name="Howard, Annie Green" userId="cca2d8b1-65da-4752-8b83-4f1c0df3704b" providerId="ADAL" clId="{EAA4A942-942A-464E-BB0E-47C9CDF5DE67}" dt="2026-04-02T00:33:59.451" v="1439" actId="20577"/>
          <ac:spMkLst>
            <pc:docMk/>
            <pc:sldMk cId="3210667070" sldId="263"/>
            <ac:spMk id="3" creationId="{8D765B9C-9AD2-0946-7B9A-EA56838F6EE8}"/>
          </ac:spMkLst>
        </pc:spChg>
      </pc:sldChg>
      <pc:sldChg chg="modSp add mod">
        <pc:chgData name="Howard, Annie Green" userId="cca2d8b1-65da-4752-8b83-4f1c0df3704b" providerId="ADAL" clId="{EAA4A942-942A-464E-BB0E-47C9CDF5DE67}" dt="2026-04-02T13:10:26.625" v="5839" actId="207"/>
        <pc:sldMkLst>
          <pc:docMk/>
          <pc:sldMk cId="3593987067" sldId="264"/>
        </pc:sldMkLst>
        <pc:spChg chg="mod">
          <ac:chgData name="Howard, Annie Green" userId="cca2d8b1-65da-4752-8b83-4f1c0df3704b" providerId="ADAL" clId="{EAA4A942-942A-464E-BB0E-47C9CDF5DE67}" dt="2026-04-02T01:29:59.348" v="3169" actId="1076"/>
          <ac:spMkLst>
            <pc:docMk/>
            <pc:sldMk cId="3593987067" sldId="264"/>
            <ac:spMk id="2" creationId="{6703F44A-C61B-7670-7CE7-83383A6DDA45}"/>
          </ac:spMkLst>
        </pc:spChg>
        <pc:graphicFrameChg chg="mod modGraphic">
          <ac:chgData name="Howard, Annie Green" userId="cca2d8b1-65da-4752-8b83-4f1c0df3704b" providerId="ADAL" clId="{EAA4A942-942A-464E-BB0E-47C9CDF5DE67}" dt="2026-04-02T13:10:26.625" v="5839" actId="207"/>
          <ac:graphicFrameMkLst>
            <pc:docMk/>
            <pc:sldMk cId="3593987067" sldId="264"/>
            <ac:graphicFrameMk id="4" creationId="{81D99C03-C657-D5BD-3160-1F655CEBEFAA}"/>
          </ac:graphicFrameMkLst>
        </pc:graphicFrameChg>
      </pc:sldChg>
      <pc:sldChg chg="addSp delSp modSp new del mod">
        <pc:chgData name="Howard, Annie Green" userId="cca2d8b1-65da-4752-8b83-4f1c0df3704b" providerId="ADAL" clId="{EAA4A942-942A-464E-BB0E-47C9CDF5DE67}" dt="2026-04-02T01:30:07.867" v="3170" actId="2696"/>
        <pc:sldMkLst>
          <pc:docMk/>
          <pc:sldMk cId="1507945849" sldId="265"/>
        </pc:sldMkLst>
        <pc:spChg chg="del">
          <ac:chgData name="Howard, Annie Green" userId="cca2d8b1-65da-4752-8b83-4f1c0df3704b" providerId="ADAL" clId="{EAA4A942-942A-464E-BB0E-47C9CDF5DE67}" dt="2026-04-02T00:39:49.913" v="1960" actId="3680"/>
          <ac:spMkLst>
            <pc:docMk/>
            <pc:sldMk cId="1507945849" sldId="265"/>
            <ac:spMk id="3" creationId="{EBB73280-074E-66BA-2464-750B00CE87A4}"/>
          </ac:spMkLst>
        </pc:spChg>
        <pc:graphicFrameChg chg="add mod ord modGraphic">
          <ac:chgData name="Howard, Annie Green" userId="cca2d8b1-65da-4752-8b83-4f1c0df3704b" providerId="ADAL" clId="{EAA4A942-942A-464E-BB0E-47C9CDF5DE67}" dt="2026-04-02T00:40:08.645" v="1970" actId="20577"/>
          <ac:graphicFrameMkLst>
            <pc:docMk/>
            <pc:sldMk cId="1507945849" sldId="265"/>
            <ac:graphicFrameMk id="4" creationId="{8F00CD6E-ED7A-9B0D-4DC9-76B3314427F4}"/>
          </ac:graphicFrameMkLst>
        </pc:graphicFrameChg>
        <pc:graphicFrameChg chg="add mod">
          <ac:chgData name="Howard, Annie Green" userId="cca2d8b1-65da-4752-8b83-4f1c0df3704b" providerId="ADAL" clId="{EAA4A942-942A-464E-BB0E-47C9CDF5DE67}" dt="2026-04-02T00:40:14.252" v="1972" actId="1076"/>
          <ac:graphicFrameMkLst>
            <pc:docMk/>
            <pc:sldMk cId="1507945849" sldId="265"/>
            <ac:graphicFrameMk id="5" creationId="{EA4B281F-8D9F-A55A-361E-951CE5B8F91E}"/>
          </ac:graphicFrameMkLst>
        </pc:graphicFrameChg>
        <pc:graphicFrameChg chg="add del mod">
          <ac:chgData name="Howard, Annie Green" userId="cca2d8b1-65da-4752-8b83-4f1c0df3704b" providerId="ADAL" clId="{EAA4A942-942A-464E-BB0E-47C9CDF5DE67}" dt="2026-04-02T00:40:17.033" v="1975" actId="478"/>
          <ac:graphicFrameMkLst>
            <pc:docMk/>
            <pc:sldMk cId="1507945849" sldId="265"/>
            <ac:graphicFrameMk id="6" creationId="{0BD0F06D-D4DD-B5E7-AEE4-BEC263870164}"/>
          </ac:graphicFrameMkLst>
        </pc:graphicFrameChg>
      </pc:sldChg>
      <pc:sldChg chg="addSp delSp modSp new mod">
        <pc:chgData name="Howard, Annie Green" userId="cca2d8b1-65da-4752-8b83-4f1c0df3704b" providerId="ADAL" clId="{EAA4A942-942A-464E-BB0E-47C9CDF5DE67}" dt="2026-04-02T13:11:25.864" v="5844" actId="207"/>
        <pc:sldMkLst>
          <pc:docMk/>
          <pc:sldMk cId="1439685978" sldId="266"/>
        </pc:sldMkLst>
        <pc:spChg chg="mod">
          <ac:chgData name="Howard, Annie Green" userId="cca2d8b1-65da-4752-8b83-4f1c0df3704b" providerId="ADAL" clId="{EAA4A942-942A-464E-BB0E-47C9CDF5DE67}" dt="2026-04-02T00:44:15.650" v="2149" actId="20577"/>
          <ac:spMkLst>
            <pc:docMk/>
            <pc:sldMk cId="1439685978" sldId="266"/>
            <ac:spMk id="2" creationId="{E3B99041-3B96-681A-C078-A5CC28806772}"/>
          </ac:spMkLst>
        </pc:spChg>
        <pc:spChg chg="del">
          <ac:chgData name="Howard, Annie Green" userId="cca2d8b1-65da-4752-8b83-4f1c0df3704b" providerId="ADAL" clId="{EAA4A942-942A-464E-BB0E-47C9CDF5DE67}" dt="2026-04-02T00:40:26.840" v="1977" actId="3680"/>
          <ac:spMkLst>
            <pc:docMk/>
            <pc:sldMk cId="1439685978" sldId="266"/>
            <ac:spMk id="3" creationId="{8C7C0DC3-1E37-E8BB-3F5B-5FF554028C35}"/>
          </ac:spMkLst>
        </pc:spChg>
        <pc:graphicFrameChg chg="add mod ord modGraphic">
          <ac:chgData name="Howard, Annie Green" userId="cca2d8b1-65da-4752-8b83-4f1c0df3704b" providerId="ADAL" clId="{EAA4A942-942A-464E-BB0E-47C9CDF5DE67}" dt="2026-04-02T13:11:25.864" v="5844" actId="207"/>
          <ac:graphicFrameMkLst>
            <pc:docMk/>
            <pc:sldMk cId="1439685978" sldId="266"/>
            <ac:graphicFrameMk id="4" creationId="{7A0ABE36-88FA-4D57-B5F1-0A9F177424AB}"/>
          </ac:graphicFrameMkLst>
        </pc:graphicFrameChg>
      </pc:sldChg>
      <pc:sldChg chg="addSp delSp modSp new mod">
        <pc:chgData name="Howard, Annie Green" userId="cca2d8b1-65da-4752-8b83-4f1c0df3704b" providerId="ADAL" clId="{EAA4A942-942A-464E-BB0E-47C9CDF5DE67}" dt="2026-04-02T13:27:13.605" v="6866" actId="1076"/>
        <pc:sldMkLst>
          <pc:docMk/>
          <pc:sldMk cId="4272731760" sldId="267"/>
        </pc:sldMkLst>
        <pc:spChg chg="del mod">
          <ac:chgData name="Howard, Annie Green" userId="cca2d8b1-65da-4752-8b83-4f1c0df3704b" providerId="ADAL" clId="{EAA4A942-942A-464E-BB0E-47C9CDF5DE67}" dt="2026-04-02T01:03:07.398" v="2734" actId="478"/>
          <ac:spMkLst>
            <pc:docMk/>
            <pc:sldMk cId="4272731760" sldId="267"/>
            <ac:spMk id="2" creationId="{B860C55D-98A6-7779-85FC-D9EBB481603F}"/>
          </ac:spMkLst>
        </pc:spChg>
        <pc:spChg chg="del mod">
          <ac:chgData name="Howard, Annie Green" userId="cca2d8b1-65da-4752-8b83-4f1c0df3704b" providerId="ADAL" clId="{EAA4A942-942A-464E-BB0E-47C9CDF5DE67}" dt="2026-04-02T00:59:39.178" v="2513" actId="478"/>
          <ac:spMkLst>
            <pc:docMk/>
            <pc:sldMk cId="4272731760" sldId="267"/>
            <ac:spMk id="3" creationId="{B9259361-B53D-2933-5468-470AA32FBAEA}"/>
          </ac:spMkLst>
        </pc:spChg>
        <pc:spChg chg="add del mod">
          <ac:chgData name="Howard, Annie Green" userId="cca2d8b1-65da-4752-8b83-4f1c0df3704b" providerId="ADAL" clId="{EAA4A942-942A-464E-BB0E-47C9CDF5DE67}" dt="2026-04-02T00:59:40.956" v="2514" actId="478"/>
          <ac:spMkLst>
            <pc:docMk/>
            <pc:sldMk cId="4272731760" sldId="267"/>
            <ac:spMk id="12" creationId="{F29D3E21-014A-FBAA-7315-A3E0073616DE}"/>
          </ac:spMkLst>
        </pc:spChg>
        <pc:spChg chg="add del mod">
          <ac:chgData name="Howard, Annie Green" userId="cca2d8b1-65da-4752-8b83-4f1c0df3704b" providerId="ADAL" clId="{EAA4A942-942A-464E-BB0E-47C9CDF5DE67}" dt="2026-04-02T01:03:09.841" v="2735" actId="478"/>
          <ac:spMkLst>
            <pc:docMk/>
            <pc:sldMk cId="4272731760" sldId="267"/>
            <ac:spMk id="14" creationId="{70650AC3-AB56-9DC5-9DA1-2838393CA270}"/>
          </ac:spMkLst>
        </pc:spChg>
        <pc:spChg chg="add mod">
          <ac:chgData name="Howard, Annie Green" userId="cca2d8b1-65da-4752-8b83-4f1c0df3704b" providerId="ADAL" clId="{EAA4A942-942A-464E-BB0E-47C9CDF5DE67}" dt="2026-04-02T13:16:02.818" v="6419" actId="1076"/>
          <ac:spMkLst>
            <pc:docMk/>
            <pc:sldMk cId="4272731760" sldId="267"/>
            <ac:spMk id="15" creationId="{EEB751F4-BA57-1E7E-A3EA-D4F999E0374E}"/>
          </ac:spMkLst>
        </pc:spChg>
        <pc:spChg chg="add mod">
          <ac:chgData name="Howard, Annie Green" userId="cca2d8b1-65da-4752-8b83-4f1c0df3704b" providerId="ADAL" clId="{EAA4A942-942A-464E-BB0E-47C9CDF5DE67}" dt="2026-04-02T13:27:13.605" v="6866" actId="1076"/>
          <ac:spMkLst>
            <pc:docMk/>
            <pc:sldMk cId="4272731760" sldId="267"/>
            <ac:spMk id="16" creationId="{C6F71781-B96C-A2E0-A602-683CC6FD841F}"/>
          </ac:spMkLst>
        </pc:spChg>
        <pc:graphicFrameChg chg="add mod">
          <ac:chgData name="Howard, Annie Green" userId="cca2d8b1-65da-4752-8b83-4f1c0df3704b" providerId="ADAL" clId="{EAA4A942-942A-464E-BB0E-47C9CDF5DE67}" dt="2026-04-02T01:11:02.762" v="2859" actId="207"/>
          <ac:graphicFrameMkLst>
            <pc:docMk/>
            <pc:sldMk cId="4272731760" sldId="267"/>
            <ac:graphicFrameMk id="6" creationId="{1F922FEA-7D40-8551-6AD5-260E7FB844C6}"/>
          </ac:graphicFrameMkLst>
        </pc:graphicFrameChg>
        <pc:graphicFrameChg chg="add del mod">
          <ac:chgData name="Howard, Annie Green" userId="cca2d8b1-65da-4752-8b83-4f1c0df3704b" providerId="ADAL" clId="{EAA4A942-942A-464E-BB0E-47C9CDF5DE67}" dt="2026-04-02T00:56:58.964" v="2492" actId="478"/>
          <ac:graphicFrameMkLst>
            <pc:docMk/>
            <pc:sldMk cId="4272731760" sldId="267"/>
            <ac:graphicFrameMk id="7" creationId="{FB6DE41B-9815-0F5E-A3A5-BCE37C3D4FBE}"/>
          </ac:graphicFrameMkLst>
        </pc:graphicFrameChg>
        <pc:graphicFrameChg chg="add del mod">
          <ac:chgData name="Howard, Annie Green" userId="cca2d8b1-65da-4752-8b83-4f1c0df3704b" providerId="ADAL" clId="{EAA4A942-942A-464E-BB0E-47C9CDF5DE67}" dt="2026-04-02T00:57:04.016" v="2493" actId="478"/>
          <ac:graphicFrameMkLst>
            <pc:docMk/>
            <pc:sldMk cId="4272731760" sldId="267"/>
            <ac:graphicFrameMk id="8" creationId="{8299E605-D7C0-8EF1-A4E2-BF43B2017C17}"/>
          </ac:graphicFrameMkLst>
        </pc:graphicFrameChg>
        <pc:graphicFrameChg chg="add mod">
          <ac:chgData name="Howard, Annie Green" userId="cca2d8b1-65da-4752-8b83-4f1c0df3704b" providerId="ADAL" clId="{EAA4A942-942A-464E-BB0E-47C9CDF5DE67}" dt="2026-04-02T01:11:08.420" v="2860" actId="207"/>
          <ac:graphicFrameMkLst>
            <pc:docMk/>
            <pc:sldMk cId="4272731760" sldId="267"/>
            <ac:graphicFrameMk id="9" creationId="{67C9B761-F8D0-A9B8-4FC1-F96A9237BC50}"/>
          </ac:graphicFrameMkLst>
        </pc:graphicFrameChg>
        <pc:graphicFrameChg chg="add mod">
          <ac:chgData name="Howard, Annie Green" userId="cca2d8b1-65da-4752-8b83-4f1c0df3704b" providerId="ADAL" clId="{EAA4A942-942A-464E-BB0E-47C9CDF5DE67}" dt="2026-04-02T01:11:19.039" v="2861" actId="207"/>
          <ac:graphicFrameMkLst>
            <pc:docMk/>
            <pc:sldMk cId="4272731760" sldId="267"/>
            <ac:graphicFrameMk id="10" creationId="{16371010-6B2E-08F5-D882-ECD75311C226}"/>
          </ac:graphicFrameMkLst>
        </pc:graphicFrameChg>
      </pc:sldChg>
      <pc:sldChg chg="addSp delSp modSp new del mod">
        <pc:chgData name="Howard, Annie Green" userId="cca2d8b1-65da-4752-8b83-4f1c0df3704b" providerId="ADAL" clId="{EAA4A942-942A-464E-BB0E-47C9CDF5DE67}" dt="2026-04-02T12:53:53.934" v="5211" actId="2696"/>
        <pc:sldMkLst>
          <pc:docMk/>
          <pc:sldMk cId="3086743268" sldId="268"/>
        </pc:sldMkLst>
        <pc:spChg chg="del">
          <ac:chgData name="Howard, Annie Green" userId="cca2d8b1-65da-4752-8b83-4f1c0df3704b" providerId="ADAL" clId="{EAA4A942-942A-464E-BB0E-47C9CDF5DE67}" dt="2026-04-02T01:16:04.690" v="2894" actId="22"/>
          <ac:spMkLst>
            <pc:docMk/>
            <pc:sldMk cId="3086743268" sldId="268"/>
            <ac:spMk id="3" creationId="{972DE6C8-CEEE-0DD5-FB73-10F43C077CDB}"/>
          </ac:spMkLst>
        </pc:spChg>
        <pc:spChg chg="add del mod">
          <ac:chgData name="Howard, Annie Green" userId="cca2d8b1-65da-4752-8b83-4f1c0df3704b" providerId="ADAL" clId="{EAA4A942-942A-464E-BB0E-47C9CDF5DE67}" dt="2026-04-02T02:03:38.306" v="4390" actId="3680"/>
          <ac:spMkLst>
            <pc:docMk/>
            <pc:sldMk cId="3086743268" sldId="268"/>
            <ac:spMk id="7" creationId="{9EC30CA8-08BE-14E9-B321-9E0A85F8E978}"/>
          </ac:spMkLst>
        </pc:spChg>
        <pc:graphicFrameChg chg="add mod ord modGraphic">
          <ac:chgData name="Howard, Annie Green" userId="cca2d8b1-65da-4752-8b83-4f1c0df3704b" providerId="ADAL" clId="{EAA4A942-942A-464E-BB0E-47C9CDF5DE67}" dt="2026-04-02T02:06:55.487" v="4634" actId="20577"/>
          <ac:graphicFrameMkLst>
            <pc:docMk/>
            <pc:sldMk cId="3086743268" sldId="268"/>
            <ac:graphicFrameMk id="10" creationId="{81E696E1-E5D5-6990-B083-7D3ADF47FCDA}"/>
          </ac:graphicFrameMkLst>
        </pc:graphicFrameChg>
        <pc:picChg chg="add del mod ord">
          <ac:chgData name="Howard, Annie Green" userId="cca2d8b1-65da-4752-8b83-4f1c0df3704b" providerId="ADAL" clId="{EAA4A942-942A-464E-BB0E-47C9CDF5DE67}" dt="2026-04-02T02:02:03.222" v="4362" actId="478"/>
          <ac:picMkLst>
            <pc:docMk/>
            <pc:sldMk cId="3086743268" sldId="268"/>
            <ac:picMk id="5" creationId="{5E60A4F5-4855-7643-2ACA-929D9CEE2DF4}"/>
          </ac:picMkLst>
        </pc:picChg>
        <pc:picChg chg="add mod">
          <ac:chgData name="Howard, Annie Green" userId="cca2d8b1-65da-4752-8b83-4f1c0df3704b" providerId="ADAL" clId="{EAA4A942-942A-464E-BB0E-47C9CDF5DE67}" dt="2026-04-02T02:05:11.329" v="4591" actId="1076"/>
          <ac:picMkLst>
            <pc:docMk/>
            <pc:sldMk cId="3086743268" sldId="268"/>
            <ac:picMk id="9" creationId="{011C13B4-EDCD-C241-6F7F-3D0F56384648}"/>
          </ac:picMkLst>
        </pc:picChg>
      </pc:sldChg>
      <pc:sldChg chg="modSp add del mod">
        <pc:chgData name="Howard, Annie Green" userId="cca2d8b1-65da-4752-8b83-4f1c0df3704b" providerId="ADAL" clId="{EAA4A942-942A-464E-BB0E-47C9CDF5DE67}" dt="2026-04-02T12:49:56.907" v="5119" actId="2696"/>
        <pc:sldMkLst>
          <pc:docMk/>
          <pc:sldMk cId="4128021130" sldId="269"/>
        </pc:sldMkLst>
        <pc:spChg chg="mod">
          <ac:chgData name="Howard, Annie Green" userId="cca2d8b1-65da-4752-8b83-4f1c0df3704b" providerId="ADAL" clId="{EAA4A942-942A-464E-BB0E-47C9CDF5DE67}" dt="2026-04-02T01:04:20.092" v="2794" actId="20577"/>
          <ac:spMkLst>
            <pc:docMk/>
            <pc:sldMk cId="4128021130" sldId="269"/>
            <ac:spMk id="15" creationId="{E8B08AF6-142A-20E2-B350-B21E0BB92075}"/>
          </ac:spMkLst>
        </pc:spChg>
        <pc:graphicFrameChg chg="mod">
          <ac:chgData name="Howard, Annie Green" userId="cca2d8b1-65da-4752-8b83-4f1c0df3704b" providerId="ADAL" clId="{EAA4A942-942A-464E-BB0E-47C9CDF5DE67}" dt="2026-04-02T01:56:34.935" v="4321" actId="207"/>
          <ac:graphicFrameMkLst>
            <pc:docMk/>
            <pc:sldMk cId="4128021130" sldId="269"/>
            <ac:graphicFrameMk id="6" creationId="{F3D84CDD-BB1A-8549-786A-29279936E593}"/>
          </ac:graphicFrameMkLst>
        </pc:graphicFrameChg>
        <pc:graphicFrameChg chg="mod">
          <ac:chgData name="Howard, Annie Green" userId="cca2d8b1-65da-4752-8b83-4f1c0df3704b" providerId="ADAL" clId="{EAA4A942-942A-464E-BB0E-47C9CDF5DE67}" dt="2026-04-02T02:01:54.782" v="4361" actId="207"/>
          <ac:graphicFrameMkLst>
            <pc:docMk/>
            <pc:sldMk cId="4128021130" sldId="269"/>
            <ac:graphicFrameMk id="9" creationId="{D776018F-775C-2B8E-9B4D-46947248033E}"/>
          </ac:graphicFrameMkLst>
        </pc:graphicFrameChg>
        <pc:graphicFrameChg chg="mod">
          <ac:chgData name="Howard, Annie Green" userId="cca2d8b1-65da-4752-8b83-4f1c0df3704b" providerId="ADAL" clId="{EAA4A942-942A-464E-BB0E-47C9CDF5DE67}" dt="2026-04-02T01:58:51.636" v="4339" actId="207"/>
          <ac:graphicFrameMkLst>
            <pc:docMk/>
            <pc:sldMk cId="4128021130" sldId="269"/>
            <ac:graphicFrameMk id="10" creationId="{E9B9350F-C23B-580A-0AD3-6DA16617B617}"/>
          </ac:graphicFrameMkLst>
        </pc:graphicFrameChg>
      </pc:sldChg>
      <pc:sldChg chg="addSp delSp modSp add mod">
        <pc:chgData name="Howard, Annie Green" userId="cca2d8b1-65da-4752-8b83-4f1c0df3704b" providerId="ADAL" clId="{EAA4A942-942A-464E-BB0E-47C9CDF5DE67}" dt="2026-04-02T13:27:16.647" v="6867" actId="1076"/>
        <pc:sldMkLst>
          <pc:docMk/>
          <pc:sldMk cId="54461679" sldId="270"/>
        </pc:sldMkLst>
        <pc:spChg chg="add mod">
          <ac:chgData name="Howard, Annie Green" userId="cca2d8b1-65da-4752-8b83-4f1c0df3704b" providerId="ADAL" clId="{EAA4A942-942A-464E-BB0E-47C9CDF5DE67}" dt="2026-04-02T13:27:16.647" v="6867" actId="1076"/>
          <ac:spMkLst>
            <pc:docMk/>
            <pc:sldMk cId="54461679" sldId="270"/>
            <ac:spMk id="2" creationId="{65CE29C4-2E33-6FBD-65BF-0C5917D7E161}"/>
          </ac:spMkLst>
        </pc:spChg>
        <pc:spChg chg="mod">
          <ac:chgData name="Howard, Annie Green" userId="cca2d8b1-65da-4752-8b83-4f1c0df3704b" providerId="ADAL" clId="{EAA4A942-942A-464E-BB0E-47C9CDF5DE67}" dt="2026-04-02T13:19:57.387" v="6625" actId="404"/>
          <ac:spMkLst>
            <pc:docMk/>
            <pc:sldMk cId="54461679" sldId="270"/>
            <ac:spMk id="15" creationId="{A115C8C3-4818-F3D6-EE32-28816318760D}"/>
          </ac:spMkLst>
        </pc:spChg>
        <pc:spChg chg="del mod">
          <ac:chgData name="Howard, Annie Green" userId="cca2d8b1-65da-4752-8b83-4f1c0df3704b" providerId="ADAL" clId="{EAA4A942-942A-464E-BB0E-47C9CDF5DE67}" dt="2026-04-02T13:18:13.863" v="6552" actId="478"/>
          <ac:spMkLst>
            <pc:docMk/>
            <pc:sldMk cId="54461679" sldId="270"/>
            <ac:spMk id="16" creationId="{6E177D96-21B6-7625-B7EB-4DD31C0D3DC4}"/>
          </ac:spMkLst>
        </pc:spChg>
      </pc:sldChg>
      <pc:sldChg chg="modSp new del mod ord">
        <pc:chgData name="Howard, Annie Green" userId="cca2d8b1-65da-4752-8b83-4f1c0df3704b" providerId="ADAL" clId="{EAA4A942-942A-464E-BB0E-47C9CDF5DE67}" dt="2026-04-02T01:38:44.606" v="4180" actId="2696"/>
        <pc:sldMkLst>
          <pc:docMk/>
          <pc:sldMk cId="1096496874" sldId="270"/>
        </pc:sldMkLst>
        <pc:spChg chg="mod">
          <ac:chgData name="Howard, Annie Green" userId="cca2d8b1-65da-4752-8b83-4f1c0df3704b" providerId="ADAL" clId="{EAA4A942-942A-464E-BB0E-47C9CDF5DE67}" dt="2026-04-02T01:15:47.374" v="2893" actId="20577"/>
          <ac:spMkLst>
            <pc:docMk/>
            <pc:sldMk cId="1096496874" sldId="270"/>
            <ac:spMk id="2" creationId="{F18BF800-559C-2877-D412-A73694F02CDE}"/>
          </ac:spMkLst>
        </pc:spChg>
      </pc:sldChg>
      <pc:sldChg chg="addSp delSp modSp new mod">
        <pc:chgData name="Howard, Annie Green" userId="cca2d8b1-65da-4752-8b83-4f1c0df3704b" providerId="ADAL" clId="{EAA4A942-942A-464E-BB0E-47C9CDF5DE67}" dt="2026-04-02T13:27:46.633" v="6908"/>
        <pc:sldMkLst>
          <pc:docMk/>
          <pc:sldMk cId="48853903" sldId="271"/>
        </pc:sldMkLst>
        <pc:spChg chg="mod">
          <ac:chgData name="Howard, Annie Green" userId="cca2d8b1-65da-4752-8b83-4f1c0df3704b" providerId="ADAL" clId="{EAA4A942-942A-464E-BB0E-47C9CDF5DE67}" dt="2026-04-02T13:01:31.441" v="5626" actId="313"/>
          <ac:spMkLst>
            <pc:docMk/>
            <pc:sldMk cId="48853903" sldId="271"/>
            <ac:spMk id="2" creationId="{37DE35C1-35DE-0BC8-2655-F1232060405E}"/>
          </ac:spMkLst>
        </pc:spChg>
        <pc:spChg chg="del">
          <ac:chgData name="Howard, Annie Green" userId="cca2d8b1-65da-4752-8b83-4f1c0df3704b" providerId="ADAL" clId="{EAA4A942-942A-464E-BB0E-47C9CDF5DE67}" dt="2026-04-02T12:54:01.346" v="5213" actId="3680"/>
          <ac:spMkLst>
            <pc:docMk/>
            <pc:sldMk cId="48853903" sldId="271"/>
            <ac:spMk id="3" creationId="{65AD6754-2F3F-BD5E-F2F8-3AD7449CD2AA}"/>
          </ac:spMkLst>
        </pc:spChg>
        <pc:graphicFrameChg chg="add mod ord modGraphic">
          <ac:chgData name="Howard, Annie Green" userId="cca2d8b1-65da-4752-8b83-4f1c0df3704b" providerId="ADAL" clId="{EAA4A942-942A-464E-BB0E-47C9CDF5DE67}" dt="2026-04-02T13:27:46.633" v="6908"/>
          <ac:graphicFrameMkLst>
            <pc:docMk/>
            <pc:sldMk cId="48853903" sldId="271"/>
            <ac:graphicFrameMk id="4" creationId="{9937E5F5-2C62-4372-32DB-52BC4E205D9F}"/>
          </ac:graphicFrameMkLst>
        </pc:graphicFrameChg>
      </pc:sldChg>
      <pc:sldChg chg="new del">
        <pc:chgData name="Howard, Annie Green" userId="cca2d8b1-65da-4752-8b83-4f1c0df3704b" providerId="ADAL" clId="{EAA4A942-942A-464E-BB0E-47C9CDF5DE67}" dt="2026-04-02T13:06:43.931" v="5685" actId="2696"/>
        <pc:sldMkLst>
          <pc:docMk/>
          <pc:sldMk cId="4076241544" sldId="272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Class 1 (17%)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% Family Medicine</c:v>
                </c:pt>
                <c:pt idx="1">
                  <c:v>% Internal Medicine</c:v>
                </c:pt>
                <c:pt idx="2">
                  <c:v>% ObGyn</c:v>
                </c:pt>
                <c:pt idx="3">
                  <c:v>% Pediatrics</c:v>
                </c:pt>
                <c:pt idx="4">
                  <c:v>% Geriatrics</c:v>
                </c:pt>
              </c:strCache>
            </c:strRef>
          </c:cat>
          <c:val>
            <c:numRef>
              <c:f>Sheet1!$B$2:$B$6</c:f>
              <c:numCache>
                <c:formatCode>0%</c:formatCode>
                <c:ptCount val="5"/>
                <c:pt idx="0">
                  <c:v>0.49</c:v>
                </c:pt>
                <c:pt idx="1">
                  <c:v>0.31</c:v>
                </c:pt>
                <c:pt idx="2">
                  <c:v>0.01</c:v>
                </c:pt>
                <c:pt idx="3">
                  <c:v>0.17</c:v>
                </c:pt>
                <c:pt idx="4">
                  <c:v>2E-3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DD-4439-8798-80528C9C175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Class 2 (24%)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% Family Medicine</c:v>
                </c:pt>
                <c:pt idx="1">
                  <c:v>% Internal Medicine</c:v>
                </c:pt>
                <c:pt idx="2">
                  <c:v>% ObGyn</c:v>
                </c:pt>
                <c:pt idx="3">
                  <c:v>% Pediatrics</c:v>
                </c:pt>
                <c:pt idx="4">
                  <c:v>% Geriatrics</c:v>
                </c:pt>
              </c:strCache>
            </c:strRef>
          </c:cat>
          <c:val>
            <c:numRef>
              <c:f>Sheet1!$C$2:$C$6</c:f>
              <c:numCache>
                <c:formatCode>0%</c:formatCode>
                <c:ptCount val="5"/>
                <c:pt idx="0">
                  <c:v>0.41</c:v>
                </c:pt>
                <c:pt idx="1">
                  <c:v>0.4</c:v>
                </c:pt>
                <c:pt idx="2" formatCode="0.00%">
                  <c:v>2E-3</c:v>
                </c:pt>
                <c:pt idx="3">
                  <c:v>0.16</c:v>
                </c:pt>
                <c:pt idx="4">
                  <c:v>0.02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CDD-4439-8798-80528C9C175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Class 3 (44%)</c:v>
                </c:pt>
              </c:strCache>
            </c:strRef>
          </c:tx>
          <c:spPr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% Family Medicine</c:v>
                </c:pt>
                <c:pt idx="1">
                  <c:v>% Internal Medicine</c:v>
                </c:pt>
                <c:pt idx="2">
                  <c:v>% ObGyn</c:v>
                </c:pt>
                <c:pt idx="3">
                  <c:v>% Pediatrics</c:v>
                </c:pt>
                <c:pt idx="4">
                  <c:v>% Geriatrics</c:v>
                </c:pt>
              </c:strCache>
            </c:strRef>
          </c:cat>
          <c:val>
            <c:numRef>
              <c:f>Sheet1!$D$2:$D$6</c:f>
              <c:numCache>
                <c:formatCode>0%</c:formatCode>
                <c:ptCount val="5"/>
                <c:pt idx="0">
                  <c:v>0.42</c:v>
                </c:pt>
                <c:pt idx="1">
                  <c:v>0.28000000000000003</c:v>
                </c:pt>
                <c:pt idx="2">
                  <c:v>0</c:v>
                </c:pt>
                <c:pt idx="3">
                  <c:v>0.3</c:v>
                </c:pt>
                <c:pt idx="4">
                  <c:v>2E-3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CDD-4439-8798-80528C9C175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Class 4 (14%)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% Family Medicine</c:v>
                </c:pt>
                <c:pt idx="1">
                  <c:v>% Internal Medicine</c:v>
                </c:pt>
                <c:pt idx="2">
                  <c:v>% ObGyn</c:v>
                </c:pt>
                <c:pt idx="3">
                  <c:v>% Pediatrics</c:v>
                </c:pt>
                <c:pt idx="4">
                  <c:v>% Geriatrics</c:v>
                </c:pt>
              </c:strCache>
            </c:strRef>
          </c:cat>
          <c:val>
            <c:numRef>
              <c:f>Sheet1!$E$2:$E$6</c:f>
              <c:numCache>
                <c:formatCode>0%</c:formatCode>
                <c:ptCount val="5"/>
                <c:pt idx="0">
                  <c:v>1E-3</c:v>
                </c:pt>
                <c:pt idx="1">
                  <c:v>0</c:v>
                </c:pt>
                <c:pt idx="2">
                  <c:v>0.998</c:v>
                </c:pt>
                <c:pt idx="3">
                  <c:v>0</c:v>
                </c:pt>
                <c:pt idx="4" formatCode="0.00%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CDD-4439-8798-80528C9C17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72190992"/>
        <c:axId val="1072202992"/>
      </c:barChart>
      <c:catAx>
        <c:axId val="10721909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2202992"/>
        <c:crosses val="autoZero"/>
        <c:auto val="1"/>
        <c:lblAlgn val="ctr"/>
        <c:lblOffset val="100"/>
        <c:noMultiLvlLbl val="0"/>
      </c:catAx>
      <c:valAx>
        <c:axId val="1072202992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21909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Class 1 (17%)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Sheet1!$A$7:$A$12</c:f>
              <c:strCache>
                <c:ptCount val="6"/>
                <c:pt idx="0">
                  <c:v>Ambulatory Care</c:v>
                </c:pt>
                <c:pt idx="1">
                  <c:v>Hospital </c:v>
                </c:pt>
                <c:pt idx="2">
                  <c:v>Medical School</c:v>
                </c:pt>
                <c:pt idx="3">
                  <c:v>Nursing home</c:v>
                </c:pt>
                <c:pt idx="4">
                  <c:v>Solo </c:v>
                </c:pt>
                <c:pt idx="5">
                  <c:v>Other</c:v>
                </c:pt>
              </c:strCache>
            </c:strRef>
          </c:cat>
          <c:val>
            <c:numRef>
              <c:f>Sheet1!$B$7:$B$12</c:f>
              <c:numCache>
                <c:formatCode>0%</c:formatCode>
                <c:ptCount val="6"/>
                <c:pt idx="0">
                  <c:v>0.61</c:v>
                </c:pt>
                <c:pt idx="1">
                  <c:v>0.12</c:v>
                </c:pt>
                <c:pt idx="2">
                  <c:v>1E-3</c:v>
                </c:pt>
                <c:pt idx="3">
                  <c:v>5.0000000000000001E-3</c:v>
                </c:pt>
                <c:pt idx="4" formatCode="0.00%">
                  <c:v>0.19</c:v>
                </c:pt>
                <c:pt idx="5">
                  <c:v>0.01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D8D-4BD8-88C2-F2106683025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Class 2 (24%)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Sheet1!$A$7:$A$12</c:f>
              <c:strCache>
                <c:ptCount val="6"/>
                <c:pt idx="0">
                  <c:v>Ambulatory Care</c:v>
                </c:pt>
                <c:pt idx="1">
                  <c:v>Hospital </c:v>
                </c:pt>
                <c:pt idx="2">
                  <c:v>Medical School</c:v>
                </c:pt>
                <c:pt idx="3">
                  <c:v>Nursing home</c:v>
                </c:pt>
                <c:pt idx="4">
                  <c:v>Solo </c:v>
                </c:pt>
                <c:pt idx="5">
                  <c:v>Other</c:v>
                </c:pt>
              </c:strCache>
            </c:strRef>
          </c:cat>
          <c:val>
            <c:numRef>
              <c:f>Sheet1!$C$7:$C$12</c:f>
              <c:numCache>
                <c:formatCode>0%</c:formatCode>
                <c:ptCount val="6"/>
                <c:pt idx="0">
                  <c:v>0</c:v>
                </c:pt>
                <c:pt idx="1">
                  <c:v>0.33</c:v>
                </c:pt>
                <c:pt idx="2">
                  <c:v>0.13</c:v>
                </c:pt>
                <c:pt idx="3">
                  <c:v>0.03</c:v>
                </c:pt>
                <c:pt idx="4">
                  <c:v>0.34</c:v>
                </c:pt>
                <c:pt idx="5">
                  <c:v>0.02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D8D-4BD8-88C2-F2106683025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Class 3 (44%)</c:v>
                </c:pt>
              </c:strCache>
            </c:strRef>
          </c:tx>
          <c:spPr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Sheet1!$A$7:$A$12</c:f>
              <c:strCache>
                <c:ptCount val="6"/>
                <c:pt idx="0">
                  <c:v>Ambulatory Care</c:v>
                </c:pt>
                <c:pt idx="1">
                  <c:v>Hospital </c:v>
                </c:pt>
                <c:pt idx="2">
                  <c:v>Medical School</c:v>
                </c:pt>
                <c:pt idx="3">
                  <c:v>Nursing home</c:v>
                </c:pt>
                <c:pt idx="4">
                  <c:v>Solo </c:v>
                </c:pt>
                <c:pt idx="5">
                  <c:v>Other</c:v>
                </c:pt>
              </c:strCache>
            </c:strRef>
          </c:cat>
          <c:val>
            <c:numRef>
              <c:f>Sheet1!$D$7:$D$12</c:f>
              <c:numCache>
                <c:formatCode>0%</c:formatCode>
                <c:ptCount val="6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 formatCode="0.00%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D8D-4BD8-88C2-F2106683025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Class 4 (14%)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Sheet1!$A$7:$A$12</c:f>
              <c:strCache>
                <c:ptCount val="6"/>
                <c:pt idx="0">
                  <c:v>Ambulatory Care</c:v>
                </c:pt>
                <c:pt idx="1">
                  <c:v>Hospital </c:v>
                </c:pt>
                <c:pt idx="2">
                  <c:v>Medical School</c:v>
                </c:pt>
                <c:pt idx="3">
                  <c:v>Nursing home</c:v>
                </c:pt>
                <c:pt idx="4">
                  <c:v>Solo </c:v>
                </c:pt>
                <c:pt idx="5">
                  <c:v>Other</c:v>
                </c:pt>
              </c:strCache>
            </c:strRef>
          </c:cat>
          <c:val>
            <c:numRef>
              <c:f>Sheet1!$E$7:$E$12</c:f>
              <c:numCache>
                <c:formatCode>0%</c:formatCode>
                <c:ptCount val="6"/>
                <c:pt idx="0">
                  <c:v>0.76</c:v>
                </c:pt>
                <c:pt idx="1">
                  <c:v>0.05</c:v>
                </c:pt>
                <c:pt idx="2">
                  <c:v>0.04</c:v>
                </c:pt>
                <c:pt idx="3">
                  <c:v>0</c:v>
                </c:pt>
                <c:pt idx="4">
                  <c:v>0.11</c:v>
                </c:pt>
                <c:pt idx="5" formatCode="0.00%">
                  <c:v>3.0000000000000001E-3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D8D-4BD8-88C2-F210668302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72190992"/>
        <c:axId val="1072202992"/>
      </c:barChart>
      <c:catAx>
        <c:axId val="10721909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2202992"/>
        <c:crosses val="autoZero"/>
        <c:auto val="1"/>
        <c:lblAlgn val="ctr"/>
        <c:lblOffset val="100"/>
        <c:noMultiLvlLbl val="0"/>
      </c:catAx>
      <c:valAx>
        <c:axId val="1072202992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21909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Class 1 (17%)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Sheet1!$A$13:$A$17</c:f>
              <c:strCache>
                <c:ptCount val="5"/>
                <c:pt idx="0">
                  <c:v>% Obstetric deliveries</c:v>
                </c:pt>
                <c:pt idx="1">
                  <c:v>% Prenatal</c:v>
                </c:pt>
                <c:pt idx="2">
                  <c:v>Urban</c:v>
                </c:pt>
                <c:pt idx="3">
                  <c:v>Large Rural </c:v>
                </c:pt>
                <c:pt idx="4">
                  <c:v>Small Rural</c:v>
                </c:pt>
              </c:strCache>
            </c:strRef>
          </c:cat>
          <c:val>
            <c:numRef>
              <c:f>Sheet1!$B$13:$B$17</c:f>
              <c:numCache>
                <c:formatCode>0%</c:formatCode>
                <c:ptCount val="5"/>
                <c:pt idx="0">
                  <c:v>0.02</c:v>
                </c:pt>
                <c:pt idx="1">
                  <c:v>0.05</c:v>
                </c:pt>
                <c:pt idx="2">
                  <c:v>0</c:v>
                </c:pt>
                <c:pt idx="3">
                  <c:v>0.71</c:v>
                </c:pt>
                <c:pt idx="4">
                  <c:v>0.28999999999999998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43A-4694-9C09-B50A785C349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Class 2 (24%)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Sheet1!$A$13:$A$17</c:f>
              <c:strCache>
                <c:ptCount val="5"/>
                <c:pt idx="0">
                  <c:v>% Obstetric deliveries</c:v>
                </c:pt>
                <c:pt idx="1">
                  <c:v>% Prenatal</c:v>
                </c:pt>
                <c:pt idx="2">
                  <c:v>Urban</c:v>
                </c:pt>
                <c:pt idx="3">
                  <c:v>Large Rural </c:v>
                </c:pt>
                <c:pt idx="4">
                  <c:v>Small Rural</c:v>
                </c:pt>
              </c:strCache>
            </c:strRef>
          </c:cat>
          <c:val>
            <c:numRef>
              <c:f>Sheet1!$C$13:$C$17</c:f>
              <c:numCache>
                <c:formatCode>0.00%</c:formatCode>
                <c:ptCount val="5"/>
                <c:pt idx="0" formatCode="0%">
                  <c:v>0.02</c:v>
                </c:pt>
                <c:pt idx="1">
                  <c:v>0.08</c:v>
                </c:pt>
                <c:pt idx="2" formatCode="0%">
                  <c:v>1</c:v>
                </c:pt>
                <c:pt idx="3" formatCode="0%">
                  <c:v>0</c:v>
                </c:pt>
                <c:pt idx="4" formatCode="0%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43A-4694-9C09-B50A785C349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Class 3 (44%)</c:v>
                </c:pt>
              </c:strCache>
            </c:strRef>
          </c:tx>
          <c:spPr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Sheet1!$A$13:$A$17</c:f>
              <c:strCache>
                <c:ptCount val="5"/>
                <c:pt idx="0">
                  <c:v>% Obstetric deliveries</c:v>
                </c:pt>
                <c:pt idx="1">
                  <c:v>% Prenatal</c:v>
                </c:pt>
                <c:pt idx="2">
                  <c:v>Urban</c:v>
                </c:pt>
                <c:pt idx="3">
                  <c:v>Large Rural </c:v>
                </c:pt>
                <c:pt idx="4">
                  <c:v>Small Rural</c:v>
                </c:pt>
              </c:strCache>
            </c:strRef>
          </c:cat>
          <c:val>
            <c:numRef>
              <c:f>Sheet1!$D$13:$D$17</c:f>
              <c:numCache>
                <c:formatCode>0%</c:formatCode>
                <c:ptCount val="5"/>
                <c:pt idx="0">
                  <c:v>0.02</c:v>
                </c:pt>
                <c:pt idx="1">
                  <c:v>0.04</c:v>
                </c:pt>
                <c:pt idx="2">
                  <c:v>1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43A-4694-9C09-B50A785C349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Class 4 (14%)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Sheet1!$A$13:$A$17</c:f>
              <c:strCache>
                <c:ptCount val="5"/>
                <c:pt idx="0">
                  <c:v>% Obstetric deliveries</c:v>
                </c:pt>
                <c:pt idx="1">
                  <c:v>% Prenatal</c:v>
                </c:pt>
                <c:pt idx="2">
                  <c:v>Urban</c:v>
                </c:pt>
                <c:pt idx="3">
                  <c:v>Large Rural </c:v>
                </c:pt>
                <c:pt idx="4">
                  <c:v>Small Rural</c:v>
                </c:pt>
              </c:strCache>
            </c:strRef>
          </c:cat>
          <c:val>
            <c:numRef>
              <c:f>Sheet1!$E$13:$E$17</c:f>
              <c:numCache>
                <c:formatCode>0.00%</c:formatCode>
                <c:ptCount val="5"/>
                <c:pt idx="0" formatCode="0%">
                  <c:v>0.8</c:v>
                </c:pt>
                <c:pt idx="1">
                  <c:v>0.82</c:v>
                </c:pt>
                <c:pt idx="2" formatCode="0%">
                  <c:v>0.87</c:v>
                </c:pt>
                <c:pt idx="3" formatCode="0%">
                  <c:v>0.13</c:v>
                </c:pt>
                <c:pt idx="4" formatCode="0%">
                  <c:v>0.03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43A-4694-9C09-B50A785C34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72190992"/>
        <c:axId val="1072202992"/>
      </c:barChart>
      <c:catAx>
        <c:axId val="10721909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2202992"/>
        <c:crosses val="autoZero"/>
        <c:auto val="1"/>
        <c:lblAlgn val="ctr"/>
        <c:lblOffset val="100"/>
        <c:noMultiLvlLbl val="0"/>
      </c:catAx>
      <c:valAx>
        <c:axId val="1072202992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21909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Class 1 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% Family Medicine</c:v>
                </c:pt>
                <c:pt idx="1">
                  <c:v>% Internal Medicine</c:v>
                </c:pt>
                <c:pt idx="2">
                  <c:v>% ObGyn</c:v>
                </c:pt>
                <c:pt idx="3">
                  <c:v>% Pediatrics</c:v>
                </c:pt>
                <c:pt idx="4">
                  <c:v>% Geriatrics</c:v>
                </c:pt>
              </c:strCache>
            </c:strRef>
          </c:cat>
          <c:val>
            <c:numRef>
              <c:f>Sheet1!$B$2:$B$6</c:f>
              <c:numCache>
                <c:formatCode>0%</c:formatCode>
                <c:ptCount val="5"/>
                <c:pt idx="0">
                  <c:v>0.41</c:v>
                </c:pt>
                <c:pt idx="1">
                  <c:v>0.27</c:v>
                </c:pt>
                <c:pt idx="2">
                  <c:v>0</c:v>
                </c:pt>
                <c:pt idx="3">
                  <c:v>0.3</c:v>
                </c:pt>
                <c:pt idx="4">
                  <c:v>0.01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DD-4439-8798-80528C9C175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Class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% Family Medicine</c:v>
                </c:pt>
                <c:pt idx="1">
                  <c:v>% Internal Medicine</c:v>
                </c:pt>
                <c:pt idx="2">
                  <c:v>% ObGyn</c:v>
                </c:pt>
                <c:pt idx="3">
                  <c:v>% Pediatrics</c:v>
                </c:pt>
                <c:pt idx="4">
                  <c:v>% Geriatrics</c:v>
                </c:pt>
              </c:strCache>
            </c:strRef>
          </c:cat>
          <c:val>
            <c:numRef>
              <c:f>Sheet1!$C$2:$C$6</c:f>
              <c:numCache>
                <c:formatCode>0%</c:formatCode>
                <c:ptCount val="5"/>
                <c:pt idx="0">
                  <c:v>0.47</c:v>
                </c:pt>
                <c:pt idx="1">
                  <c:v>0.28000000000000003</c:v>
                </c:pt>
                <c:pt idx="2" formatCode="0.00%">
                  <c:v>0.01</c:v>
                </c:pt>
                <c:pt idx="3">
                  <c:v>0.2</c:v>
                </c:pt>
                <c:pt idx="4">
                  <c:v>0.03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CDD-4439-8798-80528C9C175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Class 3</c:v>
                </c:pt>
              </c:strCache>
            </c:strRef>
          </c:tx>
          <c:spPr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% Family Medicine</c:v>
                </c:pt>
                <c:pt idx="1">
                  <c:v>% Internal Medicine</c:v>
                </c:pt>
                <c:pt idx="2">
                  <c:v>% ObGyn</c:v>
                </c:pt>
                <c:pt idx="3">
                  <c:v>% Pediatrics</c:v>
                </c:pt>
                <c:pt idx="4">
                  <c:v>% Geriatrics</c:v>
                </c:pt>
              </c:strCache>
            </c:strRef>
          </c:cat>
          <c:val>
            <c:numRef>
              <c:f>Sheet1!$D$2:$D$6</c:f>
              <c:numCache>
                <c:formatCode>0%</c:formatCode>
                <c:ptCount val="5"/>
                <c:pt idx="0">
                  <c:v>0.41</c:v>
                </c:pt>
                <c:pt idx="1">
                  <c:v>0.34</c:v>
                </c:pt>
                <c:pt idx="2">
                  <c:v>0</c:v>
                </c:pt>
                <c:pt idx="3">
                  <c:v>0.17</c:v>
                </c:pt>
                <c:pt idx="4">
                  <c:v>0.08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CDD-4439-8798-80528C9C175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Class 4 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% Family Medicine</c:v>
                </c:pt>
                <c:pt idx="1">
                  <c:v>% Internal Medicine</c:v>
                </c:pt>
                <c:pt idx="2">
                  <c:v>% ObGyn</c:v>
                </c:pt>
                <c:pt idx="3">
                  <c:v>% Pediatrics</c:v>
                </c:pt>
                <c:pt idx="4">
                  <c:v>% Geriatrics</c:v>
                </c:pt>
              </c:strCache>
            </c:strRef>
          </c:cat>
          <c:val>
            <c:numRef>
              <c:f>Sheet1!$E$2:$E$6</c:f>
              <c:numCache>
                <c:formatCode>0%</c:formatCode>
                <c:ptCount val="5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0</c:v>
                </c:pt>
                <c:pt idx="4" formatCode="0.00%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CDD-4439-8798-80528C9C17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72190992"/>
        <c:axId val="1072202992"/>
      </c:barChart>
      <c:catAx>
        <c:axId val="10721909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2202992"/>
        <c:crosses val="autoZero"/>
        <c:auto val="1"/>
        <c:lblAlgn val="ctr"/>
        <c:lblOffset val="100"/>
        <c:noMultiLvlLbl val="0"/>
      </c:catAx>
      <c:valAx>
        <c:axId val="1072202992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21909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Class 1 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Sheet1!$A$7:$A$12</c:f>
              <c:strCache>
                <c:ptCount val="6"/>
                <c:pt idx="0">
                  <c:v>Ambulatory Care</c:v>
                </c:pt>
                <c:pt idx="1">
                  <c:v>Hospital </c:v>
                </c:pt>
                <c:pt idx="2">
                  <c:v>Medical School</c:v>
                </c:pt>
                <c:pt idx="3">
                  <c:v>Nursing home</c:v>
                </c:pt>
                <c:pt idx="4">
                  <c:v>Solo </c:v>
                </c:pt>
                <c:pt idx="5">
                  <c:v>Other</c:v>
                </c:pt>
              </c:strCache>
            </c:strRef>
          </c:cat>
          <c:val>
            <c:numRef>
              <c:f>Sheet1!$B$7:$B$12</c:f>
              <c:numCache>
                <c:formatCode>0%</c:formatCode>
                <c:ptCount val="6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 formatCode="0.00%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D8D-4BD8-88C2-F2106683025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Class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Sheet1!$A$7:$A$12</c:f>
              <c:strCache>
                <c:ptCount val="6"/>
                <c:pt idx="0">
                  <c:v>Ambulatory Care</c:v>
                </c:pt>
                <c:pt idx="1">
                  <c:v>Hospital </c:v>
                </c:pt>
                <c:pt idx="2">
                  <c:v>Medical School</c:v>
                </c:pt>
                <c:pt idx="3">
                  <c:v>Nursing home</c:v>
                </c:pt>
                <c:pt idx="4">
                  <c:v>Solo </c:v>
                </c:pt>
                <c:pt idx="5">
                  <c:v>Other</c:v>
                </c:pt>
              </c:strCache>
            </c:strRef>
          </c:cat>
          <c:val>
            <c:numRef>
              <c:f>Sheet1!$C$7:$C$12</c:f>
              <c:numCache>
                <c:formatCode>0%</c:formatCode>
                <c:ptCount val="6"/>
                <c:pt idx="0">
                  <c:v>0.57999999999999996</c:v>
                </c:pt>
                <c:pt idx="1">
                  <c:v>0.1</c:v>
                </c:pt>
                <c:pt idx="2">
                  <c:v>0</c:v>
                </c:pt>
                <c:pt idx="3">
                  <c:v>0.02</c:v>
                </c:pt>
                <c:pt idx="4">
                  <c:v>0.15</c:v>
                </c:pt>
                <c:pt idx="5">
                  <c:v>0.11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D8D-4BD8-88C2-F2106683025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Class 3</c:v>
                </c:pt>
              </c:strCache>
            </c:strRef>
          </c:tx>
          <c:spPr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Sheet1!$A$7:$A$12</c:f>
              <c:strCache>
                <c:ptCount val="6"/>
                <c:pt idx="0">
                  <c:v>Ambulatory Care</c:v>
                </c:pt>
                <c:pt idx="1">
                  <c:v>Hospital </c:v>
                </c:pt>
                <c:pt idx="2">
                  <c:v>Medical School</c:v>
                </c:pt>
                <c:pt idx="3">
                  <c:v>Nursing home</c:v>
                </c:pt>
                <c:pt idx="4">
                  <c:v>Solo </c:v>
                </c:pt>
                <c:pt idx="5">
                  <c:v>Other</c:v>
                </c:pt>
              </c:strCache>
            </c:strRef>
          </c:cat>
          <c:val>
            <c:numRef>
              <c:f>Sheet1!$D$7:$D$12</c:f>
              <c:numCache>
                <c:formatCode>0%</c:formatCode>
                <c:ptCount val="6"/>
                <c:pt idx="0">
                  <c:v>0</c:v>
                </c:pt>
                <c:pt idx="1">
                  <c:v>0.28999999999999998</c:v>
                </c:pt>
                <c:pt idx="2">
                  <c:v>0.1</c:v>
                </c:pt>
                <c:pt idx="3">
                  <c:v>0.05</c:v>
                </c:pt>
                <c:pt idx="4" formatCode="0.00%">
                  <c:v>0.26</c:v>
                </c:pt>
                <c:pt idx="5">
                  <c:v>0.21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D8D-4BD8-88C2-F2106683025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Class 4 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Sheet1!$A$7:$A$12</c:f>
              <c:strCache>
                <c:ptCount val="6"/>
                <c:pt idx="0">
                  <c:v>Ambulatory Care</c:v>
                </c:pt>
                <c:pt idx="1">
                  <c:v>Hospital </c:v>
                </c:pt>
                <c:pt idx="2">
                  <c:v>Medical School</c:v>
                </c:pt>
                <c:pt idx="3">
                  <c:v>Nursing home</c:v>
                </c:pt>
                <c:pt idx="4">
                  <c:v>Solo </c:v>
                </c:pt>
                <c:pt idx="5">
                  <c:v>Other</c:v>
                </c:pt>
              </c:strCache>
            </c:strRef>
          </c:cat>
          <c:val>
            <c:numRef>
              <c:f>Sheet1!$E$7:$E$12</c:f>
              <c:numCache>
                <c:formatCode>0%</c:formatCode>
                <c:ptCount val="6"/>
                <c:pt idx="0">
                  <c:v>0.68</c:v>
                </c:pt>
                <c:pt idx="1">
                  <c:v>0.12</c:v>
                </c:pt>
                <c:pt idx="2">
                  <c:v>0.04</c:v>
                </c:pt>
                <c:pt idx="3">
                  <c:v>0</c:v>
                </c:pt>
                <c:pt idx="4">
                  <c:v>7.0000000000000007E-2</c:v>
                </c:pt>
                <c:pt idx="5" formatCode="0.00%">
                  <c:v>0.06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D8D-4BD8-88C2-F210668302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72190992"/>
        <c:axId val="1072202992"/>
      </c:barChart>
      <c:catAx>
        <c:axId val="10721909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2202992"/>
        <c:crosses val="autoZero"/>
        <c:auto val="1"/>
        <c:lblAlgn val="ctr"/>
        <c:lblOffset val="100"/>
        <c:noMultiLvlLbl val="0"/>
      </c:catAx>
      <c:valAx>
        <c:axId val="1072202992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21909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Class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Sheet1!$A$13:$A$17</c:f>
              <c:strCache>
                <c:ptCount val="5"/>
                <c:pt idx="0">
                  <c:v>% Obstetric deliveries</c:v>
                </c:pt>
                <c:pt idx="1">
                  <c:v>% Prenatal</c:v>
                </c:pt>
                <c:pt idx="2">
                  <c:v>Urban</c:v>
                </c:pt>
                <c:pt idx="3">
                  <c:v>Large Rural </c:v>
                </c:pt>
                <c:pt idx="4">
                  <c:v>Small Rural</c:v>
                </c:pt>
              </c:strCache>
            </c:strRef>
          </c:cat>
          <c:val>
            <c:numRef>
              <c:f>Sheet1!$B$13:$B$17</c:f>
              <c:numCache>
                <c:formatCode>0%</c:formatCode>
                <c:ptCount val="5"/>
                <c:pt idx="0">
                  <c:v>6.0000000000000001E-3</c:v>
                </c:pt>
                <c:pt idx="1">
                  <c:v>0.02</c:v>
                </c:pt>
                <c:pt idx="2">
                  <c:v>1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43A-4694-9C09-B50A785C349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Class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Sheet1!$A$13:$A$17</c:f>
              <c:strCache>
                <c:ptCount val="5"/>
                <c:pt idx="0">
                  <c:v>% Obstetric deliveries</c:v>
                </c:pt>
                <c:pt idx="1">
                  <c:v>% Prenatal</c:v>
                </c:pt>
                <c:pt idx="2">
                  <c:v>Urban</c:v>
                </c:pt>
                <c:pt idx="3">
                  <c:v>Large Rural </c:v>
                </c:pt>
                <c:pt idx="4">
                  <c:v>Small Rural</c:v>
                </c:pt>
              </c:strCache>
            </c:strRef>
          </c:cat>
          <c:val>
            <c:numRef>
              <c:f>Sheet1!$C$13:$C$17</c:f>
              <c:numCache>
                <c:formatCode>0.00%</c:formatCode>
                <c:ptCount val="5"/>
                <c:pt idx="0" formatCode="0%">
                  <c:v>6.0000000000000001E-3</c:v>
                </c:pt>
                <c:pt idx="1">
                  <c:v>0.02</c:v>
                </c:pt>
                <c:pt idx="2" formatCode="0%">
                  <c:v>0</c:v>
                </c:pt>
                <c:pt idx="3" formatCode="0%">
                  <c:v>0.7</c:v>
                </c:pt>
                <c:pt idx="4" formatCode="0%">
                  <c:v>0.28999999999999998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43A-4694-9C09-B50A785C349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Class 3</c:v>
                </c:pt>
              </c:strCache>
            </c:strRef>
          </c:tx>
          <c:spPr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Sheet1!$A$13:$A$17</c:f>
              <c:strCache>
                <c:ptCount val="5"/>
                <c:pt idx="0">
                  <c:v>% Obstetric deliveries</c:v>
                </c:pt>
                <c:pt idx="1">
                  <c:v>% Prenatal</c:v>
                </c:pt>
                <c:pt idx="2">
                  <c:v>Urban</c:v>
                </c:pt>
                <c:pt idx="3">
                  <c:v>Large Rural </c:v>
                </c:pt>
                <c:pt idx="4">
                  <c:v>Small Rural</c:v>
                </c:pt>
              </c:strCache>
            </c:strRef>
          </c:cat>
          <c:val>
            <c:numRef>
              <c:f>Sheet1!$D$13:$D$17</c:f>
              <c:numCache>
                <c:formatCode>0%</c:formatCode>
                <c:ptCount val="5"/>
                <c:pt idx="0">
                  <c:v>0.01</c:v>
                </c:pt>
                <c:pt idx="1">
                  <c:v>0.06</c:v>
                </c:pt>
                <c:pt idx="2">
                  <c:v>1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43A-4694-9C09-B50A785C349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Class 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Sheet1!$A$13:$A$17</c:f>
              <c:strCache>
                <c:ptCount val="5"/>
                <c:pt idx="0">
                  <c:v>% Obstetric deliveries</c:v>
                </c:pt>
                <c:pt idx="1">
                  <c:v>% Prenatal</c:v>
                </c:pt>
                <c:pt idx="2">
                  <c:v>Urban</c:v>
                </c:pt>
                <c:pt idx="3">
                  <c:v>Large Rural </c:v>
                </c:pt>
                <c:pt idx="4">
                  <c:v>Small Rural</c:v>
                </c:pt>
              </c:strCache>
            </c:strRef>
          </c:cat>
          <c:val>
            <c:numRef>
              <c:f>Sheet1!$E$13:$E$17</c:f>
              <c:numCache>
                <c:formatCode>0.00%</c:formatCode>
                <c:ptCount val="5"/>
                <c:pt idx="0" formatCode="0%">
                  <c:v>0.68</c:v>
                </c:pt>
                <c:pt idx="1">
                  <c:v>0.71</c:v>
                </c:pt>
                <c:pt idx="2" formatCode="0%">
                  <c:v>0.84</c:v>
                </c:pt>
                <c:pt idx="3" formatCode="0%">
                  <c:v>0.13</c:v>
                </c:pt>
                <c:pt idx="4" formatCode="0%">
                  <c:v>0.03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43A-4694-9C09-B50A785C34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72190992"/>
        <c:axId val="1072202992"/>
      </c:barChart>
      <c:catAx>
        <c:axId val="10721909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2202992"/>
        <c:crosses val="autoZero"/>
        <c:auto val="1"/>
        <c:lblAlgn val="ctr"/>
        <c:lblOffset val="100"/>
        <c:noMultiLvlLbl val="0"/>
      </c:catAx>
      <c:valAx>
        <c:axId val="1072202992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21909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4A69A9-5F71-48C9-91CB-6C41B19A0868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257ECF-3480-4FF6-9F81-7C35F706E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993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257ECF-3480-4FF6-9F81-7C35F706E98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3754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257ECF-3480-4FF6-9F81-7C35F706E98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5477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5085A-03C5-A1F9-0E39-8E8D7A0E83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900824-2D47-3686-7025-A187DE2906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CAB9B5-A46B-2DFC-187F-F01FF5A40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9DC06-1E5E-40DC-B975-D5303F97F6DD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1AB4A6-22B3-C77B-6F00-7E7D208FC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9A15C0-E76F-0BA4-1A98-2A9C1F121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BAB83-774B-4603-82EE-521A5451F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367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D2A1C-7082-BD06-2072-DF515A5FE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77AF2-58C2-03D8-164D-E49DB998C0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A33DB8-253A-D224-BFF7-34815F88C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9DC06-1E5E-40DC-B975-D5303F97F6DD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D03F44-63F3-521D-6BE8-299210176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BC8244-C635-F9B9-A913-18D960FE3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BAB83-774B-4603-82EE-521A5451F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703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7FEDE-6142-55BE-1CE1-476C84E6B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422EB1-058F-D0BD-7C8D-6FA94E078E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28E7A-422F-C2D5-E4BD-E7F5425DA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9DC06-1E5E-40DC-B975-D5303F97F6DD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BE742F-4F74-D9D9-4EBC-E64D3624E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369B68-466C-F691-5907-4C6758295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BAB83-774B-4603-82EE-521A5451F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126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5226B-DD87-DE8A-7D73-68E7D12DE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CFCC2-8EB3-C558-CF8B-CAFB44541C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C4C3FB-7076-CBE5-24C0-0CAF238764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B58605-7AF6-23DC-5CDE-FE6CFB669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9DC06-1E5E-40DC-B975-D5303F97F6DD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03361A-413D-7F6B-6832-0B42E0C80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A5A831-7EE6-5CAA-372D-95EA1B7F6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BAB83-774B-4603-82EE-521A5451F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165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76756-08E5-3794-0C06-228428AC3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791A51-2C10-39D6-1A23-4C58CD09A7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06249C-95F6-1B32-D91B-9C5DF331C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E3A6E4-2546-8299-735F-87FD297EC7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83B99D-8EF4-8F79-FBE8-A38BC7BF83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3DAA62-D9F9-F73C-531B-B5570A5CA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9DC06-1E5E-40DC-B975-D5303F97F6DD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4EB1C5-F240-0103-67D4-08187DB4C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1C4F9B-4468-94D4-8F10-BE25F477B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BAB83-774B-4603-82EE-521A5451F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408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CA0E7-EF19-9B17-12AF-12E216BCE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FBAF18-AEE9-D8A1-95D3-5C88E30B5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9DC06-1E5E-40DC-B975-D5303F97F6DD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311644-FC6A-9129-8A9A-89F13C5AA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8D2BAC-544D-23D2-46CD-87B6BAF7F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BAB83-774B-4603-82EE-521A5451F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944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D74D9F-AEF9-F6FF-AA26-C631A81D7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9DC06-1E5E-40DC-B975-D5303F97F6DD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4E013C-EC07-57CA-4489-5EDC41DB7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95183A-CFCE-0100-65EE-0C034FF93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BAB83-774B-4603-82EE-521A5451F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889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971FA-7AB7-D068-3865-98679B478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A4A9D-A8C7-3140-BA37-606994B3A8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ABD50D-3428-DB8B-3D98-FFEE37C296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E4DFC-E588-C7BF-A9A5-CFD47942C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9DC06-1E5E-40DC-B975-D5303F97F6DD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F16B36-1B9E-2294-8146-CBF0C136D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2ED23A-1D76-DC22-BB89-E9A946461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BAB83-774B-4603-82EE-521A5451F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754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33EB8-D2D2-1D0B-CB1D-9FF3EC3A5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C136C2-3572-5B46-C915-8B325C625C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EBAA2D-4620-CF72-9D0C-EEAD4AAD6B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3D9A76-5E63-E63E-194F-70012AC32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9DC06-1E5E-40DC-B975-D5303F97F6DD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15DB7E-10E6-9145-39D6-65A9AF794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EA5468-7D5E-358E-A95B-6758D7782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BAB83-774B-4603-82EE-521A5451F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412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5B2BB-AE69-4487-D09D-0572BD896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34200B-4B13-F47F-6881-A75F595F72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B1C694-CDF6-7092-8456-FEADACBD5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9DC06-1E5E-40DC-B975-D5303F97F6DD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B6605B-6044-6013-9977-BDD177AFB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98EC58-0D30-C55C-6B00-A26A3B111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BAB83-774B-4603-82EE-521A5451F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934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515F79-28A4-BE1F-2537-E83E286CCD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2213A4-9660-0190-A0E6-85C946590C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47351F-31D7-C998-1122-F88D9E26D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9DC06-1E5E-40DC-B975-D5303F97F6DD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64BE94-75B8-33C3-BB1D-2BAD8E47C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C19F4-3642-D571-B751-DC2D03BEC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BAB83-774B-4603-82EE-521A5451F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941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7A239F-DA38-804B-49EF-C89BE0865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CC45BB-1C67-91DD-8A8E-CD0F495465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5C0FEF-C20F-95F9-062F-63F053218F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B9DC06-1E5E-40DC-B975-D5303F97F6DD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B50AAF-9B30-69FA-BB55-B4692D2C54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88DF71-55C9-A758-1CA1-A2345C83E0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BBAB83-774B-4603-82EE-521A5451F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172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0471F-F07E-85CC-5101-C50F7C54D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on datasets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1EE9A-5178-AE0C-52C0-03B2B47469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year-specific datasets both include </a:t>
            </a:r>
            <a:r>
              <a:rPr lang="en-US" dirty="0" err="1"/>
              <a:t>indexno</a:t>
            </a:r>
            <a:r>
              <a:rPr lang="en-US" dirty="0"/>
              <a:t> variable</a:t>
            </a:r>
          </a:p>
          <a:p>
            <a:endParaRPr lang="en-US" dirty="0"/>
          </a:p>
          <a:p>
            <a:r>
              <a:rPr lang="en-US" dirty="0"/>
              <a:t>Included 8,702 individuals in 2009 in the published paper</a:t>
            </a:r>
          </a:p>
          <a:p>
            <a:pPr lvl="1"/>
            <a:r>
              <a:rPr lang="en-US" dirty="0"/>
              <a:t>The 2009 dataset includes only 8,699 individuals</a:t>
            </a:r>
          </a:p>
          <a:p>
            <a:pPr lvl="1"/>
            <a:r>
              <a:rPr lang="en-US" dirty="0"/>
              <a:t>Same sample size for both 1.24.23 version and the v2 version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Included 7,929 individuals in 2019 in the published paper</a:t>
            </a:r>
          </a:p>
          <a:p>
            <a:pPr lvl="1"/>
            <a:r>
              <a:rPr lang="en-US" dirty="0"/>
              <a:t>The 2019 dataset includes 7,926 individuals</a:t>
            </a:r>
          </a:p>
        </p:txBody>
      </p:sp>
    </p:spTree>
    <p:extLst>
      <p:ext uri="{BB962C8B-B14F-4D97-AF65-F5344CB8AC3E}">
        <p14:creationId xmlns:p14="http://schemas.microsoft.com/office/powerpoint/2010/main" val="4069860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44A3D-D5B8-B42A-A544-65627384E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 on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B43D46-A50B-BF47-D029-FA04F2F8A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Are the original MPLUS files avaliable? These just look to be dataset so would be curious if we could locate original datasets?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How to handle missing data? </a:t>
            </a:r>
          </a:p>
          <a:p>
            <a:pPr lvl="1"/>
            <a:r>
              <a:rPr lang="en-US" dirty="0"/>
              <a:t>Sensitivity analysis dropping values</a:t>
            </a:r>
          </a:p>
          <a:p>
            <a:pPr lvl="1"/>
            <a:r>
              <a:rPr lang="en-US" dirty="0"/>
              <a:t>Include missing category</a:t>
            </a:r>
          </a:p>
          <a:p>
            <a:pPr lvl="1"/>
            <a:r>
              <a:rPr lang="en-US" dirty="0"/>
              <a:t>Assume missingness patterns are related to other variables observed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695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B64CB-5EFA-E334-50AB-8303B6BF8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0800000" flipV="1">
            <a:off x="8122241" y="311911"/>
            <a:ext cx="2937935" cy="1439333"/>
          </a:xfrm>
        </p:spPr>
        <p:txBody>
          <a:bodyPr>
            <a:noAutofit/>
          </a:bodyPr>
          <a:lstStyle/>
          <a:p>
            <a:pPr algn="ctr"/>
            <a:r>
              <a:rPr lang="en-US" sz="2000" dirty="0"/>
              <a:t>Comparing Descriptive Statistics in 2009 of those in 2009 Sample Who Were Also in 2019 vs Those Not in 2019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**AGH add sample size**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313FCF37-CA38-9610-0198-1F5AA63194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8880883"/>
              </p:ext>
            </p:extLst>
          </p:nvPr>
        </p:nvGraphicFramePr>
        <p:xfrm>
          <a:off x="203201" y="231771"/>
          <a:ext cx="7281003" cy="629886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96615">
                  <a:extLst>
                    <a:ext uri="{9D8B030D-6E8A-4147-A177-3AD203B41FA5}">
                      <a16:colId xmlns:a16="http://schemas.microsoft.com/office/drawing/2014/main" val="841219058"/>
                    </a:ext>
                  </a:extLst>
                </a:gridCol>
                <a:gridCol w="2487168">
                  <a:extLst>
                    <a:ext uri="{9D8B030D-6E8A-4147-A177-3AD203B41FA5}">
                      <a16:colId xmlns:a16="http://schemas.microsoft.com/office/drawing/2014/main" val="22248741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4255201548"/>
                    </a:ext>
                  </a:extLst>
                </a:gridCol>
                <a:gridCol w="937100">
                  <a:extLst>
                    <a:ext uri="{9D8B030D-6E8A-4147-A177-3AD203B41FA5}">
                      <a16:colId xmlns:a16="http://schemas.microsoft.com/office/drawing/2014/main" val="2393706157"/>
                    </a:ext>
                  </a:extLst>
                </a:gridCol>
              </a:tblGrid>
              <a:tr h="37276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57" marR="4057" marT="4057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57" marR="4057" marT="4057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In 2009 But Not in 2019</a:t>
                      </a:r>
                    </a:p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N= </a:t>
                      </a:r>
                    </a:p>
                  </a:txBody>
                  <a:tcPr marL="4057" marR="4057" marT="4057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In 2009 And in 2019</a:t>
                      </a:r>
                    </a:p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N = </a:t>
                      </a:r>
                    </a:p>
                  </a:txBody>
                  <a:tcPr marL="4057" marR="4057" marT="4057" marB="0" anchor="b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191855"/>
                  </a:ext>
                </a:extLst>
              </a:tr>
              <a:tr h="11764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Race/Ethnicity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White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71%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73%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extLst>
                  <a:ext uri="{0D108BD9-81ED-4DB2-BD59-A6C34878D82A}">
                    <a16:rowId xmlns:a16="http://schemas.microsoft.com/office/drawing/2014/main" val="2114569181"/>
                  </a:ext>
                </a:extLst>
              </a:tr>
              <a:tr h="11764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Black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10%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11%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extLst>
                  <a:ext uri="{0D108BD9-81ED-4DB2-BD59-A6C34878D82A}">
                    <a16:rowId xmlns:a16="http://schemas.microsoft.com/office/drawing/2014/main" val="1740877142"/>
                  </a:ext>
                </a:extLst>
              </a:tr>
              <a:tr h="2182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American Indian/Alaskan Native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1%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  <a:latin typeface="+mn-lt"/>
                        </a:rPr>
                        <a:t>1%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extLst>
                  <a:ext uri="{0D108BD9-81ED-4DB2-BD59-A6C34878D82A}">
                    <a16:rowId xmlns:a16="http://schemas.microsoft.com/office/drawing/2014/main" val="3519115836"/>
                  </a:ext>
                </a:extLst>
              </a:tr>
              <a:tr h="11764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Asian/Pacific Islander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11%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  <a:latin typeface="+mn-lt"/>
                        </a:rPr>
                        <a:t>9%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extLst>
                  <a:ext uri="{0D108BD9-81ED-4DB2-BD59-A6C34878D82A}">
                    <a16:rowId xmlns:a16="http://schemas.microsoft.com/office/drawing/2014/main" val="3691898654"/>
                  </a:ext>
                </a:extLst>
              </a:tr>
              <a:tr h="11764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Hispanic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  <a:latin typeface="+mn-lt"/>
                        </a:rPr>
                        <a:t>3%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  <a:latin typeface="+mn-lt"/>
                        </a:rPr>
                        <a:t>4%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extLst>
                  <a:ext uri="{0D108BD9-81ED-4DB2-BD59-A6C34878D82A}">
                    <a16:rowId xmlns:a16="http://schemas.microsoft.com/office/drawing/2014/main" val="1684837129"/>
                  </a:ext>
                </a:extLst>
              </a:tr>
              <a:tr h="2177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Other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4%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2%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extLst>
                  <a:ext uri="{0D108BD9-81ED-4DB2-BD59-A6C34878D82A}">
                    <a16:rowId xmlns:a16="http://schemas.microsoft.com/office/drawing/2014/main" val="948038779"/>
                  </a:ext>
                </a:extLst>
              </a:tr>
              <a:tr h="11764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Age in 2009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47.9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45.2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extLst>
                  <a:ext uri="{0D108BD9-81ED-4DB2-BD59-A6C34878D82A}">
                    <a16:rowId xmlns:a16="http://schemas.microsoft.com/office/drawing/2014/main" val="3500368559"/>
                  </a:ext>
                </a:extLst>
              </a:tr>
              <a:tr h="11764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 Female</a:t>
                      </a:r>
                    </a:p>
                  </a:txBody>
                  <a:tcPr marL="4057" marR="4057" marT="4057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endParaRPr lang="en-US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35%</a:t>
                      </a: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43%</a:t>
                      </a: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9384388"/>
                  </a:ext>
                </a:extLst>
              </a:tr>
              <a:tr h="117648">
                <a:tc>
                  <a:txBody>
                    <a:bodyPr/>
                    <a:lstStyle/>
                    <a:p>
                      <a:r>
                        <a:rPr 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Providing routine obstetric deliveries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7%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13%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extLst>
                  <a:ext uri="{0D108BD9-81ED-4DB2-BD59-A6C34878D82A}">
                    <a16:rowId xmlns:a16="http://schemas.microsoft.com/office/drawing/2014/main" val="3315755276"/>
                  </a:ext>
                </a:extLst>
              </a:tr>
              <a:tr h="11764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Providing routine prenatal care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prenatal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10%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16%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extLst>
                  <a:ext uri="{0D108BD9-81ED-4DB2-BD59-A6C34878D82A}">
                    <a16:rowId xmlns:a16="http://schemas.microsoft.com/office/drawing/2014/main" val="1924288642"/>
                  </a:ext>
                </a:extLst>
              </a:tr>
              <a:tr h="11764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Specialty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Family Medicine</a:t>
                      </a:r>
                    </a:p>
                  </a:txBody>
                  <a:tcPr marL="4057" marR="4057" marT="4057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27%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37%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7534444"/>
                  </a:ext>
                </a:extLst>
              </a:tr>
              <a:tr h="11764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General Internal Medicine</a:t>
                      </a:r>
                    </a:p>
                  </a:txBody>
                  <a:tcPr marL="4057" marR="4057" marT="4057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44%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28%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3303169"/>
                  </a:ext>
                </a:extLst>
              </a:tr>
              <a:tr h="2182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General Obstetrics and gynecology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11%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15%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extLst>
                  <a:ext uri="{0D108BD9-81ED-4DB2-BD59-A6C34878D82A}">
                    <a16:rowId xmlns:a16="http://schemas.microsoft.com/office/drawing/2014/main" val="1330650235"/>
                  </a:ext>
                </a:extLst>
              </a:tr>
              <a:tr h="11764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General Pediatrics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17%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20%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extLst>
                  <a:ext uri="{0D108BD9-81ED-4DB2-BD59-A6C34878D82A}">
                    <a16:rowId xmlns:a16="http://schemas.microsoft.com/office/drawing/2014/main" val="2372582924"/>
                  </a:ext>
                </a:extLst>
              </a:tr>
              <a:tr h="11764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Geriatrics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0%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1%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extLst>
                  <a:ext uri="{0D108BD9-81ED-4DB2-BD59-A6C34878D82A}">
                    <a16:rowId xmlns:a16="http://schemas.microsoft.com/office/drawing/2014/main" val="1543199076"/>
                  </a:ext>
                </a:extLst>
              </a:tr>
              <a:tr h="11764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Urban/rural status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Urban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80%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81%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extLst>
                  <a:ext uri="{0D108BD9-81ED-4DB2-BD59-A6C34878D82A}">
                    <a16:rowId xmlns:a16="http://schemas.microsoft.com/office/drawing/2014/main" val="2141738802"/>
                  </a:ext>
                </a:extLst>
              </a:tr>
              <a:tr h="11764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Large Rural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14%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14%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extLst>
                  <a:ext uri="{0D108BD9-81ED-4DB2-BD59-A6C34878D82A}">
                    <a16:rowId xmlns:a16="http://schemas.microsoft.com/office/drawing/2014/main" val="1094073051"/>
                  </a:ext>
                </a:extLst>
              </a:tr>
              <a:tr h="17112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Small rural 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6%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6%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extLst>
                  <a:ext uri="{0D108BD9-81ED-4DB2-BD59-A6C34878D82A}">
                    <a16:rowId xmlns:a16="http://schemas.microsoft.com/office/drawing/2014/main" val="2550915223"/>
                  </a:ext>
                </a:extLst>
              </a:tr>
              <a:tr h="11764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Setting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Ambulatory Care</a:t>
                      </a:r>
                    </a:p>
                  </a:txBody>
                  <a:tcPr marL="4057" marR="4057" marT="4057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38%</a:t>
                      </a:r>
                      <a:endParaRPr lang="en-US" sz="1400" b="0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66%</a:t>
                      </a:r>
                      <a:endParaRPr lang="en-US" sz="1400" b="0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3256570"/>
                  </a:ext>
                </a:extLst>
              </a:tr>
              <a:tr h="8746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Hospital</a:t>
                      </a:r>
                    </a:p>
                  </a:txBody>
                  <a:tcPr marL="4057" marR="4057" marT="4057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31%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11%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453880"/>
                  </a:ext>
                </a:extLst>
              </a:tr>
              <a:tr h="2182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Medical School/Parent university</a:t>
                      </a:r>
                    </a:p>
                  </a:txBody>
                  <a:tcPr marL="4057" marR="4057" marT="4057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12%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4%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2358310"/>
                  </a:ext>
                </a:extLst>
              </a:tr>
              <a:tr h="11764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Nursing home/extended care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  <a:latin typeface="+mn-lt"/>
                        </a:rPr>
                        <a:t>1%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1%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extLst>
                  <a:ext uri="{0D108BD9-81ED-4DB2-BD59-A6C34878D82A}">
                    <a16:rowId xmlns:a16="http://schemas.microsoft.com/office/drawing/2014/main" val="3929129190"/>
                  </a:ext>
                </a:extLst>
              </a:tr>
              <a:tr h="2182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Other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  <a:latin typeface="+mn-lt"/>
                        </a:rPr>
                        <a:t>2%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1%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extLst>
                  <a:ext uri="{0D108BD9-81ED-4DB2-BD59-A6C34878D82A}">
                    <a16:rowId xmlns:a16="http://schemas.microsoft.com/office/drawing/2014/main" val="2467269500"/>
                  </a:ext>
                </a:extLst>
              </a:tr>
              <a:tr h="11764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Solo practitioner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  <a:latin typeface="+mn-lt"/>
                        </a:rPr>
                        <a:t>9%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13%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extLst>
                  <a:ext uri="{0D108BD9-81ED-4DB2-BD59-A6C34878D82A}">
                    <a16:rowId xmlns:a16="http://schemas.microsoft.com/office/drawing/2014/main" val="606939722"/>
                  </a:ext>
                </a:extLst>
              </a:tr>
              <a:tr h="2182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Missing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  <a:latin typeface="+mn-lt"/>
                        </a:rPr>
                        <a:t>8%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5%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extLst>
                  <a:ext uri="{0D108BD9-81ED-4DB2-BD59-A6C34878D82A}">
                    <a16:rowId xmlns:a16="http://schemas.microsoft.com/office/drawing/2014/main" val="1876569354"/>
                  </a:ext>
                </a:extLst>
              </a:tr>
            </a:tbl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5F162690-ECC2-8ECD-6B3E-FA9B4E5D05B5}"/>
              </a:ext>
            </a:extLst>
          </p:cNvPr>
          <p:cNvSpPr txBox="1">
            <a:spLocks/>
          </p:cNvSpPr>
          <p:nvPr/>
        </p:nvSpPr>
        <p:spPr>
          <a:xfrm rot="10800000" flipV="1">
            <a:off x="7897029" y="4115499"/>
            <a:ext cx="3772405" cy="13296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/>
              <a:t>We so see some differences in analytic population</a:t>
            </a:r>
          </a:p>
          <a:p>
            <a:pPr algn="ctr"/>
            <a:r>
              <a:rPr lang="en-US" sz="2000" dirty="0"/>
              <a:t> </a:t>
            </a:r>
          </a:p>
          <a:p>
            <a:pPr algn="ctr"/>
            <a:r>
              <a:rPr lang="en-US" sz="2000" dirty="0"/>
              <a:t>% Female is higher in LTA </a:t>
            </a:r>
          </a:p>
          <a:p>
            <a:pPr algn="ctr"/>
            <a:endParaRPr lang="en-US" sz="2000" dirty="0"/>
          </a:p>
          <a:p>
            <a:pPr algn="ctr"/>
            <a:r>
              <a:rPr lang="en-US" sz="2000" dirty="0"/>
              <a:t>Higher % of people in family medicine in LTA analytic sample</a:t>
            </a:r>
          </a:p>
          <a:p>
            <a:pPr algn="ctr"/>
            <a:endParaRPr lang="en-US" sz="2000" dirty="0"/>
          </a:p>
          <a:p>
            <a:pPr algn="ctr"/>
            <a:r>
              <a:rPr lang="en-US" sz="2000" dirty="0"/>
              <a:t>Lower % of internal medicine</a:t>
            </a:r>
          </a:p>
          <a:p>
            <a:pPr algn="ctr"/>
            <a:endParaRPr lang="en-US" sz="2000" dirty="0"/>
          </a:p>
          <a:p>
            <a:pPr algn="ctr"/>
            <a:r>
              <a:rPr lang="en-US" sz="2000" dirty="0"/>
              <a:t>Higher rates of individuals working in ambulatory settings, lower rates in hospital</a:t>
            </a:r>
          </a:p>
          <a:p>
            <a:pPr algn="ctr"/>
            <a:endParaRPr lang="en-US" sz="2000" dirty="0"/>
          </a:p>
          <a:p>
            <a:pPr algn="ctr"/>
            <a:r>
              <a:rPr lang="en-US" sz="2000" dirty="0"/>
              <a:t>Similar race/ethnicity and urban/rural</a:t>
            </a:r>
          </a:p>
          <a:p>
            <a:pPr algn="ctr"/>
            <a:endParaRPr lang="en-US" sz="2000" dirty="0"/>
          </a:p>
          <a:p>
            <a:pPr algn="ctr"/>
            <a:endParaRPr lang="en-US" sz="2000" dirty="0"/>
          </a:p>
          <a:p>
            <a:pPr algn="ctr"/>
            <a:endParaRPr 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661C84-65B3-32FB-D700-6D3409BDF5B6}"/>
              </a:ext>
            </a:extLst>
          </p:cNvPr>
          <p:cNvSpPr txBox="1"/>
          <p:nvPr/>
        </p:nvSpPr>
        <p:spPr>
          <a:xfrm>
            <a:off x="0" y="5979898"/>
            <a:ext cx="27448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Flag ** those in ambulatory care </a:t>
            </a:r>
          </a:p>
        </p:txBody>
      </p:sp>
    </p:spTree>
    <p:extLst>
      <p:ext uri="{BB962C8B-B14F-4D97-AF65-F5344CB8AC3E}">
        <p14:creationId xmlns:p14="http://schemas.microsoft.com/office/powerpoint/2010/main" val="3557603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5333D-94F0-7746-6720-9E50FB082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ED8AF-A18D-1F3A-A588-1E6F03A6A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0800000" flipV="1">
            <a:off x="8314265" y="787399"/>
            <a:ext cx="2937935" cy="1439333"/>
          </a:xfrm>
        </p:spPr>
        <p:txBody>
          <a:bodyPr>
            <a:noAutofit/>
          </a:bodyPr>
          <a:lstStyle/>
          <a:p>
            <a:pPr algn="ctr"/>
            <a:r>
              <a:rPr lang="en-US" sz="2000" dirty="0"/>
              <a:t>Comparing Descriptive Statistics in 2019 of those in 2019 Sample Who Were Also in 2009 vs Those Not in 2009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4F64F05-CD98-522B-83CF-D362C27554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6493469"/>
              </p:ext>
            </p:extLst>
          </p:nvPr>
        </p:nvGraphicFramePr>
        <p:xfrm>
          <a:off x="168085" y="196404"/>
          <a:ext cx="7703895" cy="63829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28340">
                  <a:extLst>
                    <a:ext uri="{9D8B030D-6E8A-4147-A177-3AD203B41FA5}">
                      <a16:colId xmlns:a16="http://schemas.microsoft.com/office/drawing/2014/main" val="2198556633"/>
                    </a:ext>
                  </a:extLst>
                </a:gridCol>
                <a:gridCol w="2726930">
                  <a:extLst>
                    <a:ext uri="{9D8B030D-6E8A-4147-A177-3AD203B41FA5}">
                      <a16:colId xmlns:a16="http://schemas.microsoft.com/office/drawing/2014/main" val="1809979392"/>
                    </a:ext>
                  </a:extLst>
                </a:gridCol>
                <a:gridCol w="1055067">
                  <a:extLst>
                    <a:ext uri="{9D8B030D-6E8A-4147-A177-3AD203B41FA5}">
                      <a16:colId xmlns:a16="http://schemas.microsoft.com/office/drawing/2014/main" val="148509910"/>
                    </a:ext>
                  </a:extLst>
                </a:gridCol>
                <a:gridCol w="1093558">
                  <a:extLst>
                    <a:ext uri="{9D8B030D-6E8A-4147-A177-3AD203B41FA5}">
                      <a16:colId xmlns:a16="http://schemas.microsoft.com/office/drawing/2014/main" val="723408737"/>
                    </a:ext>
                  </a:extLst>
                </a:gridCol>
              </a:tblGrid>
              <a:tr h="12043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In 2019 But Not in 2009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In 2009 And in 2019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9659274"/>
                  </a:ext>
                </a:extLst>
              </a:tr>
              <a:tr h="12043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Race/Ethnicity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White</a:t>
                      </a:r>
                    </a:p>
                  </a:txBody>
                  <a:tcPr marL="4057" marR="4057" marT="4057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60%</a:t>
                      </a:r>
                    </a:p>
                  </a:txBody>
                  <a:tcPr marL="4396" marR="4396" marT="4396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73%</a:t>
                      </a:r>
                    </a:p>
                  </a:txBody>
                  <a:tcPr marL="4396" marR="4396" marT="4396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4101014"/>
                  </a:ext>
                </a:extLst>
              </a:tr>
              <a:tr h="12043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dirty="0"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Black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11%</a:t>
                      </a:r>
                    </a:p>
                  </a:txBody>
                  <a:tcPr marL="4396" marR="4396" marT="439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+mn-lt"/>
                        </a:rPr>
                        <a:t>11%</a:t>
                      </a:r>
                    </a:p>
                  </a:txBody>
                  <a:tcPr marL="4396" marR="4396" marT="4396" marB="0" anchor="b"/>
                </a:tc>
                <a:extLst>
                  <a:ext uri="{0D108BD9-81ED-4DB2-BD59-A6C34878D82A}">
                    <a16:rowId xmlns:a16="http://schemas.microsoft.com/office/drawing/2014/main" val="2193642283"/>
                  </a:ext>
                </a:extLst>
              </a:tr>
              <a:tr h="2559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dirty="0"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American Indian/Alaskan Native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0%</a:t>
                      </a:r>
                    </a:p>
                  </a:txBody>
                  <a:tcPr marL="4396" marR="4396" marT="439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1%</a:t>
                      </a:r>
                    </a:p>
                  </a:txBody>
                  <a:tcPr marL="4396" marR="4396" marT="4396" marB="0" anchor="b"/>
                </a:tc>
                <a:extLst>
                  <a:ext uri="{0D108BD9-81ED-4DB2-BD59-A6C34878D82A}">
                    <a16:rowId xmlns:a16="http://schemas.microsoft.com/office/drawing/2014/main" val="4001995897"/>
                  </a:ext>
                </a:extLst>
              </a:tr>
              <a:tr h="21097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dirty="0"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Asian/Pacific Islander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12%</a:t>
                      </a:r>
                    </a:p>
                  </a:txBody>
                  <a:tcPr marL="4396" marR="4396" marT="439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9%</a:t>
                      </a:r>
                    </a:p>
                  </a:txBody>
                  <a:tcPr marL="4396" marR="4396" marT="4396" marB="0" anchor="b"/>
                </a:tc>
                <a:extLst>
                  <a:ext uri="{0D108BD9-81ED-4DB2-BD59-A6C34878D82A}">
                    <a16:rowId xmlns:a16="http://schemas.microsoft.com/office/drawing/2014/main" val="3803113914"/>
                  </a:ext>
                </a:extLst>
              </a:tr>
              <a:tr h="12043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dirty="0"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Hispanic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5%</a:t>
                      </a:r>
                    </a:p>
                  </a:txBody>
                  <a:tcPr marL="4396" marR="4396" marT="439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+mn-lt"/>
                        </a:rPr>
                        <a:t>4%</a:t>
                      </a:r>
                    </a:p>
                  </a:txBody>
                  <a:tcPr marL="4396" marR="4396" marT="4396" marB="0" anchor="b"/>
                </a:tc>
                <a:extLst>
                  <a:ext uri="{0D108BD9-81ED-4DB2-BD59-A6C34878D82A}">
                    <a16:rowId xmlns:a16="http://schemas.microsoft.com/office/drawing/2014/main" val="292342486"/>
                  </a:ext>
                </a:extLst>
              </a:tr>
              <a:tr h="12043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dirty="0"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Other ***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latin typeface="+mn-lt"/>
                        </a:rPr>
                        <a:t>ADD MISSING* ADD SAMPLE SIZES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3%</a:t>
                      </a:r>
                    </a:p>
                  </a:txBody>
                  <a:tcPr marL="4396" marR="4396" marT="439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+mn-lt"/>
                        </a:rPr>
                        <a:t>2%</a:t>
                      </a:r>
                    </a:p>
                  </a:txBody>
                  <a:tcPr marL="4396" marR="4396" marT="4396" marB="0" anchor="b"/>
                </a:tc>
                <a:extLst>
                  <a:ext uri="{0D108BD9-81ED-4DB2-BD59-A6C34878D82A}">
                    <a16:rowId xmlns:a16="http://schemas.microsoft.com/office/drawing/2014/main" val="2320028992"/>
                  </a:ext>
                </a:extLst>
              </a:tr>
              <a:tr h="12043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Age in 2019</a:t>
                      </a:r>
                    </a:p>
                  </a:txBody>
                  <a:tcPr marL="4057" marR="4057" marT="4057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dirty="0">
                        <a:latin typeface="+mn-lt"/>
                      </a:endParaRPr>
                    </a:p>
                  </a:txBody>
                  <a:tcPr marL="4396" marR="4396" marT="4396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41</a:t>
                      </a:r>
                    </a:p>
                  </a:txBody>
                  <a:tcPr marL="4396" marR="4396" marT="4396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55</a:t>
                      </a:r>
                    </a:p>
                  </a:txBody>
                  <a:tcPr marL="4396" marR="4396" marT="4396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3000667"/>
                  </a:ext>
                </a:extLst>
              </a:tr>
              <a:tr h="12043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% Female</a:t>
                      </a:r>
                    </a:p>
                  </a:txBody>
                  <a:tcPr marL="4057" marR="4057" marT="4057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dirty="0">
                        <a:latin typeface="+mn-lt"/>
                      </a:endParaRPr>
                    </a:p>
                  </a:txBody>
                  <a:tcPr marL="4396" marR="4396" marT="4396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60%</a:t>
                      </a:r>
                    </a:p>
                  </a:txBody>
                  <a:tcPr marL="4396" marR="4396" marT="4396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43%</a:t>
                      </a:r>
                    </a:p>
                  </a:txBody>
                  <a:tcPr marL="4396" marR="4396" marT="4396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4321816"/>
                  </a:ext>
                </a:extLst>
              </a:tr>
              <a:tr h="238244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n-lt"/>
                        </a:rPr>
                        <a:t>Providing routine obstetric deliveries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dirty="0"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+mn-lt"/>
                        </a:rPr>
                        <a:t>16%</a:t>
                      </a:r>
                    </a:p>
                  </a:txBody>
                  <a:tcPr marL="4396" marR="4396" marT="439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10%</a:t>
                      </a:r>
                    </a:p>
                  </a:txBody>
                  <a:tcPr marL="4396" marR="4396" marT="4396" marB="0" anchor="b"/>
                </a:tc>
                <a:extLst>
                  <a:ext uri="{0D108BD9-81ED-4DB2-BD59-A6C34878D82A}">
                    <a16:rowId xmlns:a16="http://schemas.microsoft.com/office/drawing/2014/main" val="2113006505"/>
                  </a:ext>
                </a:extLst>
              </a:tr>
              <a:tr h="3156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Providing routine prenatal care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dirty="0"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19%</a:t>
                      </a:r>
                    </a:p>
                  </a:txBody>
                  <a:tcPr marL="4396" marR="4396" marT="439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13%</a:t>
                      </a:r>
                    </a:p>
                  </a:txBody>
                  <a:tcPr marL="4396" marR="4396" marT="4396" marB="0" anchor="b"/>
                </a:tc>
                <a:extLst>
                  <a:ext uri="{0D108BD9-81ED-4DB2-BD59-A6C34878D82A}">
                    <a16:rowId xmlns:a16="http://schemas.microsoft.com/office/drawing/2014/main" val="2473661923"/>
                  </a:ext>
                </a:extLst>
              </a:tr>
              <a:tr h="12043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Specialty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Family Medicine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+mn-lt"/>
                        </a:rPr>
                        <a:t>35%</a:t>
                      </a:r>
                    </a:p>
                  </a:txBody>
                  <a:tcPr marL="4396" marR="4396" marT="439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+mn-lt"/>
                        </a:rPr>
                        <a:t>36%</a:t>
                      </a:r>
                    </a:p>
                  </a:txBody>
                  <a:tcPr marL="4396" marR="4396" marT="4396" marB="0" anchor="b"/>
                </a:tc>
                <a:extLst>
                  <a:ext uri="{0D108BD9-81ED-4DB2-BD59-A6C34878D82A}">
                    <a16:rowId xmlns:a16="http://schemas.microsoft.com/office/drawing/2014/main" val="1199998605"/>
                  </a:ext>
                </a:extLst>
              </a:tr>
              <a:tr h="21097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dirty="0"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General Internal Medicine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27%</a:t>
                      </a:r>
                    </a:p>
                  </a:txBody>
                  <a:tcPr marL="4396" marR="4396" marT="439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+mn-lt"/>
                        </a:rPr>
                        <a:t>25%</a:t>
                      </a:r>
                    </a:p>
                  </a:txBody>
                  <a:tcPr marL="4396" marR="4396" marT="4396" marB="0" anchor="b"/>
                </a:tc>
                <a:extLst>
                  <a:ext uri="{0D108BD9-81ED-4DB2-BD59-A6C34878D82A}">
                    <a16:rowId xmlns:a16="http://schemas.microsoft.com/office/drawing/2014/main" val="3866335407"/>
                  </a:ext>
                </a:extLst>
              </a:tr>
              <a:tr h="23824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dirty="0"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General Obstetrics and gynecology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15%</a:t>
                      </a:r>
                    </a:p>
                  </a:txBody>
                  <a:tcPr marL="4396" marR="4396" marT="439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+mn-lt"/>
                        </a:rPr>
                        <a:t>14%</a:t>
                      </a:r>
                    </a:p>
                  </a:txBody>
                  <a:tcPr marL="4396" marR="4396" marT="4396" marB="0" anchor="b"/>
                </a:tc>
                <a:extLst>
                  <a:ext uri="{0D108BD9-81ED-4DB2-BD59-A6C34878D82A}">
                    <a16:rowId xmlns:a16="http://schemas.microsoft.com/office/drawing/2014/main" val="2291806581"/>
                  </a:ext>
                </a:extLst>
              </a:tr>
              <a:tr h="12043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dirty="0"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General Pediatrics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+mn-lt"/>
                        </a:rPr>
                        <a:t>20%</a:t>
                      </a:r>
                    </a:p>
                  </a:txBody>
                  <a:tcPr marL="4396" marR="4396" marT="439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+mn-lt"/>
                        </a:rPr>
                        <a:t>21%</a:t>
                      </a:r>
                    </a:p>
                  </a:txBody>
                  <a:tcPr marL="4396" marR="4396" marT="4396" marB="0" anchor="b"/>
                </a:tc>
                <a:extLst>
                  <a:ext uri="{0D108BD9-81ED-4DB2-BD59-A6C34878D82A}">
                    <a16:rowId xmlns:a16="http://schemas.microsoft.com/office/drawing/2014/main" val="1587188050"/>
                  </a:ext>
                </a:extLst>
              </a:tr>
              <a:tr h="12043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dirty="0"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Geriatrics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+mn-lt"/>
                        </a:rPr>
                        <a:t>3%</a:t>
                      </a:r>
                    </a:p>
                  </a:txBody>
                  <a:tcPr marL="4396" marR="4396" marT="439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3%</a:t>
                      </a:r>
                    </a:p>
                  </a:txBody>
                  <a:tcPr marL="4396" marR="4396" marT="4396" marB="0" anchor="b"/>
                </a:tc>
                <a:extLst>
                  <a:ext uri="{0D108BD9-81ED-4DB2-BD59-A6C34878D82A}">
                    <a16:rowId xmlns:a16="http://schemas.microsoft.com/office/drawing/2014/main" val="1814444797"/>
                  </a:ext>
                </a:extLst>
              </a:tr>
              <a:tr h="12043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Urban/rural status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Urban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86%</a:t>
                      </a:r>
                    </a:p>
                  </a:txBody>
                  <a:tcPr marL="4396" marR="4396" marT="439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+mn-lt"/>
                        </a:rPr>
                        <a:t>82%</a:t>
                      </a:r>
                    </a:p>
                  </a:txBody>
                  <a:tcPr marL="4396" marR="4396" marT="4396" marB="0" anchor="b"/>
                </a:tc>
                <a:extLst>
                  <a:ext uri="{0D108BD9-81ED-4DB2-BD59-A6C34878D82A}">
                    <a16:rowId xmlns:a16="http://schemas.microsoft.com/office/drawing/2014/main" val="1434996727"/>
                  </a:ext>
                </a:extLst>
              </a:tr>
              <a:tr h="12043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dirty="0"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Large Rural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+mn-lt"/>
                        </a:rPr>
                        <a:t>11%</a:t>
                      </a:r>
                    </a:p>
                  </a:txBody>
                  <a:tcPr marL="4396" marR="4396" marT="439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13%</a:t>
                      </a:r>
                    </a:p>
                  </a:txBody>
                  <a:tcPr marL="4396" marR="4396" marT="4396" marB="0" anchor="b"/>
                </a:tc>
                <a:extLst>
                  <a:ext uri="{0D108BD9-81ED-4DB2-BD59-A6C34878D82A}">
                    <a16:rowId xmlns:a16="http://schemas.microsoft.com/office/drawing/2014/main" val="2614270191"/>
                  </a:ext>
                </a:extLst>
              </a:tr>
              <a:tr h="12043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dirty="0"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Small rural 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+mn-lt"/>
                        </a:rPr>
                        <a:t>4%</a:t>
                      </a:r>
                    </a:p>
                  </a:txBody>
                  <a:tcPr marL="4396" marR="4396" marT="439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5%</a:t>
                      </a:r>
                    </a:p>
                  </a:txBody>
                  <a:tcPr marL="4396" marR="4396" marT="4396" marB="0" anchor="b"/>
                </a:tc>
                <a:extLst>
                  <a:ext uri="{0D108BD9-81ED-4DB2-BD59-A6C34878D82A}">
                    <a16:rowId xmlns:a16="http://schemas.microsoft.com/office/drawing/2014/main" val="2249588660"/>
                  </a:ext>
                </a:extLst>
              </a:tr>
              <a:tr h="12043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Setting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Ambulatory Care</a:t>
                      </a:r>
                    </a:p>
                  </a:txBody>
                  <a:tcPr marL="4057" marR="4057" marT="4057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44%</a:t>
                      </a:r>
                    </a:p>
                  </a:txBody>
                  <a:tcPr marL="4396" marR="4396" marT="4396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62%</a:t>
                      </a:r>
                    </a:p>
                  </a:txBody>
                  <a:tcPr marL="4396" marR="4396" marT="4396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7149562"/>
                  </a:ext>
                </a:extLst>
              </a:tr>
              <a:tr h="12043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dirty="0"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Hospital</a:t>
                      </a:r>
                    </a:p>
                  </a:txBody>
                  <a:tcPr marL="4057" marR="4057" marT="4057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28%</a:t>
                      </a:r>
                    </a:p>
                  </a:txBody>
                  <a:tcPr marL="4396" marR="4396" marT="4396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11%</a:t>
                      </a:r>
                    </a:p>
                  </a:txBody>
                  <a:tcPr marL="4396" marR="4396" marT="4396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3997240"/>
                  </a:ext>
                </a:extLst>
              </a:tr>
              <a:tr h="3154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dirty="0"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Medical School/Parent university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3%</a:t>
                      </a:r>
                    </a:p>
                  </a:txBody>
                  <a:tcPr marL="4396" marR="4396" marT="439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3%</a:t>
                      </a:r>
                    </a:p>
                  </a:txBody>
                  <a:tcPr marL="4396" marR="4396" marT="4396" marB="0" anchor="b"/>
                </a:tc>
                <a:extLst>
                  <a:ext uri="{0D108BD9-81ED-4DB2-BD59-A6C34878D82A}">
                    <a16:rowId xmlns:a16="http://schemas.microsoft.com/office/drawing/2014/main" val="724506221"/>
                  </a:ext>
                </a:extLst>
              </a:tr>
              <a:tr h="23824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dirty="0"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Nursing home/extended care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+mn-lt"/>
                        </a:rPr>
                        <a:t>1%</a:t>
                      </a:r>
                    </a:p>
                  </a:txBody>
                  <a:tcPr marL="4396" marR="4396" marT="439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2%</a:t>
                      </a:r>
                    </a:p>
                  </a:txBody>
                  <a:tcPr marL="4396" marR="4396" marT="4396" marB="0" anchor="b"/>
                </a:tc>
                <a:extLst>
                  <a:ext uri="{0D108BD9-81ED-4DB2-BD59-A6C34878D82A}">
                    <a16:rowId xmlns:a16="http://schemas.microsoft.com/office/drawing/2014/main" val="3861640840"/>
                  </a:ext>
                </a:extLst>
              </a:tr>
              <a:tr h="12043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dirty="0"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Other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+mn-lt"/>
                        </a:rPr>
                        <a:t>9%</a:t>
                      </a:r>
                    </a:p>
                  </a:txBody>
                  <a:tcPr marL="4396" marR="4396" marT="439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8%</a:t>
                      </a:r>
                    </a:p>
                  </a:txBody>
                  <a:tcPr marL="4396" marR="4396" marT="4396" marB="0" anchor="b"/>
                </a:tc>
                <a:extLst>
                  <a:ext uri="{0D108BD9-81ED-4DB2-BD59-A6C34878D82A}">
                    <a16:rowId xmlns:a16="http://schemas.microsoft.com/office/drawing/2014/main" val="1654810742"/>
                  </a:ext>
                </a:extLst>
              </a:tr>
              <a:tr h="12043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dirty="0"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Solo practitioner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+mn-lt"/>
                        </a:rPr>
                        <a:t>3%</a:t>
                      </a:r>
                    </a:p>
                  </a:txBody>
                  <a:tcPr marL="4396" marR="4396" marT="439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11%</a:t>
                      </a:r>
                    </a:p>
                  </a:txBody>
                  <a:tcPr marL="4396" marR="4396" marT="4396" marB="0" anchor="b"/>
                </a:tc>
                <a:extLst>
                  <a:ext uri="{0D108BD9-81ED-4DB2-BD59-A6C34878D82A}">
                    <a16:rowId xmlns:a16="http://schemas.microsoft.com/office/drawing/2014/main" val="582540456"/>
                  </a:ext>
                </a:extLst>
              </a:tr>
              <a:tr h="12043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dirty="0"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Missing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12%</a:t>
                      </a:r>
                    </a:p>
                  </a:txBody>
                  <a:tcPr marL="4396" marR="4396" marT="439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4%</a:t>
                      </a:r>
                    </a:p>
                  </a:txBody>
                  <a:tcPr marL="4396" marR="4396" marT="4396" marB="0" anchor="b"/>
                </a:tc>
                <a:extLst>
                  <a:ext uri="{0D108BD9-81ED-4DB2-BD59-A6C34878D82A}">
                    <a16:rowId xmlns:a16="http://schemas.microsoft.com/office/drawing/2014/main" val="2810851990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C2FF59BB-1B7C-B22C-3798-C3E2F921E291}"/>
              </a:ext>
            </a:extLst>
          </p:cNvPr>
          <p:cNvSpPr txBox="1">
            <a:spLocks/>
          </p:cNvSpPr>
          <p:nvPr/>
        </p:nvSpPr>
        <p:spPr>
          <a:xfrm rot="10800000" flipV="1">
            <a:off x="8314264" y="4115499"/>
            <a:ext cx="3709649" cy="13296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/>
              <a:t>We so see some differences in analytic population</a:t>
            </a:r>
          </a:p>
          <a:p>
            <a:pPr algn="ctr"/>
            <a:endParaRPr lang="en-US" sz="2000" dirty="0"/>
          </a:p>
          <a:p>
            <a:pPr algn="ctr"/>
            <a:r>
              <a:rPr lang="en-US" sz="2000" dirty="0"/>
              <a:t>% Female is smaller in LTA</a:t>
            </a:r>
          </a:p>
          <a:p>
            <a:pPr algn="ctr"/>
            <a:r>
              <a:rPr lang="en-US" sz="2000" dirty="0"/>
              <a:t> </a:t>
            </a:r>
          </a:p>
          <a:p>
            <a:pPr algn="ctr"/>
            <a:r>
              <a:rPr lang="en-US" sz="2000" dirty="0"/>
              <a:t>Similar rates of each specialty</a:t>
            </a:r>
          </a:p>
          <a:p>
            <a:pPr algn="ctr"/>
            <a:endParaRPr lang="en-US" sz="2000" dirty="0"/>
          </a:p>
          <a:p>
            <a:pPr algn="ctr"/>
            <a:r>
              <a:rPr lang="en-US" sz="2000" dirty="0"/>
              <a:t>Higher rates of individuals working in ambulatory settings, lower rates in hospital</a:t>
            </a:r>
          </a:p>
          <a:p>
            <a:pPr algn="ctr"/>
            <a:endParaRPr lang="en-US" sz="2000" dirty="0"/>
          </a:p>
          <a:p>
            <a:pPr algn="ctr"/>
            <a:r>
              <a:rPr lang="en-US" sz="2000" dirty="0"/>
              <a:t>Similar urban/rural but higher proportion of population is white in LTA</a:t>
            </a:r>
          </a:p>
          <a:p>
            <a:pPr algn="ctr"/>
            <a:endParaRPr lang="en-US" sz="2000" dirty="0"/>
          </a:p>
          <a:p>
            <a:pPr algn="ctr"/>
            <a:endParaRPr lang="en-US" sz="2000" dirty="0"/>
          </a:p>
          <a:p>
            <a:pPr algn="ctr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03823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DEF42-4A80-D31A-C34A-D04821F0D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736" y="74104"/>
            <a:ext cx="10515600" cy="1325563"/>
          </a:xfrm>
        </p:spPr>
        <p:txBody>
          <a:bodyPr/>
          <a:lstStyle/>
          <a:p>
            <a:r>
              <a:rPr lang="en-US" dirty="0"/>
              <a:t>Comparisons of Specialty in 2009 vs. 2019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1D4A4A4-424D-0703-88A2-082B973715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9949267"/>
              </p:ext>
            </p:extLst>
          </p:nvPr>
        </p:nvGraphicFramePr>
        <p:xfrm>
          <a:off x="563881" y="1463675"/>
          <a:ext cx="10789919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1417">
                  <a:extLst>
                    <a:ext uri="{9D8B030D-6E8A-4147-A177-3AD203B41FA5}">
                      <a16:colId xmlns:a16="http://schemas.microsoft.com/office/drawing/2014/main" val="190231996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869750141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2576560715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2552000782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471010927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3736481396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348125452"/>
                    </a:ext>
                  </a:extLst>
                </a:gridCol>
              </a:tblGrid>
              <a:tr h="279753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2019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592129"/>
                  </a:ext>
                </a:extLst>
              </a:tr>
              <a:tr h="1119013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Family Medicine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Internal Medicine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General Obstetrics and Gynecology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General Pediatrics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Geriatrics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328970"/>
                  </a:ext>
                </a:extLst>
              </a:tr>
              <a:tr h="489568"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2009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Family Medicine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1,619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77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401235"/>
                  </a:ext>
                </a:extLst>
              </a:tr>
              <a:tr h="489568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Internal Medicine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1,156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771470"/>
                  </a:ext>
                </a:extLst>
              </a:tr>
              <a:tr h="1119013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General Obstetrics and Gynecology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660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5985721"/>
                  </a:ext>
                </a:extLst>
              </a:tr>
              <a:tr h="489568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General Pediatrics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919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5019014"/>
                  </a:ext>
                </a:extLst>
              </a:tr>
              <a:tr h="283639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Geriatrics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42435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4161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C0234-9D93-80F7-4134-224ACD570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3F44A-C61B-7670-7CE7-83383A6DD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39" y="227965"/>
            <a:ext cx="12304779" cy="1325563"/>
          </a:xfrm>
        </p:spPr>
        <p:txBody>
          <a:bodyPr>
            <a:normAutofit/>
          </a:bodyPr>
          <a:lstStyle/>
          <a:p>
            <a:r>
              <a:rPr lang="en-US" sz="4000" dirty="0"/>
              <a:t>Comparisons of Employment Settings in 2009 vs. 2019</a:t>
            </a:r>
            <a:br>
              <a:rPr lang="en-US" sz="4000" dirty="0"/>
            </a:br>
            <a:r>
              <a:rPr lang="en-US" sz="4000" dirty="0">
                <a:solidFill>
                  <a:srgbClr val="FF0000"/>
                </a:solidFill>
              </a:rPr>
              <a:t>**add total n** of 4,XXX (Sankey diagram)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1D99C03-C657-D5BD-3160-1F655CEBEF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5026960"/>
              </p:ext>
            </p:extLst>
          </p:nvPr>
        </p:nvGraphicFramePr>
        <p:xfrm>
          <a:off x="356616" y="1716897"/>
          <a:ext cx="11615931" cy="4476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392">
                  <a:extLst>
                    <a:ext uri="{9D8B030D-6E8A-4147-A177-3AD203B41FA5}">
                      <a16:colId xmlns:a16="http://schemas.microsoft.com/office/drawing/2014/main" val="1643998181"/>
                    </a:ext>
                  </a:extLst>
                </a:gridCol>
                <a:gridCol w="1730926">
                  <a:extLst>
                    <a:ext uri="{9D8B030D-6E8A-4147-A177-3AD203B41FA5}">
                      <a16:colId xmlns:a16="http://schemas.microsoft.com/office/drawing/2014/main" val="1869750141"/>
                    </a:ext>
                  </a:extLst>
                </a:gridCol>
                <a:gridCol w="1290659">
                  <a:extLst>
                    <a:ext uri="{9D8B030D-6E8A-4147-A177-3AD203B41FA5}">
                      <a16:colId xmlns:a16="http://schemas.microsoft.com/office/drawing/2014/main" val="2576560715"/>
                    </a:ext>
                  </a:extLst>
                </a:gridCol>
                <a:gridCol w="1120647">
                  <a:extLst>
                    <a:ext uri="{9D8B030D-6E8A-4147-A177-3AD203B41FA5}">
                      <a16:colId xmlns:a16="http://schemas.microsoft.com/office/drawing/2014/main" val="2552000782"/>
                    </a:ext>
                  </a:extLst>
                </a:gridCol>
                <a:gridCol w="1460671">
                  <a:extLst>
                    <a:ext uri="{9D8B030D-6E8A-4147-A177-3AD203B41FA5}">
                      <a16:colId xmlns:a16="http://schemas.microsoft.com/office/drawing/2014/main" val="471010927"/>
                    </a:ext>
                  </a:extLst>
                </a:gridCol>
                <a:gridCol w="1290659">
                  <a:extLst>
                    <a:ext uri="{9D8B030D-6E8A-4147-A177-3AD203B41FA5}">
                      <a16:colId xmlns:a16="http://schemas.microsoft.com/office/drawing/2014/main" val="3736481396"/>
                    </a:ext>
                  </a:extLst>
                </a:gridCol>
                <a:gridCol w="1290659">
                  <a:extLst>
                    <a:ext uri="{9D8B030D-6E8A-4147-A177-3AD203B41FA5}">
                      <a16:colId xmlns:a16="http://schemas.microsoft.com/office/drawing/2014/main" val="348125452"/>
                    </a:ext>
                  </a:extLst>
                </a:gridCol>
                <a:gridCol w="1290659">
                  <a:extLst>
                    <a:ext uri="{9D8B030D-6E8A-4147-A177-3AD203B41FA5}">
                      <a16:colId xmlns:a16="http://schemas.microsoft.com/office/drawing/2014/main" val="3763046371"/>
                    </a:ext>
                  </a:extLst>
                </a:gridCol>
                <a:gridCol w="1290659">
                  <a:extLst>
                    <a:ext uri="{9D8B030D-6E8A-4147-A177-3AD203B41FA5}">
                      <a16:colId xmlns:a16="http://schemas.microsoft.com/office/drawing/2014/main" val="1980273182"/>
                    </a:ext>
                  </a:extLst>
                </a:gridCol>
              </a:tblGrid>
              <a:tr h="630698">
                <a:tc>
                  <a:txBody>
                    <a:bodyPr/>
                    <a:lstStyle/>
                    <a:p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2019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9277687"/>
                  </a:ext>
                </a:extLst>
              </a:tr>
              <a:tr h="630698">
                <a:tc>
                  <a:txBody>
                    <a:bodyPr/>
                    <a:lstStyle/>
                    <a:p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Ambulatory Care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Hospital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Medical school/Parent University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Missing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Nursing home/extended care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Other 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Solo Practitioner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328970"/>
                  </a:ext>
                </a:extLst>
              </a:tr>
              <a:tr h="368399">
                <a:tc rowSpan="7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2009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Ambulatory Care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2,320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208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15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124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29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207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133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401235"/>
                  </a:ext>
                </a:extLst>
              </a:tr>
              <a:tr h="216706"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Hospital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135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204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25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86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771470"/>
                  </a:ext>
                </a:extLst>
              </a:tr>
              <a:tr h="630698"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Medical School/Parent University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26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102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5985721"/>
                  </a:ext>
                </a:extLst>
              </a:tr>
              <a:tr h="216706"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Missing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132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30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15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25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5019014"/>
                  </a:ext>
                </a:extLst>
              </a:tr>
              <a:tr h="520093"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Nursing home/extended care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32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4243510"/>
                  </a:ext>
                </a:extLst>
              </a:tr>
              <a:tr h="216706"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Other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14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4283446"/>
                  </a:ext>
                </a:extLst>
              </a:tr>
              <a:tr h="368399"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Solo Practitioner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214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24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19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37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303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75294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3987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99041-3B96-681A-C078-A5CC28806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Changes in Urban/Rural Status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A0ABE36-88FA-4D57-B5F1-0A9F177424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7342480"/>
              </p:ext>
            </p:extLst>
          </p:nvPr>
        </p:nvGraphicFramePr>
        <p:xfrm>
          <a:off x="1463843" y="1690688"/>
          <a:ext cx="8763000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40364806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5393072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26759519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76083090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8375529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2019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3779284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2009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Large rural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Small rural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Urban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946218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Large rural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512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108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496025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Small rural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185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46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896894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Urban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62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3,626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57634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9171C1E-36E5-4F04-6F77-140EBDA9AC27}"/>
              </a:ext>
            </a:extLst>
          </p:cNvPr>
          <p:cNvSpPr txBox="1"/>
          <p:nvPr/>
        </p:nvSpPr>
        <p:spPr>
          <a:xfrm>
            <a:off x="2072640" y="4450080"/>
            <a:ext cx="7393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Check on race/ethnicity changes </a:t>
            </a:r>
          </a:p>
        </p:txBody>
      </p:sp>
    </p:spTree>
    <p:extLst>
      <p:ext uri="{BB962C8B-B14F-4D97-AF65-F5344CB8AC3E}">
        <p14:creationId xmlns:p14="http://schemas.microsoft.com/office/powerpoint/2010/main" val="1439685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1F922FEA-7D40-8551-6AD5-260E7FB844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42669118"/>
              </p:ext>
            </p:extLst>
          </p:nvPr>
        </p:nvGraphicFramePr>
        <p:xfrm>
          <a:off x="551849" y="202130"/>
          <a:ext cx="4992303" cy="31282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67C9B761-F8D0-A9B8-4FC1-F96A9237BC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61747896"/>
              </p:ext>
            </p:extLst>
          </p:nvPr>
        </p:nvGraphicFramePr>
        <p:xfrm>
          <a:off x="6237170" y="125128"/>
          <a:ext cx="5881036" cy="34431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16371010-6B2E-08F5-D882-ECD75311C22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48453807"/>
              </p:ext>
            </p:extLst>
          </p:nvPr>
        </p:nvGraphicFramePr>
        <p:xfrm>
          <a:off x="6153751" y="3517375"/>
          <a:ext cx="5881036" cy="34431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EEB751F4-BA57-1E7E-A3EA-D4F999E0374E}"/>
              </a:ext>
            </a:extLst>
          </p:cNvPr>
          <p:cNvSpPr txBox="1"/>
          <p:nvPr/>
        </p:nvSpPr>
        <p:spPr>
          <a:xfrm>
            <a:off x="667353" y="3214294"/>
            <a:ext cx="48767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Latent Classes 2009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F71781-B96C-A2E0-A602-683CC6FD841F}"/>
              </a:ext>
            </a:extLst>
          </p:cNvPr>
          <p:cNvSpPr txBox="1"/>
          <p:nvPr/>
        </p:nvSpPr>
        <p:spPr>
          <a:xfrm>
            <a:off x="240632" y="4280403"/>
            <a:ext cx="599653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Class 1 (Navy) - Rural PCPs</a:t>
            </a:r>
          </a:p>
          <a:p>
            <a:endParaRPr lang="en-US" sz="1600" dirty="0"/>
          </a:p>
          <a:p>
            <a:r>
              <a:rPr lang="en-US" sz="1600" b="1" dirty="0">
                <a:solidFill>
                  <a:schemeClr val="accent2"/>
                </a:solidFill>
              </a:rPr>
              <a:t>Class 2 (Orange) – Urban, non-ambulatory care PCPs</a:t>
            </a:r>
          </a:p>
          <a:p>
            <a:endParaRPr lang="en-US" sz="1600" dirty="0"/>
          </a:p>
          <a:p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Class 3 (Green) – Urban ambulatory care PCPs</a:t>
            </a:r>
          </a:p>
          <a:p>
            <a:endParaRPr lang="en-US" sz="1600" dirty="0"/>
          </a:p>
          <a:p>
            <a:r>
              <a:rPr lang="en-US" sz="1600" b="1" dirty="0">
                <a:solidFill>
                  <a:schemeClr val="accent4"/>
                </a:solidFill>
              </a:rPr>
              <a:t>Class 4 (Blue) - Ob-gyns (but no family medicine)</a:t>
            </a:r>
            <a:br>
              <a:rPr lang="en-US" sz="1600" dirty="0"/>
            </a:br>
            <a:endParaRPr lang="en-US" sz="1600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27317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8D209-DD72-CAE8-02FF-C3FC5EE9E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1D1CD0B4-82EC-C144-365A-A726840F9C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33169354"/>
              </p:ext>
            </p:extLst>
          </p:nvPr>
        </p:nvGraphicFramePr>
        <p:xfrm>
          <a:off x="551849" y="202130"/>
          <a:ext cx="4992303" cy="31282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ECCF8116-8FF5-5C5C-7817-1696263E448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71020572"/>
              </p:ext>
            </p:extLst>
          </p:nvPr>
        </p:nvGraphicFramePr>
        <p:xfrm>
          <a:off x="6237170" y="125128"/>
          <a:ext cx="5881036" cy="34431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52663ADE-FC25-47D1-F8D5-DC04E4B2B2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64145120"/>
              </p:ext>
            </p:extLst>
          </p:nvPr>
        </p:nvGraphicFramePr>
        <p:xfrm>
          <a:off x="6153751" y="3517375"/>
          <a:ext cx="5881036" cy="34431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A115C8C3-4818-F3D6-EE32-28816318760D}"/>
              </a:ext>
            </a:extLst>
          </p:cNvPr>
          <p:cNvSpPr txBox="1"/>
          <p:nvPr/>
        </p:nvSpPr>
        <p:spPr>
          <a:xfrm>
            <a:off x="667353" y="3163432"/>
            <a:ext cx="48767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Latent Classes 2019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CE29C4-2E33-6FBD-65BF-0C5917D7E161}"/>
              </a:ext>
            </a:extLst>
          </p:cNvPr>
          <p:cNvSpPr txBox="1"/>
          <p:nvPr/>
        </p:nvSpPr>
        <p:spPr>
          <a:xfrm>
            <a:off x="409444" y="4110198"/>
            <a:ext cx="599653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/>
                </a:solidFill>
              </a:rPr>
              <a:t>Class 1 (Navy) – Urban ambulatory care PCPs</a:t>
            </a:r>
          </a:p>
          <a:p>
            <a:endParaRPr lang="en-US" sz="1600" b="1" dirty="0">
              <a:solidFill>
                <a:schemeClr val="accent2"/>
              </a:solidFill>
            </a:endParaRPr>
          </a:p>
          <a:p>
            <a:r>
              <a:rPr lang="en-US" sz="1600" b="1" dirty="0">
                <a:solidFill>
                  <a:schemeClr val="accent2"/>
                </a:solidFill>
              </a:rPr>
              <a:t>Class 2 (Orange) - Rural PCPs</a:t>
            </a:r>
          </a:p>
          <a:p>
            <a:endParaRPr lang="en-US" sz="1600" b="1" dirty="0">
              <a:solidFill>
                <a:schemeClr val="accent2"/>
              </a:solidFill>
            </a:endParaRPr>
          </a:p>
          <a:p>
            <a:r>
              <a:rPr lang="en-US" sz="1600" b="1" dirty="0">
                <a:solidFill>
                  <a:schemeClr val="accent3"/>
                </a:solidFill>
              </a:rPr>
              <a:t>Class 3 (Green) – Urban, non-ambulatory care PCPs</a:t>
            </a:r>
          </a:p>
          <a:p>
            <a:endParaRPr lang="en-US" sz="1600" dirty="0"/>
          </a:p>
          <a:p>
            <a:r>
              <a:rPr lang="en-US" sz="1600" b="1" dirty="0">
                <a:solidFill>
                  <a:schemeClr val="accent4"/>
                </a:solidFill>
              </a:rPr>
              <a:t>Class 4 (Blue) - Ob-gyns (but no family medicine)</a:t>
            </a:r>
          </a:p>
          <a:p>
            <a:br>
              <a:rPr lang="en-US" sz="1600" dirty="0">
                <a:solidFill>
                  <a:schemeClr val="accent1"/>
                </a:solidFill>
              </a:rPr>
            </a:br>
            <a:endParaRPr lang="en-US" sz="16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4616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E35C1-35DE-0BC8-2655-F12320604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1057"/>
            <a:ext cx="10515600" cy="1325563"/>
          </a:xfrm>
        </p:spPr>
        <p:txBody>
          <a:bodyPr/>
          <a:lstStyle/>
          <a:p>
            <a:r>
              <a:rPr lang="en-US" dirty="0"/>
              <a:t>Transition Probabilities (</a:t>
            </a:r>
            <a:r>
              <a:rPr lang="en-US" dirty="0">
                <a:solidFill>
                  <a:srgbClr val="FF0000"/>
                </a:solidFill>
              </a:rPr>
              <a:t>FLIP THIS AROUND; </a:t>
            </a:r>
            <a:r>
              <a:rPr lang="en-US" dirty="0" err="1">
                <a:solidFill>
                  <a:srgbClr val="FF0000"/>
                </a:solidFill>
              </a:rPr>
              <a:t>sankeys</a:t>
            </a:r>
            <a:r>
              <a:rPr lang="en-US" dirty="0">
                <a:solidFill>
                  <a:srgbClr val="FF0000"/>
                </a:solidFill>
              </a:rPr>
              <a:t>; add ns)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937E5F5-2C62-4372-32DB-52BC4E205D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216033"/>
              </p:ext>
            </p:extLst>
          </p:nvPr>
        </p:nvGraphicFramePr>
        <p:xfrm>
          <a:off x="838200" y="1881895"/>
          <a:ext cx="10515600" cy="409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118708796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46967610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98807933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05162291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86518627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8027678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Class Membership in 2009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9916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Rural PCPs 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Urban – Non-ambulatory care PCPs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Urban – Ambulatory Care PCPs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Ob-gyns (but no family practice) providing obstetric and prenatal care</a:t>
                      </a:r>
                    </a:p>
                    <a:p>
                      <a:pPr algn="ctr"/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7495766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Class Membership in 2019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Rural PCPs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0.837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0.029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0.021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178426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Urban – Non-ambulatory care PCPs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0.075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0.673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0.216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0.004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579101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Urban – Ambulatory Care PCPs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0.088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0.297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0.763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732992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Urban Ob-gyns (but no family practice)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0.996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16425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8539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47660-8486-9DCE-DF5D-FF3EF79BC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BCE4DD-0364-6D7D-7300-7F3DA62990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Of family </a:t>
            </a:r>
            <a:r>
              <a:rPr lang="en-US" dirty="0" err="1"/>
              <a:t>medince</a:t>
            </a:r>
            <a:r>
              <a:rPr lang="en-US" dirty="0"/>
              <a:t> % with obstetric care</a:t>
            </a:r>
          </a:p>
          <a:p>
            <a:endParaRPr lang="en-US" dirty="0"/>
          </a:p>
          <a:p>
            <a:r>
              <a:rPr lang="en-US" dirty="0"/>
              <a:t>Output file to </a:t>
            </a:r>
            <a:r>
              <a:rPr lang="en-US" dirty="0" err="1"/>
              <a:t>stata</a:t>
            </a:r>
            <a:r>
              <a:rPr lang="en-US" dirty="0"/>
              <a:t> ** for sample for analysis*** </a:t>
            </a:r>
          </a:p>
          <a:p>
            <a:r>
              <a:rPr lang="en-US" dirty="0"/>
              <a:t>Flag for 2019 vs. 2009***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Add in descriptives for classes within 2009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Add in descriptive for classes within 2019</a:t>
            </a:r>
          </a:p>
        </p:txBody>
      </p:sp>
    </p:spTree>
    <p:extLst>
      <p:ext uri="{BB962C8B-B14F-4D97-AF65-F5344CB8AC3E}">
        <p14:creationId xmlns:p14="http://schemas.microsoft.com/office/powerpoint/2010/main" val="17551092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883</TotalTime>
  <Words>1031</Words>
  <Application>Microsoft Office PowerPoint</Application>
  <PresentationFormat>Widescreen</PresentationFormat>
  <Paragraphs>389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Office Theme</vt:lpstr>
      <vt:lpstr>Update on datasets</vt:lpstr>
      <vt:lpstr>Questions on analysis</vt:lpstr>
      <vt:lpstr>Comparing Descriptive Statistics in 2009 of those in 2009 Sample Who Were Also in 2019 vs Those Not in 2019  **AGH add sample size**</vt:lpstr>
      <vt:lpstr>Comparing Descriptive Statistics in 2019 of those in 2019 Sample Who Were Also in 2009 vs Those Not in 2009</vt:lpstr>
      <vt:lpstr>Comparisons of Specialty in 2009 vs. 2019</vt:lpstr>
      <vt:lpstr>Comparisons of Employment Settings in 2009 vs. 2019 **add total n** of 4,XXX (Sankey diagram)</vt:lpstr>
      <vt:lpstr>Changes in Urban/Rural Status</vt:lpstr>
      <vt:lpstr>PowerPoint Presentation</vt:lpstr>
      <vt:lpstr>PowerPoint Presentation</vt:lpstr>
      <vt:lpstr>Transition Probabilities (FLIP THIS AROUND; sankeys; add ns)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Howard, Annie Green</dc:creator>
  <cp:lastModifiedBy>Howard, Annie Green</cp:lastModifiedBy>
  <cp:revision>2</cp:revision>
  <dcterms:created xsi:type="dcterms:W3CDTF">2026-04-01T23:29:25Z</dcterms:created>
  <dcterms:modified xsi:type="dcterms:W3CDTF">2026-04-02T15:33:36Z</dcterms:modified>
</cp:coreProperties>
</file>